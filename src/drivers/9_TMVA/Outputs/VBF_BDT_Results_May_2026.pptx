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1000" r:id="rId5"/>
    <p:sldId id="1003" r:id="rId6"/>
    <p:sldId id="1004" r:id="rId7"/>
    <p:sldId id="1005" r:id="rId8"/>
    <p:sldId id="1006" r:id="rId9"/>
    <p:sldId id="1008" r:id="rId10"/>
    <p:sldId id="1009" r:id="rId11"/>
    <p:sldId id="1011" r:id="rId12"/>
    <p:sldId id="1010" r:id="rId13"/>
    <p:sldId id="1012" r:id="rId14"/>
    <p:sldId id="1013" r:id="rId15"/>
    <p:sldId id="1014" r:id="rId16"/>
    <p:sldId id="1015" r:id="rId17"/>
    <p:sldId id="1017" r:id="rId18"/>
    <p:sldId id="1018" r:id="rId19"/>
    <p:sldId id="102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4" autoAdjust="0"/>
    <p:restoredTop sz="74323" autoAdjust="0"/>
  </p:normalViewPr>
  <p:slideViewPr>
    <p:cSldViewPr snapToGrid="0" snapToObjects="1">
      <p:cViewPr>
        <p:scale>
          <a:sx n="106" d="100"/>
          <a:sy n="106" d="100"/>
        </p:scale>
        <p:origin x="808" y="-292"/>
      </p:cViewPr>
      <p:guideLst/>
    </p:cSldViewPr>
  </p:slideViewPr>
  <p:outlineViewPr>
    <p:cViewPr>
      <p:scale>
        <a:sx n="33" d="100"/>
        <a:sy n="33" d="100"/>
      </p:scale>
      <p:origin x="0" y="-31296"/>
    </p:cViewPr>
  </p:outlineViewPr>
  <p:notesTextViewPr>
    <p:cViewPr>
      <p:scale>
        <a:sx n="150" d="100"/>
        <a:sy n="150" d="100"/>
      </p:scale>
      <p:origin x="0" y="0"/>
    </p:cViewPr>
  </p:notesTextViewPr>
  <p:notesViewPr>
    <p:cSldViewPr snapToGrid="0" snapToObjects="1">
      <p:cViewPr varScale="1">
        <p:scale>
          <a:sx n="102" d="100"/>
          <a:sy n="102" d="100"/>
        </p:scale>
        <p:origin x="151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latin typeface="Calibri"/>
              </a:rPr>
              <a:t>Expected combined Asimov Z</a:t>
            </a:r>
          </a:p>
        </c:rich>
      </c:tx>
      <c:overlay val="0"/>
    </c:title>
    <c:autoTitleDeleted val="0"/>
    <c:plotArea>
      <c:layout/>
      <c:barChart>
        <c:barDir val="col"/>
        <c:grouping val="clustered"/>
        <c:varyColors val="1"/>
        <c:ser>
          <c:idx val="0"/>
          <c:order val="0"/>
          <c:tx>
            <c:strRef>
              <c:f>Sheet1!$B$1</c:f>
              <c:strCache>
                <c:ptCount val="1"/>
                <c:pt idx="0">
                  <c:v>Asimov Z</c:v>
                </c:pt>
              </c:strCache>
            </c:strRef>
          </c:tx>
          <c:invertIfNegative val="1"/>
          <c:dPt>
            <c:idx val="0"/>
            <c:invertIfNegative val="1"/>
            <c:bubble3D val="0"/>
            <c:spPr>
              <a:solidFill>
                <a:srgbClr val="1A1A1A"/>
              </a:solidFill>
            </c:spPr>
            <c:extLst>
              <c:ext xmlns:c16="http://schemas.microsoft.com/office/drawing/2014/chart" uri="{C3380CC4-5D6E-409C-BE32-E72D297353CC}">
                <c16:uniqueId val="{00000001-6CDC-4236-B415-673CC19C935D}"/>
              </c:ext>
            </c:extLst>
          </c:dPt>
          <c:dPt>
            <c:idx val="1"/>
            <c:invertIfNegative val="1"/>
            <c:bubble3D val="0"/>
            <c:spPr>
              <a:solidFill>
                <a:srgbClr val="1A1A1A"/>
              </a:solidFill>
            </c:spPr>
            <c:extLst>
              <c:ext xmlns:c16="http://schemas.microsoft.com/office/drawing/2014/chart" uri="{C3380CC4-5D6E-409C-BE32-E72D297353CC}">
                <c16:uniqueId val="{00000003-6CDC-4236-B415-673CC19C935D}"/>
              </c:ext>
            </c:extLst>
          </c:dPt>
          <c:dPt>
            <c:idx val="2"/>
            <c:invertIfNegative val="1"/>
            <c:bubble3D val="0"/>
            <c:spPr>
              <a:solidFill>
                <a:srgbClr val="1A1A1A"/>
              </a:solidFill>
            </c:spPr>
            <c:extLst>
              <c:ext xmlns:c16="http://schemas.microsoft.com/office/drawing/2014/chart" uri="{C3380CC4-5D6E-409C-BE32-E72D297353CC}">
                <c16:uniqueId val="{00000005-6CDC-4236-B415-673CC19C935D}"/>
              </c:ext>
            </c:extLst>
          </c:dPt>
          <c:dPt>
            <c:idx val="3"/>
            <c:invertIfNegative val="1"/>
            <c:bubble3D val="0"/>
            <c:spPr>
              <a:solidFill>
                <a:srgbClr val="1A1A1A"/>
              </a:solidFill>
            </c:spPr>
            <c:extLst>
              <c:ext xmlns:c16="http://schemas.microsoft.com/office/drawing/2014/chart" uri="{C3380CC4-5D6E-409C-BE32-E72D297353CC}">
                <c16:uniqueId val="{00000007-6CDC-4236-B415-673CC19C935D}"/>
              </c:ext>
            </c:extLst>
          </c:dPt>
          <c:dPt>
            <c:idx val="4"/>
            <c:invertIfNegative val="1"/>
            <c:bubble3D val="0"/>
            <c:spPr>
              <a:solidFill>
                <a:srgbClr val="1A1A1A"/>
              </a:solidFill>
            </c:spPr>
            <c:extLst>
              <c:ext xmlns:c16="http://schemas.microsoft.com/office/drawing/2014/chart" uri="{C3380CC4-5D6E-409C-BE32-E72D297353CC}">
                <c16:uniqueId val="{00000009-6CDC-4236-B415-673CC19C935D}"/>
              </c:ext>
            </c:extLst>
          </c:dPt>
          <c:dPt>
            <c:idx val="5"/>
            <c:invertIfNegative val="1"/>
            <c:bubble3D val="0"/>
            <c:spPr>
              <a:solidFill>
                <a:srgbClr val="1A1A1A"/>
              </a:solidFill>
            </c:spPr>
            <c:extLst>
              <c:ext xmlns:c16="http://schemas.microsoft.com/office/drawing/2014/chart" uri="{C3380CC4-5D6E-409C-BE32-E72D297353CC}">
                <c16:uniqueId val="{0000000B-6CDC-4236-B415-673CC19C935D}"/>
              </c:ext>
            </c:extLst>
          </c:dPt>
          <c:dPt>
            <c:idx val="6"/>
            <c:invertIfNegative val="1"/>
            <c:bubble3D val="0"/>
            <c:spPr>
              <a:solidFill>
                <a:srgbClr val="FFCD00"/>
              </a:solidFill>
            </c:spPr>
            <c:extLst>
              <c:ext xmlns:c16="http://schemas.microsoft.com/office/drawing/2014/chart" uri="{C3380CC4-5D6E-409C-BE32-E72D297353CC}">
                <c16:uniqueId val="{0000000D-6CDC-4236-B415-673CC19C935D}"/>
              </c:ext>
            </c:extLst>
          </c:dPt>
          <c:dLbls>
            <c:numFmt formatCode="0.000" sourceLinked="0"/>
            <c:spPr>
              <a:noFill/>
              <a:ln>
                <a:noFill/>
              </a:ln>
              <a:effectLst/>
            </c:spPr>
            <c:txPr>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12022</c:v>
                </c:pt>
                <c:pt idx="1">
                  <c:v>22023</c:v>
                </c:pt>
                <c:pt idx="2">
                  <c:v>22022</c:v>
                </c:pt>
                <c:pt idx="3">
                  <c:v>12023</c:v>
                </c:pt>
                <c:pt idx="4">
                  <c:v>2025</c:v>
                </c:pt>
                <c:pt idx="5">
                  <c:v>2024</c:v>
                </c:pt>
                <c:pt idx="6">
                  <c:v>Combined</c:v>
                </c:pt>
              </c:strCache>
            </c:strRef>
          </c:cat>
          <c:val>
            <c:numRef>
              <c:f>Sheet1!$B$2:$B$8</c:f>
              <c:numCache>
                <c:formatCode>General</c:formatCode>
                <c:ptCount val="7"/>
                <c:pt idx="0">
                  <c:v>0.23499999999999999</c:v>
                </c:pt>
                <c:pt idx="1">
                  <c:v>0.19600000000000001</c:v>
                </c:pt>
                <c:pt idx="2">
                  <c:v>0.65600000000000003</c:v>
                </c:pt>
                <c:pt idx="3">
                  <c:v>0.76300000000000001</c:v>
                </c:pt>
                <c:pt idx="4">
                  <c:v>0.90300000000000002</c:v>
                </c:pt>
                <c:pt idx="5">
                  <c:v>1.0249999999999999</c:v>
                </c:pt>
                <c:pt idx="6">
                  <c:v>1.5840000000000001</c:v>
                </c:pt>
              </c:numCache>
            </c:numRef>
          </c:val>
          <c:extLst>
            <c:ext xmlns:c16="http://schemas.microsoft.com/office/drawing/2014/chart" uri="{C3380CC4-5D6E-409C-BE32-E72D297353CC}">
              <c16:uniqueId val="{0000000E-6CDC-4236-B415-673CC19C935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77051E-B811-D949-830F-55D35BA79C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2EC375-152E-3F4A-8C1A-308E3DFABC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830E4C-56B7-2443-B370-610F8D1BCD9C}" type="datetimeFigureOut">
              <a:rPr lang="en-US" smtClean="0"/>
              <a:t>5/19/2026</a:t>
            </a:fld>
            <a:endParaRPr lang="en-US"/>
          </a:p>
        </p:txBody>
      </p:sp>
      <p:sp>
        <p:nvSpPr>
          <p:cNvPr id="4" name="Footer Placeholder 3">
            <a:extLst>
              <a:ext uri="{FF2B5EF4-FFF2-40B4-BE49-F238E27FC236}">
                <a16:creationId xmlns:a16="http://schemas.microsoft.com/office/drawing/2014/main" id="{3DAD90D4-C48B-C647-BA8A-B43CFA99A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B40E78B-91EF-F148-8F7B-2AEC53251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7D0152-5968-C24B-9EC0-2DFF74304A89}" type="slidenum">
              <a:rPr lang="en-US" smtClean="0"/>
              <a:t>‹#›</a:t>
            </a:fld>
            <a:endParaRPr lang="en-US"/>
          </a:p>
        </p:txBody>
      </p:sp>
    </p:spTree>
    <p:extLst>
      <p:ext uri="{BB962C8B-B14F-4D97-AF65-F5344CB8AC3E}">
        <p14:creationId xmlns:p14="http://schemas.microsoft.com/office/powerpoint/2010/main" val="158024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D2FD1-B169-9B41-A890-0ECD81C3476C}" type="datetimeFigureOut">
              <a:rPr lang="en-US" smtClean="0"/>
              <a:t>5/19/2026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943EA-69D9-7E49-97CD-A49926F617C9}" type="slidenum">
              <a:rPr lang="en-US" smtClean="0"/>
              <a:t>‹#›</a:t>
            </a:fld>
            <a:endParaRPr lang="en-US" dirty="0"/>
          </a:p>
        </p:txBody>
      </p:sp>
    </p:spTree>
    <p:extLst>
      <p:ext uri="{BB962C8B-B14F-4D97-AF65-F5344CB8AC3E}">
        <p14:creationId xmlns:p14="http://schemas.microsoft.com/office/powerpoint/2010/main" val="173512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 will walk you through training performance per era, the iterative category-boundary optimization in the combined fit, per-category signal and background modelling, the expected significance, and the next-step plan for the spurious-signal systematic and the mass interpolation. Everything in this deck follows the framework of </a:t>
            </a:r>
            <a:r>
              <a:rPr lang="en-US" dirty="0"/>
              <a:t>the </a:t>
            </a:r>
            <a:r>
              <a:rPr lang="en-US" i="0" dirty="0"/>
              <a:t>H→</a:t>
            </a:r>
            <a:r>
              <a:rPr lang="el-GR" i="0" dirty="0"/>
              <a:t>μμ </a:t>
            </a:r>
            <a:r>
              <a:rPr lang="en-US" i="0" dirty="0"/>
              <a:t>using full Run2 data from the CMS Draft Analysis Note in 2020.</a:t>
            </a:r>
            <a:endParaRPr i="0"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endParaRPr dirty="0"/>
              </a:p>
            </p:txBody>
          </p:sp>
        </mc:Choice>
        <mc:Fallback xmlns="">
          <p:sp>
            <p:nvSpPr>
              <p:cNvPr id="3" name="Notes Placeholder 2"/>
              <p:cNvSpPr>
                <a:spLocks noGrp="1"/>
              </p:cNvSpPr>
              <p:nvPr>
                <p:ph type="body" sz="quarter" idx="3"/>
              </p:nvPr>
            </p:nvSpPr>
            <p:spPr/>
            <p:txBody>
              <a:bodyPr/>
              <a:lstStyle/>
              <a:p>
                <a:r>
                  <a:rPr lang="en-US" dirty="0"/>
                  <a:t>These are the per-era ROC curves for the VBF BDT. We train and evaluate independently in each Run-3 era—12022, 22022, 12023, 22023, 2024, and 2025—to absorb era-to-era differences in trigger, pileup, and muon calibration. AUC is between 0.91 and 0.93 across all eras, consistent with the published Run-2 VBF BDT performance in the AN, and shows that the training transports well across eras. </a:t>
                </a:r>
              </a:p>
              <a:p>
                <a:endParaRPr lang="en-US" dirty="0"/>
              </a:p>
              <a:p>
                <a:r>
                  <a:rPr lang="en-US" dirty="0"/>
                  <a:t>Input features are the standard VBF set: </a:t>
                </a:r>
                <a:r>
                  <a:rPr lang="ar-AE" b="0" i="0">
                    <a:latin typeface="Cambria Math" panose="02040503050406030204" pitchFamily="18" charset="0"/>
                  </a:rPr>
                  <a:t>𝑚_</a:t>
                </a:r>
                <a:r>
                  <a:rPr lang="en-US" b="0" i="0">
                    <a:latin typeface="Cambria Math" panose="02040503050406030204" pitchFamily="18" charset="0"/>
                  </a:rPr>
                  <a:t>𝑗𝑗</a:t>
                </a:r>
                <a:r>
                  <a:rPr lang="en-US" dirty="0"/>
                  <a:t>, |</a:t>
                </a:r>
                <a:r>
                  <a:rPr lang="el-GR" dirty="0" err="1"/>
                  <a:t>Δ</a:t>
                </a:r>
                <a:r>
                  <a:rPr lang="en-US" b="0" i="0">
                    <a:latin typeface="Cambria Math" panose="02040503050406030204" pitchFamily="18" charset="0"/>
                  </a:rPr>
                  <a:t>𝑛</a:t>
                </a:r>
                <a:r>
                  <a:rPr lang="ar-AE" b="0" i="0">
                    <a:latin typeface="Cambria Math" panose="02040503050406030204" pitchFamily="18" charset="0"/>
                  </a:rPr>
                  <a:t>_</a:t>
                </a:r>
                <a:r>
                  <a:rPr lang="en-US" b="0" i="0">
                    <a:latin typeface="Cambria Math" panose="02040503050406030204" pitchFamily="18" charset="0"/>
                  </a:rPr>
                  <a:t>𝑗𝑗</a:t>
                </a:r>
                <a:r>
                  <a:rPr lang="en-US" dirty="0"/>
                  <a:t>|, the </a:t>
                </a:r>
                <a:r>
                  <a:rPr lang="en-US" dirty="0" err="1"/>
                  <a:t>Zeppenfeld</a:t>
                </a:r>
                <a:r>
                  <a:rPr lang="en-US" dirty="0"/>
                  <a:t> variable, dimuon kinematics, soft-jet activity, muon-quality variables, and the Higgs helicity angles. These ROCs are evaluated on the held-out test fold, so they are unbiased. The slightly higher AUC in 2024 tracks the improved Higgs MC statistics and the updated muon scale calibration in those years.</a:t>
                </a:r>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how we choose the category boundaries. The optimization metric is the combined Asimov significance evaluated inside a ±HWHM window around the signal peak — that's ±1.1774 σ of the fitted DCB — summed in quadrature over categories and over eras. Signal yield comes from the VBF H(125) MC weighted by cross section, branching ratio, acceptance, and selection efficiency inside the HWHM window. Background comes from the best fitted background PDF integrated over the same window — a fully data-driven sideband-only fit extrapolated under the peak, so we never touch the blinded signal region. The scan is greedy and iterative: start with one category, propose new splits at the 1 % to 99 % quantiles of the signal-score distribution — which guarantees that we sample roughly uniformly in signal density even though the BDT score itself is highly non-uniform — keep the split that gives the largest combined Z, and repeat. We stop when the relative gain drops below 1 %. In the combined fit, the third split adds 3.4 % and the fourth falls below 1 %, so the scan saturates at four categories.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summary of the four-category structure in the combined fit. Cat 0 is the BDT-low region, very high background, DY-dominated, and despite carrying 99 % of the events it contributes very little to Z — but it anchors the background normalisation in the global fit, so it stays in. Cats 1 through 3 are progressively more signal-pure and EWK-dominated. The data/MC populations agree within the statistical uncertainties in every category, which is consistent with the inclusive closure on the previous slide. This four-category structure is the foundation for everything that follows: the signal and background fits are done in each category independently, and the final unblinded fit will be a simultaneous fit across the four categories per era.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re-optimise the boundaries per era because the BDT score distribution shifts a little between eras — trigger thresholds, muon resolution, and pileup all move things, even though we retrain in each era. Five eras — 12022, 22022, 12023, 22023, and 2024 — support four categories with similar boundaries to the combined fit. 2025 collapses to three: the n = 4 scan does find a third boundary, but the marginal ΔZ falls below the 1 % threshold, and the candidate fourth category would have fewer than five expected background events in the HWHM window, which makes the background fit numerically unstable. So we keep 2025 at three categories. The bottom row, labelled 'combined', is the joint scan across all eras, and that is the n = 4 working point we quote. We report both per-era and combined results so the categorisation choice is fully transparent.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are the per-category yields for 12022 and 22022. For each category we list the BDT range, signal yield S, background yield B in the HWHM window, S over B, S over root-B, and the per-category Asimov Z. The combined per-era Z is the quadrature sum across categories. 12022 is the smallest 2022 dataset and gives Z about 0.24; 22022 has more luminosity and reaches Z about 0.66. As expected, Cat 0 contributes very little to Z despite holding most of the events. The high-purity Cat 3 has the best S over root-B per event, but its absolute contribution is limited by the small absolute signal yield in the tail.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table for 12023 and 22023. 12023 reaches Z about 0.76 with four categories. 22023 is the smallest era and gives Z about 0.20 — and we flag that its Cat 3 has fewer than one expected background event in the HWHM window, so the asymptotic Asimov formula loses precision there. We will cross-check those low-stat categories with profile-likelihood toys when we unblind. The fact that the optimal boundaries are similar between the two 2023 eras is a good sign that the BDT is portable across eras within a year.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2024 and 2025 are the two largest Run-3 datasets, and they carry most of the sensitivity: Z about 1.03 in 2024, 0.90 in 2025. Recall that 2025 uses three categories rather than four. As a sanity check, the per-era yields scale with the integrated luminosity to within a few percent — there is no era pulling outside its expected weight, which means there is no surprise from a poorly-calibrated era or a misweighted MC subset.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closure test before unblinding: the BDT must not sculpt the dimuon invariant mass spectrum. If it did, the sideband-to-peak extrapolation would be biased — a bump that looked like a signal could be generated purely by the BDT cut. Here we plot the normalised m_μμ shape of the background MC in each of the four categories. They overlap within statistical fluctuations across the full 110–150 GeV range with no preferential pull toward 125 GeV, and Kolmogorov–Smirnov tests between Cat 0 and each of Cat 1, 2, 3 return p-values above 0.1 in every case. This is one of the standard AN closure tests; passing it means the per-category background fits are well defined and the sideband extrapolation is unbiased to the level our current MC statistics can probe.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category we fit the dimuon mass spectrum in the blinded sidebands with several functional families: BWZRedux, BWZGamma, BWZ × Bernstein, Landau × Bernstein, plain Bernstein, sum-of-power-laws, and sum-of-exponentials. These are exactly the families used in the AN. The goodness of fit is quantified with the Baker–Cousins χ², which is the Poisson likelihood-ratio statistic, equal to 2 × Σ [exp − obs + obs × ln(obs/exp)]. We use Baker–Cousins rather than Pearson because the sideband bin counts are small in the high-BDT categories and Pearson would be biased low; this is what the AN does in Table 27. The order of each Bernstein polynomial and the number of components in the sum-PDFs are selected by an F-test-style likelihood-ratio scan against the next order. For each category the best PDF by Baker–Cousins χ² is the current nominal. The alternates are not just diagnostic — they will form the envelope used for the spurious-signal systematic, which is the first item in our next-steps list.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signal model is the double-sided Crystal Ball, the standard H→μμ choice in the AN. It's a Gaussian core with power-law tails on both sides — six parameters: μ, σ, the two transition points α_L and α_R, and the two tail-shape exponents n_L and n_R. We fit it to the VBF H(125) MC in each category independently, with the sum-of-weights-squared error treatment so per-event MC weights propagate correctly into the covariance. The peak μ is stable at 124.78 GeV across categories — within 40 MeV of the generated mass, with the residual offset absorbed into the asymmetric tails from final-state radiation. σ grows by only 1.8 % from Cat 0 to Cat 3, so the BDT is not selecting a different resolution regime — it is selecting on event topology, exactly what we want. The Baker–Cousins χ² over ndf is much smaller than one in every category; that's expected because the signal MC is very smooth and very high statistics, and is not a sign that the errors are over-estimated. This DCB will be the nominal signal template, with mass interpolation handled by the 120 / 125 / 130 GeV refits in the next-steps list.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aggregates everything across the six eras: HWHM-windowed S, B, S/B, S over root-B, the per-category contribution to combined Z², and the fractional contribution to total Z². Cat 0 carries less than 5 % of total Z² despite holding 99 % of the events; Cats 2 and 3 carry the bulk of the sensitivity. The per-category Z² values add up to (1.58)². This is the canonical CMS table for a categorised analysis and it will appear in the AN draft essentially as-is.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expected sensitivity. Per-era Z ranges from 0.20 in 22023 to 1.03 in 2024. Combined across all six eras — five at n = 4 and 2025 at n = 3 — gives the expected Run-3 VBF-only Asimov Z of 1.58, HWHM-windowed, with the background model extrapolated from the sidebands. This is consistent with our pre-Run-3 projection scaled by the achieved integrated luminosity. It does not yet include theory or experimental systematics; those are the next items on the to-do list.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3954-2DF8-D830-A44D-A2626BAB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405D2-6449-2AAD-B381-5CE5B40CD80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6C643E-69BB-A348-FCB5-297D75100E8B}"/>
              </a:ext>
            </a:extLst>
          </p:cNvPr>
          <p:cNvSpPr>
            <a:spLocks noGrp="1"/>
          </p:cNvSpPr>
          <p:nvPr>
            <p:ph type="body" sz="quarter" idx="3"/>
          </p:nvPr>
        </p:nvSpPr>
        <p:spPr/>
        <p:txBody>
          <a:bodyPr/>
          <a:lstStyle/>
          <a:p>
            <a:r>
              <a:t>Visual summary of the four-category structure in the combined fit. Cat 0 is the BDT-low region, very high background, DY-dominated, and despite carrying 99 % of the events it contributes very little to Z — but it anchors the background normalisation in the global fit, so it stays in. Cats 1 through 3 are progressively more signal-pure and EWK-dominated. The data/MC populations agree within the statistical uncertainties in every category, which is consistent with the inclusive closure on the previous slide. This four-category structure is the foundation for everything that follows: the signal and background fits are done in each category independently, and the final unblinded fit will be a simultaneous fit across the four categories per era.</a:t>
            </a:r>
          </a:p>
        </p:txBody>
      </p:sp>
      <p:sp>
        <p:nvSpPr>
          <p:cNvPr id="4" name="Slide Number Placeholder 3">
            <a:extLst>
              <a:ext uri="{FF2B5EF4-FFF2-40B4-BE49-F238E27FC236}">
                <a16:creationId xmlns:a16="http://schemas.microsoft.com/office/drawing/2014/main" id="{43B32CDA-D024-7EA3-AD75-53424830D2E6}"/>
              </a:ext>
            </a:extLst>
          </p:cNvPr>
          <p:cNvSpPr>
            <a:spLocks noGrp="1"/>
          </p:cNvSpPr>
          <p:nvPr>
            <p:ph type="sldNum" sz="quarter" idx="5"/>
          </p:nvPr>
        </p:nvSpPr>
        <p:spPr/>
      </p:sp>
    </p:spTree>
    <p:extLst>
      <p:ext uri="{BB962C8B-B14F-4D97-AF65-F5344CB8AC3E}">
        <p14:creationId xmlns:p14="http://schemas.microsoft.com/office/powerpoint/2010/main" val="33309299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31044" y="2677626"/>
            <a:ext cx="6931628" cy="1847088"/>
          </a:xfrm>
        </p:spPr>
        <p:txBody>
          <a:bodyPr lIns="0" tIns="0" rIns="0" bIns="0" anchor="t" anchorCtr="0">
            <a:normAutofit/>
          </a:bodyPr>
          <a:lstStyle>
            <a:lvl1pPr algn="l">
              <a:defRPr sz="5200" b="1">
                <a:solidFill>
                  <a:schemeClr val="bg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Right Here</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438725"/>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2">
            <a:extLst>
              <a:ext uri="{FF2B5EF4-FFF2-40B4-BE49-F238E27FC236}">
                <a16:creationId xmlns:a16="http://schemas.microsoft.com/office/drawing/2014/main" id="{7EBA0026-8676-FC4D-B8E3-23D67CC31E33}"/>
              </a:ext>
            </a:extLst>
          </p:cNvPr>
          <p:cNvSpPr>
            <a:spLocks noGrp="1"/>
          </p:cNvSpPr>
          <p:nvPr>
            <p:ph type="subTitle" idx="1" hasCustomPrompt="1"/>
          </p:nvPr>
        </p:nvSpPr>
        <p:spPr>
          <a:xfrm>
            <a:off x="731044" y="4709626"/>
            <a:ext cx="7765770" cy="365125"/>
          </a:xfrm>
        </p:spPr>
        <p:txBody>
          <a:bodyPr lIns="0" tIns="0" rIns="0" bIns="0">
            <a:normAutofit/>
          </a:bodyPr>
          <a:lstStyle>
            <a:lvl1pPr marL="0" indent="0" algn="l">
              <a:buNone/>
              <a:defRPr sz="2200" b="1">
                <a:solidFill>
                  <a:schemeClr val="accent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1" name="Text Placeholder 15">
            <a:extLst>
              <a:ext uri="{FF2B5EF4-FFF2-40B4-BE49-F238E27FC236}">
                <a16:creationId xmlns:a16="http://schemas.microsoft.com/office/drawing/2014/main" id="{C56D6AE6-8806-5841-BD04-7C1509FA8029}"/>
              </a:ext>
            </a:extLst>
          </p:cNvPr>
          <p:cNvSpPr>
            <a:spLocks noGrp="1"/>
          </p:cNvSpPr>
          <p:nvPr>
            <p:ph type="body" sz="quarter" idx="10" hasCustomPrompt="1"/>
          </p:nvPr>
        </p:nvSpPr>
        <p:spPr>
          <a:xfrm>
            <a:off x="731044" y="5098725"/>
            <a:ext cx="7765770" cy="414991"/>
          </a:xfrm>
        </p:spPr>
        <p:txBody>
          <a:bodyPr lIns="0" tIns="0" rIns="0" bIns="0">
            <a:normAutofit/>
          </a:bodyPr>
          <a:lstStyle>
            <a:lvl1pPr marL="0" indent="0">
              <a:buNone/>
              <a:defRPr sz="2200">
                <a:solidFill>
                  <a:schemeClr val="bg1"/>
                </a:solidFill>
                <a:latin typeface="Roboto" panose="02000000000000000000" pitchFamily="2" charset="0"/>
                <a:ea typeface="Roboto" panose="02000000000000000000" pitchFamily="2"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714376" y="1774217"/>
            <a:ext cx="6948756" cy="365125"/>
          </a:xfrm>
          <a:prstGeom prst="rect">
            <a:avLst/>
          </a:prstGeom>
          <a:noFill/>
        </p:spPr>
        <p:txBody>
          <a:bodyPr vert="horz" lIns="0" tIns="0" rIns="0" bIns="0" rtlCol="0" anchor="ctr"/>
          <a:lstStyle>
            <a:lvl1pPr algn="l">
              <a:defRPr sz="1650" b="0">
                <a:solidFill>
                  <a:schemeClr val="bg1"/>
                </a:solidFill>
                <a:latin typeface="Roboto" panose="02000000000000000000" pitchFamily="2" charset="0"/>
                <a:ea typeface="Roboto" panose="02000000000000000000" pitchFamily="2" charset="0"/>
              </a:defRPr>
            </a:lvl1pPr>
          </a:lstStyle>
          <a:p>
            <a:r>
              <a:rPr lang="en-US" dirty="0"/>
              <a:t>Insert-&gt;Header and Footer-&gt;Type Customizable Name</a:t>
            </a:r>
          </a:p>
        </p:txBody>
      </p:sp>
      <p:pic>
        <p:nvPicPr>
          <p:cNvPr id="9" name="Picture 8" descr="The University of Iowa">
            <a:extLst>
              <a:ext uri="{FF2B5EF4-FFF2-40B4-BE49-F238E27FC236}">
                <a16:creationId xmlns:a16="http://schemas.microsoft.com/office/drawing/2014/main" id="{F79387AB-96AB-3C45-A320-91F134DB3255}"/>
              </a:ext>
            </a:extLst>
          </p:cNvPr>
          <p:cNvPicPr>
            <a:picLocks noChangeAspect="1"/>
          </p:cNvPicPr>
          <p:nvPr userDrawn="1"/>
        </p:nvPicPr>
        <p:blipFill>
          <a:blip r:embed="rId2"/>
          <a:stretch>
            <a:fillRect/>
          </a:stretch>
        </p:blipFill>
        <p:spPr>
          <a:xfrm>
            <a:off x="6476484" y="0"/>
            <a:ext cx="2020330" cy="962062"/>
          </a:xfrm>
          <a:prstGeom prst="rect">
            <a:avLst/>
          </a:prstGeom>
        </p:spPr>
      </p:pic>
    </p:spTree>
    <p:extLst>
      <p:ext uri="{BB962C8B-B14F-4D97-AF65-F5344CB8AC3E}">
        <p14:creationId xmlns:p14="http://schemas.microsoft.com/office/powerpoint/2010/main" val="35599010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5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31044" y="2677626"/>
            <a:ext cx="6858000" cy="1843238"/>
          </a:xfrm>
        </p:spPr>
        <p:txBody>
          <a:bodyPr lIns="0" tIns="0" rIns="0" bIns="0" anchor="t" anchorCtr="0">
            <a:normAutofit/>
          </a:bodyPr>
          <a:lstStyle>
            <a:lvl1pPr algn="l">
              <a:defRPr sz="5200" b="1">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730595" y="2438725"/>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731044" y="4709626"/>
            <a:ext cx="7765770" cy="365125"/>
          </a:xfrm>
        </p:spPr>
        <p:txBody>
          <a:bodyPr lIns="0" tIns="0" rIns="0" bIns="0">
            <a:normAutofit/>
          </a:bodyPr>
          <a:lstStyle>
            <a:lvl1pPr marL="0" indent="0" algn="l">
              <a:buNone/>
              <a:defRPr sz="2200" b="1">
                <a:solidFill>
                  <a:schemeClr val="tx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731044" y="5098725"/>
            <a:ext cx="7765770" cy="414991"/>
          </a:xfrm>
        </p:spPr>
        <p:txBody>
          <a:bodyPr lIns="0" tIns="0" rIns="0" bIns="0">
            <a:normAutofit/>
          </a:bodyPr>
          <a:lstStyle>
            <a:lvl1pPr marL="0" indent="0">
              <a:buNone/>
              <a:defRPr sz="2200">
                <a:solidFill>
                  <a:schemeClr val="tx1"/>
                </a:solidFill>
                <a:latin typeface="Roboto" panose="02000000000000000000" pitchFamily="2" charset="0"/>
                <a:ea typeface="Roboto" panose="02000000000000000000" pitchFamily="2"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714375" y="1774217"/>
            <a:ext cx="6874669" cy="365125"/>
          </a:xfrm>
          <a:prstGeom prst="rect">
            <a:avLst/>
          </a:prstGeom>
          <a:noFill/>
        </p:spPr>
        <p:txBody>
          <a:bodyPr vert="horz" lIns="0" tIns="0" rIns="0" bIns="0" rtlCol="0" anchor="ctr"/>
          <a:lstStyle>
            <a:lvl1pPr algn="l">
              <a:defRPr sz="1650" b="0">
                <a:solidFill>
                  <a:schemeClr val="tx1"/>
                </a:solidFill>
                <a:latin typeface="Roboto" panose="02000000000000000000" pitchFamily="2" charset="0"/>
                <a:ea typeface="Roboto" panose="02000000000000000000" pitchFamily="2" charset="0"/>
              </a:defRPr>
            </a:lvl1pPr>
          </a:lstStyle>
          <a:p>
            <a:r>
              <a:rPr lang="en-US" dirty="0"/>
              <a:t>Insert-&gt;Header and Footer-&gt;Type Customizable Name</a:t>
            </a:r>
          </a:p>
        </p:txBody>
      </p:sp>
      <p:pic>
        <p:nvPicPr>
          <p:cNvPr id="9" name="Picture 8" descr="The University of Iowa">
            <a:extLst>
              <a:ext uri="{FF2B5EF4-FFF2-40B4-BE49-F238E27FC236}">
                <a16:creationId xmlns:a16="http://schemas.microsoft.com/office/drawing/2014/main" id="{2BFB147F-9BD6-AA42-8D58-18E266C69A12}"/>
              </a:ext>
            </a:extLst>
          </p:cNvPr>
          <p:cNvPicPr>
            <a:picLocks noChangeAspect="1"/>
          </p:cNvPicPr>
          <p:nvPr userDrawn="1"/>
        </p:nvPicPr>
        <p:blipFill>
          <a:blip r:embed="rId2"/>
          <a:srcRect/>
          <a:stretch/>
        </p:blipFill>
        <p:spPr>
          <a:xfrm>
            <a:off x="6476484" y="150"/>
            <a:ext cx="2020330" cy="961761"/>
          </a:xfrm>
          <a:prstGeom prst="rect">
            <a:avLst/>
          </a:prstGeom>
        </p:spPr>
      </p:pic>
    </p:spTree>
    <p:extLst>
      <p:ext uri="{BB962C8B-B14F-4D97-AF65-F5344CB8AC3E}">
        <p14:creationId xmlns:p14="http://schemas.microsoft.com/office/powerpoint/2010/main" val="12978892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5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Image–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20073" y="2184901"/>
            <a:ext cx="4617720" cy="2431224"/>
          </a:xfrm>
        </p:spPr>
        <p:txBody>
          <a:bodyPr anchor="ctr" anchorCtr="0">
            <a:normAutofit/>
          </a:bodyPr>
          <a:lstStyle>
            <a:lvl1pPr algn="l">
              <a:defRPr sz="4800" b="1">
                <a:solidFill>
                  <a:schemeClr val="bg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12" name="Subtitle 2">
            <a:extLst>
              <a:ext uri="{FF2B5EF4-FFF2-40B4-BE49-F238E27FC236}">
                <a16:creationId xmlns:a16="http://schemas.microsoft.com/office/drawing/2014/main" id="{114C79AA-0B96-2A43-86A1-A71A1D4C8E7A}"/>
              </a:ext>
            </a:extLst>
          </p:cNvPr>
          <p:cNvSpPr>
            <a:spLocks noGrp="1"/>
          </p:cNvSpPr>
          <p:nvPr>
            <p:ph type="subTitle" idx="1" hasCustomPrompt="1"/>
          </p:nvPr>
        </p:nvSpPr>
        <p:spPr>
          <a:xfrm>
            <a:off x="720073" y="4676834"/>
            <a:ext cx="4616795" cy="404721"/>
          </a:xfrm>
        </p:spPr>
        <p:txBody>
          <a:bodyPr/>
          <a:lstStyle>
            <a:lvl1pPr marL="0" indent="0" algn="l">
              <a:buNone/>
              <a:defRPr sz="1800" b="1">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4" name="Text Placeholder 15">
            <a:extLst>
              <a:ext uri="{FF2B5EF4-FFF2-40B4-BE49-F238E27FC236}">
                <a16:creationId xmlns:a16="http://schemas.microsoft.com/office/drawing/2014/main" id="{A7101AB8-54F7-4A4E-9611-F4F2ECFBD1D2}"/>
              </a:ext>
            </a:extLst>
          </p:cNvPr>
          <p:cNvSpPr>
            <a:spLocks noGrp="1"/>
          </p:cNvSpPr>
          <p:nvPr>
            <p:ph type="body" sz="quarter" idx="10" hasCustomPrompt="1"/>
          </p:nvPr>
        </p:nvSpPr>
        <p:spPr>
          <a:xfrm>
            <a:off x="720072" y="5081555"/>
            <a:ext cx="4616795" cy="495309"/>
          </a:xfrm>
        </p:spPr>
        <p:txBody>
          <a:bodyPr>
            <a:normAutofit/>
          </a:bodyPr>
          <a:lstStyle>
            <a:lvl1pPr marL="0" indent="0">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9" name="Footer Placeholder 4">
            <a:extLst>
              <a:ext uri="{FF2B5EF4-FFF2-40B4-BE49-F238E27FC236}">
                <a16:creationId xmlns:a16="http://schemas.microsoft.com/office/drawing/2014/main" id="{909BBB92-B5AB-3E46-A519-2A2BBFF13FF8}"/>
              </a:ext>
            </a:extLst>
          </p:cNvPr>
          <p:cNvSpPr>
            <a:spLocks noGrp="1"/>
          </p:cNvSpPr>
          <p:nvPr>
            <p:ph type="ftr" sz="quarter" idx="3"/>
          </p:nvPr>
        </p:nvSpPr>
        <p:spPr>
          <a:xfrm>
            <a:off x="2952485" y="201168"/>
            <a:ext cx="2539200" cy="587186"/>
          </a:xfrm>
          <a:prstGeom prst="rect">
            <a:avLst/>
          </a:prstGeom>
          <a:noFill/>
        </p:spPr>
        <p:txBody>
          <a:bodyPr vert="horz" lIns="0" tIns="0" rIns="0" bIns="0" rtlCol="0" anchor="b" anchorCtr="0"/>
          <a:lstStyle>
            <a:lvl1pPr algn="l">
              <a:defRPr sz="1500" b="0">
                <a:solidFill>
                  <a:schemeClr val="bg1"/>
                </a:solidFill>
                <a:latin typeface="Roboto" panose="02000000000000000000" pitchFamily="2" charset="0"/>
                <a:ea typeface="Roboto" panose="02000000000000000000" pitchFamily="2" charset="0"/>
              </a:defRPr>
            </a:lvl1pPr>
          </a:lstStyle>
          <a:p>
            <a:r>
              <a:rPr lang="en-US" dirty="0"/>
              <a:t>Insert-&gt;Header and Footer-&gt;Type Customizable Name</a:t>
            </a:r>
            <a:endParaRPr lang="en-US" dirty="0">
              <a:solidFill>
                <a:schemeClr val="bg1"/>
              </a:solidFill>
            </a:endParaRPr>
          </a:p>
        </p:txBody>
      </p:sp>
      <p:pic>
        <p:nvPicPr>
          <p:cNvPr id="13" name="Picture 12" descr="The University of Iowa">
            <a:extLst>
              <a:ext uri="{FF2B5EF4-FFF2-40B4-BE49-F238E27FC236}">
                <a16:creationId xmlns:a16="http://schemas.microsoft.com/office/drawing/2014/main" id="{F49CB936-90E7-D144-B9DC-7CF3F98E2FF4}"/>
              </a:ext>
            </a:extLst>
          </p:cNvPr>
          <p:cNvPicPr>
            <a:picLocks noChangeAspect="1"/>
          </p:cNvPicPr>
          <p:nvPr userDrawn="1"/>
        </p:nvPicPr>
        <p:blipFill>
          <a:blip r:embed="rId2"/>
          <a:srcRect/>
          <a:stretch/>
        </p:blipFill>
        <p:spPr>
          <a:xfrm>
            <a:off x="710803" y="622"/>
            <a:ext cx="2015279" cy="959656"/>
          </a:xfrm>
          <a:prstGeom prst="rect">
            <a:avLst/>
          </a:prstGeom>
        </p:spPr>
      </p:pic>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5718088" y="0"/>
            <a:ext cx="342591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spTree>
    <p:extLst>
      <p:ext uri="{BB962C8B-B14F-4D97-AF65-F5344CB8AC3E}">
        <p14:creationId xmlns:p14="http://schemas.microsoft.com/office/powerpoint/2010/main" val="15094137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Image–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20073" y="2184901"/>
            <a:ext cx="4616794" cy="2561760"/>
          </a:xfrm>
        </p:spPr>
        <p:txBody>
          <a:bodyPr anchor="ctr" anchorCtr="0">
            <a:normAutofit/>
          </a:bodyPr>
          <a:lstStyle>
            <a:lvl1pPr algn="l">
              <a:defRPr sz="4800" b="1">
                <a:solidFill>
                  <a:schemeClr val="tx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3" name="Subtitle 2">
            <a:extLst>
              <a:ext uri="{FF2B5EF4-FFF2-40B4-BE49-F238E27FC236}">
                <a16:creationId xmlns:a16="http://schemas.microsoft.com/office/drawing/2014/main" id="{95B3A797-13D4-A243-B1AE-4498B36D475C}"/>
              </a:ext>
            </a:extLst>
          </p:cNvPr>
          <p:cNvSpPr>
            <a:spLocks noGrp="1"/>
          </p:cNvSpPr>
          <p:nvPr>
            <p:ph type="subTitle" idx="1" hasCustomPrompt="1"/>
          </p:nvPr>
        </p:nvSpPr>
        <p:spPr>
          <a:xfrm>
            <a:off x="720073" y="4676835"/>
            <a:ext cx="4616795" cy="393146"/>
          </a:xfrm>
        </p:spPr>
        <p:txBody>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7" name="Text Placeholder 15">
            <a:extLst>
              <a:ext uri="{FF2B5EF4-FFF2-40B4-BE49-F238E27FC236}">
                <a16:creationId xmlns:a16="http://schemas.microsoft.com/office/drawing/2014/main" id="{884DA5E7-4B71-0543-8E46-EC2A81EAE3C1}"/>
              </a:ext>
            </a:extLst>
          </p:cNvPr>
          <p:cNvSpPr>
            <a:spLocks noGrp="1"/>
          </p:cNvSpPr>
          <p:nvPr>
            <p:ph type="body" sz="quarter" idx="10" hasCustomPrompt="1"/>
          </p:nvPr>
        </p:nvSpPr>
        <p:spPr>
          <a:xfrm>
            <a:off x="720072" y="5069980"/>
            <a:ext cx="4616795" cy="495309"/>
          </a:xfrm>
        </p:spPr>
        <p:txBody>
          <a:bodyPr>
            <a:normAutofit/>
          </a:bodyPr>
          <a:lstStyle>
            <a:lvl1pPr marL="0" indent="0">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9" name="Footer Placeholder 4">
            <a:extLst>
              <a:ext uri="{FF2B5EF4-FFF2-40B4-BE49-F238E27FC236}">
                <a16:creationId xmlns:a16="http://schemas.microsoft.com/office/drawing/2014/main" id="{99993354-AA52-D24C-AE6B-C02456C6D92A}"/>
              </a:ext>
            </a:extLst>
          </p:cNvPr>
          <p:cNvSpPr>
            <a:spLocks noGrp="1"/>
          </p:cNvSpPr>
          <p:nvPr>
            <p:ph type="ftr" sz="quarter" idx="3"/>
          </p:nvPr>
        </p:nvSpPr>
        <p:spPr>
          <a:xfrm>
            <a:off x="2952485" y="201168"/>
            <a:ext cx="2539200" cy="587186"/>
          </a:xfrm>
          <a:prstGeom prst="rect">
            <a:avLst/>
          </a:prstGeom>
          <a:noFill/>
        </p:spPr>
        <p:txBody>
          <a:bodyPr vert="horz" lIns="0" tIns="0" rIns="0" bIns="0" rtlCol="0" anchor="b" anchorCtr="0"/>
          <a:lstStyle>
            <a:lvl1pPr algn="l">
              <a:defRPr sz="1500" b="0">
                <a:solidFill>
                  <a:schemeClr val="tx1"/>
                </a:solidFill>
                <a:latin typeface="Roboto" panose="02000000000000000000" pitchFamily="2" charset="0"/>
                <a:ea typeface="Roboto" panose="02000000000000000000" pitchFamily="2" charset="0"/>
              </a:defRPr>
            </a:lvl1pPr>
          </a:lstStyle>
          <a:p>
            <a:r>
              <a:rPr lang="en-US" dirty="0"/>
              <a:t>Insert-&gt;Header and Footer-&gt;Type Customizable Name</a:t>
            </a:r>
          </a:p>
        </p:txBody>
      </p:sp>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5718088" y="0"/>
            <a:ext cx="342591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pic>
        <p:nvPicPr>
          <p:cNvPr id="13" name="Picture 12" descr="The University of Iowa">
            <a:extLst>
              <a:ext uri="{FF2B5EF4-FFF2-40B4-BE49-F238E27FC236}">
                <a16:creationId xmlns:a16="http://schemas.microsoft.com/office/drawing/2014/main" id="{D73F5E00-2329-6246-A2BB-7BCD46F83907}"/>
              </a:ext>
            </a:extLst>
          </p:cNvPr>
          <p:cNvPicPr>
            <a:picLocks noChangeAspect="1"/>
          </p:cNvPicPr>
          <p:nvPr userDrawn="1"/>
        </p:nvPicPr>
        <p:blipFill>
          <a:blip r:embed="rId2"/>
          <a:srcRect/>
          <a:stretch/>
        </p:blipFill>
        <p:spPr>
          <a:xfrm>
            <a:off x="710803" y="-1189"/>
            <a:ext cx="2015279" cy="963278"/>
          </a:xfrm>
          <a:prstGeom prst="rect">
            <a:avLst/>
          </a:prstGeom>
        </p:spPr>
      </p:pic>
    </p:spTree>
    <p:extLst>
      <p:ext uri="{BB962C8B-B14F-4D97-AF65-F5344CB8AC3E}">
        <p14:creationId xmlns:p14="http://schemas.microsoft.com/office/powerpoint/2010/main" val="23392098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14376" y="2744661"/>
            <a:ext cx="7715249" cy="759906"/>
          </a:xfrm>
        </p:spPr>
        <p:txBody>
          <a:bodyPr lIns="0" tIns="0" rIns="0" bIns="0" anchor="t" anchorCtr="0">
            <a:normAutofit/>
          </a:bodyPr>
          <a:lstStyle>
            <a:lvl1pPr algn="l">
              <a:defRPr sz="4800" b="1">
                <a:solidFill>
                  <a:schemeClr val="tx1"/>
                </a:solidFill>
                <a:latin typeface="+mj-lt"/>
                <a:ea typeface="Roboto Black" panose="02000000000000000000" pitchFamily="2" charset="0"/>
                <a:cs typeface="Arial" panose="020B0604020202020204" pitchFamily="34" charset="0"/>
              </a:defRPr>
            </a:lvl1pPr>
          </a:lstStyle>
          <a:p>
            <a:r>
              <a:rPr lang="en-US" dirty="0"/>
              <a:t>Section Header</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502271"/>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714376" y="3694740"/>
            <a:ext cx="7715249" cy="407460"/>
          </a:xfrm>
        </p:spPr>
        <p:txBody>
          <a:bodyPr lIns="0" tIns="0" rIns="0" bIns="0">
            <a:normAutofit/>
          </a:bodyPr>
          <a:lstStyle>
            <a:lvl1pPr marL="0" indent="0" algn="l">
              <a:buNone/>
              <a:defRPr sz="2200" b="0">
                <a:solidFill>
                  <a:schemeClr val="tx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Section Subtitle</a:t>
            </a:r>
          </a:p>
        </p:txBody>
      </p:sp>
    </p:spTree>
    <p:extLst>
      <p:ext uri="{BB962C8B-B14F-4D97-AF65-F5344CB8AC3E}">
        <p14:creationId xmlns:p14="http://schemas.microsoft.com/office/powerpoint/2010/main" val="2721272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450" userDrawn="1">
          <p15:clr>
            <a:srgbClr val="FBAE40"/>
          </p15:clr>
        </p15:guide>
        <p15:guide id="4" pos="531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14376" y="2744662"/>
            <a:ext cx="7715249" cy="759907"/>
          </a:xfrm>
        </p:spPr>
        <p:txBody>
          <a:bodyPr lIns="0" tIns="0" rIns="0" bIns="0" anchor="t" anchorCtr="0">
            <a:normAutofit/>
          </a:bodyPr>
          <a:lstStyle>
            <a:lvl1pPr algn="l">
              <a:defRPr sz="4800" b="1">
                <a:solidFill>
                  <a:schemeClr val="bg1"/>
                </a:solidFill>
                <a:latin typeface="+mj-lt"/>
                <a:ea typeface="Roboto Black" panose="02000000000000000000" pitchFamily="2" charset="0"/>
                <a:cs typeface="Arial" panose="020B0604020202020204" pitchFamily="34" charset="0"/>
              </a:defRPr>
            </a:lvl1pPr>
          </a:lstStyle>
          <a:p>
            <a:r>
              <a:rPr lang="en-US" noProof="0" dirty="0"/>
              <a:t>Section Header</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509891"/>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Subtitle 2">
            <a:extLst>
              <a:ext uri="{FF2B5EF4-FFF2-40B4-BE49-F238E27FC236}">
                <a16:creationId xmlns:a16="http://schemas.microsoft.com/office/drawing/2014/main" id="{8FB54BE8-0526-614C-A06E-8C6258999B24}"/>
              </a:ext>
            </a:extLst>
          </p:cNvPr>
          <p:cNvSpPr>
            <a:spLocks noGrp="1"/>
          </p:cNvSpPr>
          <p:nvPr>
            <p:ph type="subTitle" idx="1" hasCustomPrompt="1"/>
          </p:nvPr>
        </p:nvSpPr>
        <p:spPr>
          <a:xfrm>
            <a:off x="714376" y="3694740"/>
            <a:ext cx="7715249" cy="407460"/>
          </a:xfrm>
        </p:spPr>
        <p:txBody>
          <a:bodyPr lIns="0" tIns="0" rIns="0" bIns="0">
            <a:normAutofit/>
          </a:bodyPr>
          <a:lstStyle>
            <a:lvl1pPr marL="0" indent="0" algn="l">
              <a:buNone/>
              <a:defRPr sz="2200" b="0">
                <a:solidFill>
                  <a:schemeClr val="accent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Section Subtitle</a:t>
            </a:r>
          </a:p>
        </p:txBody>
      </p:sp>
    </p:spTree>
    <p:extLst>
      <p:ext uri="{BB962C8B-B14F-4D97-AF65-F5344CB8AC3E}">
        <p14:creationId xmlns:p14="http://schemas.microsoft.com/office/powerpoint/2010/main" val="5092828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450" userDrawn="1">
          <p15:clr>
            <a:srgbClr val="FBAE40"/>
          </p15:clr>
        </p15:guide>
        <p15:guide id="4" pos="531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 Photo">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2C17923A-4119-CF48-9F2D-05B0A69EBAD5}"/>
              </a:ext>
            </a:extLst>
          </p:cNvPr>
          <p:cNvSpPr>
            <a:spLocks noGrp="1"/>
          </p:cNvSpPr>
          <p:nvPr>
            <p:ph type="pic" sz="quarter" idx="11"/>
          </p:nvPr>
        </p:nvSpPr>
        <p:spPr>
          <a:xfrm>
            <a:off x="0" y="0"/>
            <a:ext cx="9144000" cy="6858000"/>
          </a:xfrm>
        </p:spPr>
        <p:txBody>
          <a:bodyPr anchor="ctr" anchorCtr="0"/>
          <a:lstStyle>
            <a:lvl1pPr marL="0" indent="0" algn="ctr">
              <a:buNone/>
              <a:defRPr>
                <a:solidFill>
                  <a:schemeClr val="accent3"/>
                </a:solidFill>
              </a:defRPr>
            </a:lvl1pPr>
          </a:lstStyle>
          <a:p>
            <a:r>
              <a:rPr lang="en-US" dirty="0"/>
              <a:t>Click icon to add picture</a:t>
            </a:r>
          </a:p>
        </p:txBody>
      </p:sp>
      <p:sp>
        <p:nvSpPr>
          <p:cNvPr id="2" name="Title 1">
            <a:extLst>
              <a:ext uri="{FF2B5EF4-FFF2-40B4-BE49-F238E27FC236}">
                <a16:creationId xmlns:a16="http://schemas.microsoft.com/office/drawing/2014/main" id="{D8224488-0ADE-1843-91C1-1CA371373F2D}"/>
              </a:ext>
            </a:extLst>
          </p:cNvPr>
          <p:cNvSpPr>
            <a:spLocks noGrp="1"/>
          </p:cNvSpPr>
          <p:nvPr>
            <p:ph type="title" hasCustomPrompt="1"/>
          </p:nvPr>
        </p:nvSpPr>
        <p:spPr>
          <a:xfrm>
            <a:off x="770746" y="1763547"/>
            <a:ext cx="4186265" cy="618631"/>
          </a:xfrm>
          <a:solidFill>
            <a:schemeClr val="accent1"/>
          </a:solidFill>
        </p:spPr>
        <p:txBody>
          <a:bodyPr wrap="square" lIns="91440" tIns="91440" bIns="0">
            <a:spAutoFit/>
          </a:bodyPr>
          <a:lstStyle>
            <a:lvl1pPr>
              <a:defRPr sz="3800"/>
            </a:lvl1pPr>
          </a:lstStyle>
          <a:p>
            <a:r>
              <a:rPr lang="en-US" dirty="0"/>
              <a:t>SECTION HEADER</a:t>
            </a:r>
          </a:p>
        </p:txBody>
      </p:sp>
    </p:spTree>
    <p:extLst>
      <p:ext uri="{BB962C8B-B14F-4D97-AF65-F5344CB8AC3E}">
        <p14:creationId xmlns:p14="http://schemas.microsoft.com/office/powerpoint/2010/main" val="238807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070F21D-F194-034E-812B-69D1C6CDD0DE}"/>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24" name="Straight Connector 23">
            <a:extLst>
              <a:ext uri="{FF2B5EF4-FFF2-40B4-BE49-F238E27FC236}">
                <a16:creationId xmlns:a16="http://schemas.microsoft.com/office/drawing/2014/main" id="{9BA13FBC-A4AA-9B4F-8E9B-12CD6600150E}"/>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22C1D3A-9762-7F4D-AB5C-A3F0114B67B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7" name="Picture 6" descr="The University of Iowa">
            <a:extLst>
              <a:ext uri="{FF2B5EF4-FFF2-40B4-BE49-F238E27FC236}">
                <a16:creationId xmlns:a16="http://schemas.microsoft.com/office/drawing/2014/main" id="{22558F6C-63A6-764A-A42A-B9198FB98EE1}"/>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8" name="Footer Placeholder 4">
            <a:extLst>
              <a:ext uri="{FF2B5EF4-FFF2-40B4-BE49-F238E27FC236}">
                <a16:creationId xmlns:a16="http://schemas.microsoft.com/office/drawing/2014/main" id="{7987A145-9C93-2C47-9BAC-3865EAA30431}"/>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17783384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450" userDrawn="1">
          <p15:clr>
            <a:srgbClr val="FBAE40"/>
          </p15:clr>
        </p15:guide>
        <p15:guide id="3" pos="5310" userDrawn="1">
          <p15:clr>
            <a:srgbClr val="FBAE40"/>
          </p15:clr>
        </p15:guide>
        <p15:guide id="4" pos="2880" userDrawn="1">
          <p15:clr>
            <a:srgbClr val="FBAE40"/>
          </p15:clr>
        </p15:guide>
        <p15:guide id="5" orient="horz" pos="1056" userDrawn="1">
          <p15:clr>
            <a:srgbClr val="FBAE40"/>
          </p15:clr>
        </p15:guide>
        <p15:guide id="7" orient="horz" pos="2400" userDrawn="1">
          <p15:clr>
            <a:srgbClr val="FBAE40"/>
          </p15:clr>
        </p15:guide>
        <p15:guide id="8" orient="horz" pos="374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BE68DE55-0579-EC46-BD52-181870AFB63C}"/>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88200BB2-D6D1-6642-8F66-9B4F37EC8187}"/>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35C2BC9-7AF3-6D49-8036-36D81872E84B}"/>
              </a:ext>
            </a:extLst>
          </p:cNvPr>
          <p:cNvSpPr>
            <a:spLocks noGrp="1"/>
          </p:cNvSpPr>
          <p:nvPr>
            <p:ph idx="10"/>
          </p:nvPr>
        </p:nvSpPr>
        <p:spPr>
          <a:xfrm>
            <a:off x="714374" y="1686758"/>
            <a:ext cx="7688645" cy="4256843"/>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Arial" panose="020B0604020202020204" pitchFamily="34"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80937044-371D-C149-9F72-3D8FBA4605CF}"/>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8" name="Picture 7" descr="The University of Iowa">
            <a:extLst>
              <a:ext uri="{FF2B5EF4-FFF2-40B4-BE49-F238E27FC236}">
                <a16:creationId xmlns:a16="http://schemas.microsoft.com/office/drawing/2014/main" id="{CD97EF86-E180-1E4F-8C76-63FC6B251262}"/>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9" name="Footer Placeholder 4">
            <a:extLst>
              <a:ext uri="{FF2B5EF4-FFF2-40B4-BE49-F238E27FC236}">
                <a16:creationId xmlns:a16="http://schemas.microsoft.com/office/drawing/2014/main" id="{1FBD3EF9-AA04-A444-8D91-715DA8AEE034}"/>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69116539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450" userDrawn="1">
          <p15:clr>
            <a:srgbClr val="FBAE40"/>
          </p15:clr>
        </p15:guide>
        <p15:guide id="3" pos="5310" userDrawn="1">
          <p15:clr>
            <a:srgbClr val="FBAE40"/>
          </p15:clr>
        </p15:guide>
        <p15:guide id="4" pos="2880" userDrawn="1">
          <p15:clr>
            <a:srgbClr val="FBAE40"/>
          </p15:clr>
        </p15:guide>
        <p15:guide id="5" orient="horz" pos="1056" userDrawn="1">
          <p15:clr>
            <a:srgbClr val="FBAE40"/>
          </p15:clr>
        </p15:guide>
        <p15:guide id="7" orient="horz" pos="3744" userDrawn="1">
          <p15:clr>
            <a:srgbClr val="FBAE40"/>
          </p15:clr>
        </p15:guide>
        <p15:guide id="8" orient="horz" pos="240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 Slide - 2 Lin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hasCustomPrompt="1"/>
          </p:nvPr>
        </p:nvSpPr>
        <p:spPr>
          <a:xfrm>
            <a:off x="714375" y="389510"/>
            <a:ext cx="7715250" cy="1331865"/>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 </a:t>
            </a:r>
            <a:br>
              <a:rPr lang="en-US" dirty="0"/>
            </a:br>
            <a:r>
              <a:rPr lang="en-US" dirty="0"/>
              <a:t>that runs to two lines</a:t>
            </a:r>
          </a:p>
        </p:txBody>
      </p:sp>
      <p:cxnSp>
        <p:nvCxnSpPr>
          <p:cNvPr id="8" name="Straight Connector 7">
            <a:extLst>
              <a:ext uri="{FF2B5EF4-FFF2-40B4-BE49-F238E27FC236}">
                <a16:creationId xmlns:a16="http://schemas.microsoft.com/office/drawing/2014/main" id="{CBB5BDD8-8221-F040-8AE0-3F33C4E24CA0}"/>
              </a:ext>
              <a:ext uri="{C183D7F6-B498-43B3-948B-1728B52AA6E4}">
                <adec:decorative xmlns:adec="http://schemas.microsoft.com/office/drawing/2017/decorative" val="1"/>
              </a:ext>
            </a:extLst>
          </p:cNvPr>
          <p:cNvCxnSpPr>
            <a:cxnSpLocks/>
          </p:cNvCxnSpPr>
          <p:nvPr userDrawn="1"/>
        </p:nvCxnSpPr>
        <p:spPr>
          <a:xfrm>
            <a:off x="714376" y="165786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714375" y="2050741"/>
            <a:ext cx="7715250" cy="3892859"/>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Roboto" panose="02000000000000000000" pitchFamily="2"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7995AAAF-3BA6-4445-BF32-091644479611}"/>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9" name="Picture 8" descr="The University of Iowa">
            <a:extLst>
              <a:ext uri="{FF2B5EF4-FFF2-40B4-BE49-F238E27FC236}">
                <a16:creationId xmlns:a16="http://schemas.microsoft.com/office/drawing/2014/main" id="{ABEBFC15-B7A4-FB4F-B562-C691AE5316AD}"/>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0" name="Footer Placeholder 4">
            <a:extLst>
              <a:ext uri="{FF2B5EF4-FFF2-40B4-BE49-F238E27FC236}">
                <a16:creationId xmlns:a16="http://schemas.microsoft.com/office/drawing/2014/main" id="{E48D5845-E94B-FC44-882C-248EE3B0A58C}"/>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9796336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2880" userDrawn="1">
          <p15:clr>
            <a:srgbClr val="FBAE40"/>
          </p15:clr>
        </p15:guide>
        <p15:guide id="3" pos="450" userDrawn="1">
          <p15:clr>
            <a:srgbClr val="FBAE40"/>
          </p15:clr>
        </p15:guide>
        <p15:guide id="4" pos="5310" userDrawn="1">
          <p15:clr>
            <a:srgbClr val="FBAE40"/>
          </p15:clr>
        </p15:guide>
        <p15:guide id="8"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Layou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D2F673-8F81-4982-AA66-35312BF3859C}"/>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289198"/>
            <a:ext cx="3600168" cy="754602"/>
          </a:xfrm>
        </p:spPr>
        <p:txBody>
          <a:bodyPr lIns="0" tIns="0" rIns="0" bIns="0" anchor="b" anchorCtr="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276838"/>
            <a:ext cx="3600164" cy="327925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4825293" y="1279146"/>
            <a:ext cx="3600168" cy="754602"/>
          </a:xfrm>
        </p:spPr>
        <p:txBody>
          <a:bodyPr lIns="0" tIns="0" rIns="0" bIns="0" anchor="b" anchorCtr="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4825294" y="2266786"/>
            <a:ext cx="3600168" cy="327925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4572000" y="1686758"/>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8B99253-B000-1442-A7D2-EB536C15CBCB}"/>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FB445FB3-9F03-6E45-A046-D32E1D8AA792}"/>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BA149722-E418-5049-AB8B-86D90151F093}"/>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99422758"/>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Text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686758"/>
            <a:ext cx="2375055"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674398"/>
            <a:ext cx="2375055"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1686756"/>
            <a:ext cx="2230029"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462290" y="2674396"/>
            <a:ext cx="2230029"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1686756"/>
            <a:ext cx="2375055"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047636" y="2674396"/>
            <a:ext cx="2375055"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5854823"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282518"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44143A-0CC6-6041-BD38-4C994DA8E0B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2A845926-60C8-4F49-ABF0-3DC9E8370DAA}"/>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2" name="Footer Placeholder 4">
            <a:extLst>
              <a:ext uri="{FF2B5EF4-FFF2-40B4-BE49-F238E27FC236}">
                <a16:creationId xmlns:a16="http://schemas.microsoft.com/office/drawing/2014/main" id="{207D8975-2D7E-8541-B9BA-B4ACB2453DE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51774748"/>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 Text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8"/>
            <a:ext cx="1769150"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674398"/>
            <a:ext cx="176915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2643188"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2802850" y="1686756"/>
            <a:ext cx="1611570" cy="754602"/>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2802851" y="2674396"/>
            <a:ext cx="161157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4729580" y="1686756"/>
            <a:ext cx="1611570" cy="754602"/>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4729581" y="2674396"/>
            <a:ext cx="161157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650557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656311" y="1676706"/>
            <a:ext cx="1769150"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656311" y="2664346"/>
            <a:ext cx="176915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55DF11BA-BD6E-E14D-A115-587308DBF4A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4" name="Picture 23" descr="The University of Iowa">
            <a:extLst>
              <a:ext uri="{FF2B5EF4-FFF2-40B4-BE49-F238E27FC236}">
                <a16:creationId xmlns:a16="http://schemas.microsoft.com/office/drawing/2014/main" id="{B052AD83-662D-804A-9C50-78BD2D9F776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5" name="Footer Placeholder 4">
            <a:extLst>
              <a:ext uri="{FF2B5EF4-FFF2-40B4-BE49-F238E27FC236}">
                <a16:creationId xmlns:a16="http://schemas.microsoft.com/office/drawing/2014/main" id="{09F774AF-F9D8-314F-ADA4-4C6BF856754D}"/>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177261473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x1 Grid Layou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83F529D-C880-45A0-81D8-FD2CC04E07D8}"/>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8"/>
            <a:ext cx="7716440" cy="329184"/>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2120010"/>
            <a:ext cx="7716440" cy="754602"/>
          </a:xfrm>
        </p:spPr>
        <p:txBody>
          <a:bodyPr lIns="0" tIns="0" rIns="0" bIns="0">
            <a:normAutofit/>
          </a:bodyPr>
          <a:lstStyle>
            <a:lvl1pPr marL="0" marR="0" indent="0" algn="l" defTabSz="685800" rtl="0" eaLnBrk="1" fontAlgn="auto" latinLnBrk="0" hangingPunct="1">
              <a:lnSpc>
                <a:spcPct val="100000"/>
              </a:lnSpc>
              <a:spcBef>
                <a:spcPts val="750"/>
              </a:spcBef>
              <a:spcAft>
                <a:spcPts val="0"/>
              </a:spcAft>
              <a:buClrTx/>
              <a:buSzPct val="95000"/>
              <a:buFont typeface="Arial" panose="020B0604020202020204" pitchFamily="34" charset="0"/>
              <a:buNone/>
              <a:tabLst/>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marL="0" marR="0" lvl="0" indent="0" algn="l" defTabSz="685800" rtl="0" eaLnBrk="1" fontAlgn="auto" latinLnBrk="0" hangingPunct="1">
              <a:lnSpc>
                <a:spcPct val="100000"/>
              </a:lnSpc>
              <a:spcBef>
                <a:spcPts val="750"/>
              </a:spcBef>
              <a:spcAft>
                <a:spcPts val="0"/>
              </a:spcAft>
              <a:buClrTx/>
              <a:buSzPct val="95000"/>
              <a:buFont typeface="Arial" panose="020B0604020202020204" pitchFamily="34" charset="0"/>
              <a:buNone/>
              <a:tabLst/>
              <a:defRPr/>
            </a:pPr>
            <a:r>
              <a:rPr lang="en-US" dirty="0"/>
              <a:t>Click to edit row text</a:t>
            </a:r>
          </a:p>
          <a:p>
            <a:pPr lvl="0"/>
            <a:endParaRPr lang="en-US" dirty="0"/>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3038019"/>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714377" y="3211376"/>
            <a:ext cx="7716440"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714378" y="3644628"/>
            <a:ext cx="7716440"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4580501"/>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714379" y="4693705"/>
            <a:ext cx="7716440"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714379" y="5126956"/>
            <a:ext cx="7716440"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15" name="Rectangle 14">
            <a:extLst>
              <a:ext uri="{FF2B5EF4-FFF2-40B4-BE49-F238E27FC236}">
                <a16:creationId xmlns:a16="http://schemas.microsoft.com/office/drawing/2014/main" id="{55E76717-4761-EC4B-BDB1-C130638E59C3}"/>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7" name="Picture 16" descr="The University of Iowa">
            <a:extLst>
              <a:ext uri="{FF2B5EF4-FFF2-40B4-BE49-F238E27FC236}">
                <a16:creationId xmlns:a16="http://schemas.microsoft.com/office/drawing/2014/main" id="{34AAC5E4-D04D-AA43-9A77-008D2409BECE}"/>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8" name="Footer Placeholder 4">
            <a:extLst>
              <a:ext uri="{FF2B5EF4-FFF2-40B4-BE49-F238E27FC236}">
                <a16:creationId xmlns:a16="http://schemas.microsoft.com/office/drawing/2014/main" id="{795C6E8E-B090-754E-BB4D-53EC4364AED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840878860"/>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A9A771B-4FFF-4EBF-A07A-0D6292AC2FE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9"/>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2120010"/>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3098307"/>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714377" y="3221424"/>
            <a:ext cx="3566879"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714378" y="3654675"/>
            <a:ext cx="3566879" cy="75895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4520213"/>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714379" y="4683657"/>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714379" y="5116908"/>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28" name="Straight Connector 27">
            <a:extLst>
              <a:ext uri="{FF2B5EF4-FFF2-40B4-BE49-F238E27FC236}">
                <a16:creationId xmlns:a16="http://schemas.microsoft.com/office/drawing/2014/main" id="{AA23041F-D604-4688-B75A-90D37AFDDB0E}"/>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F7B91F83-8428-4E5A-9C88-17829B687B77}"/>
              </a:ext>
            </a:extLst>
          </p:cNvPr>
          <p:cNvSpPr>
            <a:spLocks noGrp="1"/>
          </p:cNvSpPr>
          <p:nvPr>
            <p:ph idx="15" hasCustomPrompt="1"/>
          </p:nvPr>
        </p:nvSpPr>
        <p:spPr>
          <a:xfrm>
            <a:off x="4862772" y="1688512"/>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ADB1D581-6D4C-4716-AE96-DBB4F953B95C}"/>
              </a:ext>
            </a:extLst>
          </p:cNvPr>
          <p:cNvSpPr>
            <a:spLocks noGrp="1"/>
          </p:cNvSpPr>
          <p:nvPr>
            <p:ph idx="16" hasCustomPrompt="1"/>
          </p:nvPr>
        </p:nvSpPr>
        <p:spPr>
          <a:xfrm>
            <a:off x="4862773" y="2121764"/>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4" name="Content Placeholder 2">
            <a:extLst>
              <a:ext uri="{FF2B5EF4-FFF2-40B4-BE49-F238E27FC236}">
                <a16:creationId xmlns:a16="http://schemas.microsoft.com/office/drawing/2014/main" id="{279BA4B0-A083-4A1F-9D3B-A041B59E7C22}"/>
              </a:ext>
            </a:extLst>
          </p:cNvPr>
          <p:cNvSpPr>
            <a:spLocks noGrp="1"/>
          </p:cNvSpPr>
          <p:nvPr>
            <p:ph idx="17" hasCustomPrompt="1"/>
          </p:nvPr>
        </p:nvSpPr>
        <p:spPr>
          <a:xfrm>
            <a:off x="4862773" y="3223178"/>
            <a:ext cx="3566879"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8FDD4A4D-E1FC-4E83-A8AA-A324B6B0E441}"/>
              </a:ext>
            </a:extLst>
          </p:cNvPr>
          <p:cNvSpPr>
            <a:spLocks noGrp="1"/>
          </p:cNvSpPr>
          <p:nvPr>
            <p:ph idx="18" hasCustomPrompt="1"/>
          </p:nvPr>
        </p:nvSpPr>
        <p:spPr>
          <a:xfrm>
            <a:off x="4862774" y="3656430"/>
            <a:ext cx="3566879" cy="75895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DE8E7D5C-ACCB-47E6-A3F5-6F3F51A0F37F}"/>
              </a:ext>
            </a:extLst>
          </p:cNvPr>
          <p:cNvSpPr>
            <a:spLocks noGrp="1"/>
          </p:cNvSpPr>
          <p:nvPr>
            <p:ph idx="19" hasCustomPrompt="1"/>
          </p:nvPr>
        </p:nvSpPr>
        <p:spPr>
          <a:xfrm>
            <a:off x="4862775" y="4685411"/>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659D9DC4-BB53-4441-9B74-84922B369948}"/>
              </a:ext>
            </a:extLst>
          </p:cNvPr>
          <p:cNvSpPr>
            <a:spLocks noGrp="1"/>
          </p:cNvSpPr>
          <p:nvPr>
            <p:ph idx="20" hasCustomPrompt="1"/>
          </p:nvPr>
        </p:nvSpPr>
        <p:spPr>
          <a:xfrm>
            <a:off x="4862776" y="5118662"/>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9" name="Rectangle 28">
            <a:extLst>
              <a:ext uri="{FF2B5EF4-FFF2-40B4-BE49-F238E27FC236}">
                <a16:creationId xmlns:a16="http://schemas.microsoft.com/office/drawing/2014/main" id="{A774845D-2BF0-2740-9880-8D2B0EBB22B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0" name="Picture 29" descr="The University of Iowa">
            <a:extLst>
              <a:ext uri="{FF2B5EF4-FFF2-40B4-BE49-F238E27FC236}">
                <a16:creationId xmlns:a16="http://schemas.microsoft.com/office/drawing/2014/main" id="{B5AA78D2-879D-BC4F-9774-9CE61C81AA42}"/>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1" name="Footer Placeholder 4">
            <a:extLst>
              <a:ext uri="{FF2B5EF4-FFF2-40B4-BE49-F238E27FC236}">
                <a16:creationId xmlns:a16="http://schemas.microsoft.com/office/drawing/2014/main" id="{95EBCFD2-248B-A44E-AEE6-8987ECBEC98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435829950"/>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x1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1EE2C71-E6FD-4A5F-BC00-7290049C4471}"/>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9"/>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7" y="2120011"/>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2660476"/>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5FC9698A-599E-4227-BA19-18EFBBF3E0DD}"/>
              </a:ext>
            </a:extLst>
          </p:cNvPr>
          <p:cNvSpPr>
            <a:spLocks noGrp="1"/>
          </p:cNvSpPr>
          <p:nvPr>
            <p:ph idx="11" hasCustomPrompt="1"/>
          </p:nvPr>
        </p:nvSpPr>
        <p:spPr>
          <a:xfrm>
            <a:off x="715571" y="2803601"/>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8" name="Content Placeholder 2">
            <a:extLst>
              <a:ext uri="{FF2B5EF4-FFF2-40B4-BE49-F238E27FC236}">
                <a16:creationId xmlns:a16="http://schemas.microsoft.com/office/drawing/2014/main" id="{C4B470A9-B821-4D01-8FB4-31DF303421A9}"/>
              </a:ext>
            </a:extLst>
          </p:cNvPr>
          <p:cNvSpPr>
            <a:spLocks noGrp="1"/>
          </p:cNvSpPr>
          <p:nvPr>
            <p:ph idx="12" hasCustomPrompt="1"/>
          </p:nvPr>
        </p:nvSpPr>
        <p:spPr>
          <a:xfrm>
            <a:off x="715573" y="3236853"/>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3691764"/>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0C507C81-6817-4069-BC84-0CE4705AE16C}"/>
              </a:ext>
            </a:extLst>
          </p:cNvPr>
          <p:cNvSpPr>
            <a:spLocks noGrp="1"/>
          </p:cNvSpPr>
          <p:nvPr>
            <p:ph idx="15" hasCustomPrompt="1"/>
          </p:nvPr>
        </p:nvSpPr>
        <p:spPr>
          <a:xfrm>
            <a:off x="715574" y="3870141"/>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94103820-8C7A-497C-BCBA-2CFEB4549C83}"/>
              </a:ext>
            </a:extLst>
          </p:cNvPr>
          <p:cNvSpPr>
            <a:spLocks noGrp="1"/>
          </p:cNvSpPr>
          <p:nvPr>
            <p:ph idx="16" hasCustomPrompt="1"/>
          </p:nvPr>
        </p:nvSpPr>
        <p:spPr>
          <a:xfrm>
            <a:off x="715576" y="4303394"/>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16" name="Straight Connector 15">
            <a:extLst>
              <a:ext uri="{FF2B5EF4-FFF2-40B4-BE49-F238E27FC236}">
                <a16:creationId xmlns:a16="http://schemas.microsoft.com/office/drawing/2014/main" id="{1F1CE437-6AD8-4170-8DC8-66894266CE06}"/>
              </a:ext>
            </a:extLst>
          </p:cNvPr>
          <p:cNvCxnSpPr/>
          <p:nvPr userDrawn="1"/>
        </p:nvCxnSpPr>
        <p:spPr>
          <a:xfrm>
            <a:off x="714380" y="4785197"/>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C02F409-DCF5-4241-BB5E-6E37CC8D3518}"/>
              </a:ext>
            </a:extLst>
          </p:cNvPr>
          <p:cNvSpPr>
            <a:spLocks noGrp="1"/>
          </p:cNvSpPr>
          <p:nvPr>
            <p:ph idx="13" hasCustomPrompt="1"/>
          </p:nvPr>
        </p:nvSpPr>
        <p:spPr>
          <a:xfrm>
            <a:off x="715573" y="4988550"/>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0" name="Content Placeholder 2">
            <a:extLst>
              <a:ext uri="{FF2B5EF4-FFF2-40B4-BE49-F238E27FC236}">
                <a16:creationId xmlns:a16="http://schemas.microsoft.com/office/drawing/2014/main" id="{2AC426E8-7005-475F-BC32-B5F0BA7A8A4C}"/>
              </a:ext>
            </a:extLst>
          </p:cNvPr>
          <p:cNvSpPr>
            <a:spLocks noGrp="1"/>
          </p:cNvSpPr>
          <p:nvPr>
            <p:ph idx="14" hasCustomPrompt="1"/>
          </p:nvPr>
        </p:nvSpPr>
        <p:spPr>
          <a:xfrm>
            <a:off x="715574" y="5421802"/>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4" name="Straight Connector 33">
            <a:extLst>
              <a:ext uri="{FF2B5EF4-FFF2-40B4-BE49-F238E27FC236}">
                <a16:creationId xmlns:a16="http://schemas.microsoft.com/office/drawing/2014/main" id="{8222804C-AFDD-4E8C-BFDC-31326A2127FA}"/>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66342B0E-1F8B-4D4C-ABA7-E43BC2B3F4AE}"/>
              </a:ext>
            </a:extLst>
          </p:cNvPr>
          <p:cNvSpPr>
            <a:spLocks noGrp="1"/>
          </p:cNvSpPr>
          <p:nvPr>
            <p:ph idx="17" hasCustomPrompt="1"/>
          </p:nvPr>
        </p:nvSpPr>
        <p:spPr>
          <a:xfrm>
            <a:off x="4850622" y="1688232"/>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FCF3285B-83DB-4917-9F24-EC0C964DE403}"/>
              </a:ext>
            </a:extLst>
          </p:cNvPr>
          <p:cNvSpPr>
            <a:spLocks noGrp="1"/>
          </p:cNvSpPr>
          <p:nvPr>
            <p:ph idx="18" hasCustomPrompt="1"/>
          </p:nvPr>
        </p:nvSpPr>
        <p:spPr>
          <a:xfrm>
            <a:off x="4850623" y="2121485"/>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8C88D8B1-0044-4EC5-B4CD-DB1095F378A4}"/>
              </a:ext>
            </a:extLst>
          </p:cNvPr>
          <p:cNvSpPr>
            <a:spLocks noGrp="1"/>
          </p:cNvSpPr>
          <p:nvPr>
            <p:ph idx="19" hasCustomPrompt="1"/>
          </p:nvPr>
        </p:nvSpPr>
        <p:spPr>
          <a:xfrm>
            <a:off x="4851817" y="2805075"/>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9F6100E2-DAE8-4111-AF37-8909AA389FC1}"/>
              </a:ext>
            </a:extLst>
          </p:cNvPr>
          <p:cNvSpPr>
            <a:spLocks noGrp="1"/>
          </p:cNvSpPr>
          <p:nvPr>
            <p:ph idx="20" hasCustomPrompt="1"/>
          </p:nvPr>
        </p:nvSpPr>
        <p:spPr>
          <a:xfrm>
            <a:off x="4851819" y="3238327"/>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0" name="Content Placeholder 2">
            <a:extLst>
              <a:ext uri="{FF2B5EF4-FFF2-40B4-BE49-F238E27FC236}">
                <a16:creationId xmlns:a16="http://schemas.microsoft.com/office/drawing/2014/main" id="{C0B1E9EC-56B4-4514-B189-24BD47F549F3}"/>
              </a:ext>
            </a:extLst>
          </p:cNvPr>
          <p:cNvSpPr>
            <a:spLocks noGrp="1"/>
          </p:cNvSpPr>
          <p:nvPr>
            <p:ph idx="23" hasCustomPrompt="1"/>
          </p:nvPr>
        </p:nvSpPr>
        <p:spPr>
          <a:xfrm>
            <a:off x="4851820" y="3871616"/>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1" name="Content Placeholder 2">
            <a:extLst>
              <a:ext uri="{FF2B5EF4-FFF2-40B4-BE49-F238E27FC236}">
                <a16:creationId xmlns:a16="http://schemas.microsoft.com/office/drawing/2014/main" id="{F685484E-408B-4771-9259-BAAC2A6E6017}"/>
              </a:ext>
            </a:extLst>
          </p:cNvPr>
          <p:cNvSpPr>
            <a:spLocks noGrp="1"/>
          </p:cNvSpPr>
          <p:nvPr>
            <p:ph idx="24" hasCustomPrompt="1"/>
          </p:nvPr>
        </p:nvSpPr>
        <p:spPr>
          <a:xfrm>
            <a:off x="4851822" y="4304868"/>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8" name="Content Placeholder 2">
            <a:extLst>
              <a:ext uri="{FF2B5EF4-FFF2-40B4-BE49-F238E27FC236}">
                <a16:creationId xmlns:a16="http://schemas.microsoft.com/office/drawing/2014/main" id="{0EE05AF1-1486-45F2-B87D-2AE555B8D1CB}"/>
              </a:ext>
            </a:extLst>
          </p:cNvPr>
          <p:cNvSpPr>
            <a:spLocks noGrp="1"/>
          </p:cNvSpPr>
          <p:nvPr>
            <p:ph idx="21" hasCustomPrompt="1"/>
          </p:nvPr>
        </p:nvSpPr>
        <p:spPr>
          <a:xfrm>
            <a:off x="4851819" y="4990024"/>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9" name="Content Placeholder 2">
            <a:extLst>
              <a:ext uri="{FF2B5EF4-FFF2-40B4-BE49-F238E27FC236}">
                <a16:creationId xmlns:a16="http://schemas.microsoft.com/office/drawing/2014/main" id="{52C4B0E5-3C7E-4BC2-AA92-4156C26C91FF}"/>
              </a:ext>
            </a:extLst>
          </p:cNvPr>
          <p:cNvSpPr>
            <a:spLocks noGrp="1"/>
          </p:cNvSpPr>
          <p:nvPr>
            <p:ph idx="22" hasCustomPrompt="1"/>
          </p:nvPr>
        </p:nvSpPr>
        <p:spPr>
          <a:xfrm>
            <a:off x="4851820" y="5423276"/>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3" name="Rectangle 32">
            <a:extLst>
              <a:ext uri="{FF2B5EF4-FFF2-40B4-BE49-F238E27FC236}">
                <a16:creationId xmlns:a16="http://schemas.microsoft.com/office/drawing/2014/main" id="{A5480C56-313A-5C4D-A02B-5C10621A5061}"/>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5" name="Picture 34" descr="The University of Iowa">
            <a:extLst>
              <a:ext uri="{FF2B5EF4-FFF2-40B4-BE49-F238E27FC236}">
                <a16:creationId xmlns:a16="http://schemas.microsoft.com/office/drawing/2014/main" id="{2DA8F900-4BB3-134B-A7DE-0A6F63695305}"/>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6" name="Footer Placeholder 4">
            <a:extLst>
              <a:ext uri="{FF2B5EF4-FFF2-40B4-BE49-F238E27FC236}">
                <a16:creationId xmlns:a16="http://schemas.microsoft.com/office/drawing/2014/main" id="{B5B719EA-A20E-994C-8EEE-69E62E50742C}"/>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868536204"/>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x2 Grid Layout">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947D672-DDE7-4F36-B79C-4245C5D115ED}"/>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756430"/>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237816"/>
            <a:ext cx="3600164"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8" name="Straight Connector 7">
            <a:extLst>
              <a:ext uri="{FF2B5EF4-FFF2-40B4-BE49-F238E27FC236}">
                <a16:creationId xmlns:a16="http://schemas.microsoft.com/office/drawing/2014/main" id="{69FB9F7B-CC85-4936-BE2A-DF6B8BF46018}"/>
              </a:ext>
            </a:extLst>
          </p:cNvPr>
          <p:cNvCxnSpPr/>
          <p:nvPr userDrawn="1"/>
        </p:nvCxnSpPr>
        <p:spPr>
          <a:xfrm>
            <a:off x="711994" y="3790765"/>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FDFA8ABE-0B6C-4930-94A9-A2BB4166E51F}"/>
              </a:ext>
            </a:extLst>
          </p:cNvPr>
          <p:cNvSpPr>
            <a:spLocks noGrp="1"/>
          </p:cNvSpPr>
          <p:nvPr>
            <p:ph idx="17" hasCustomPrompt="1"/>
          </p:nvPr>
        </p:nvSpPr>
        <p:spPr>
          <a:xfrm>
            <a:off x="718539" y="4109427"/>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4" name="Content Placeholder 2">
            <a:extLst>
              <a:ext uri="{FF2B5EF4-FFF2-40B4-BE49-F238E27FC236}">
                <a16:creationId xmlns:a16="http://schemas.microsoft.com/office/drawing/2014/main" id="{47E91DB8-4856-4AED-8362-60627F681EE8}"/>
              </a:ext>
            </a:extLst>
          </p:cNvPr>
          <p:cNvSpPr>
            <a:spLocks noGrp="1"/>
          </p:cNvSpPr>
          <p:nvPr>
            <p:ph idx="18" hasCustomPrompt="1"/>
          </p:nvPr>
        </p:nvSpPr>
        <p:spPr>
          <a:xfrm>
            <a:off x="718540" y="4590814"/>
            <a:ext cx="3600164" cy="11819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4572000" y="1679385"/>
            <a:ext cx="0" cy="427276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4825293" y="1746378"/>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4825294" y="2227764"/>
            <a:ext cx="3600168"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5" name="Content Placeholder 2">
            <a:extLst>
              <a:ext uri="{FF2B5EF4-FFF2-40B4-BE49-F238E27FC236}">
                <a16:creationId xmlns:a16="http://schemas.microsoft.com/office/drawing/2014/main" id="{76BD4A33-C7CC-4380-A2BB-ECC6C2FB7225}"/>
              </a:ext>
            </a:extLst>
          </p:cNvPr>
          <p:cNvSpPr>
            <a:spLocks noGrp="1"/>
          </p:cNvSpPr>
          <p:nvPr>
            <p:ph idx="19" hasCustomPrompt="1"/>
          </p:nvPr>
        </p:nvSpPr>
        <p:spPr>
          <a:xfrm>
            <a:off x="4829457" y="4099375"/>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6" name="Content Placeholder 2">
            <a:extLst>
              <a:ext uri="{FF2B5EF4-FFF2-40B4-BE49-F238E27FC236}">
                <a16:creationId xmlns:a16="http://schemas.microsoft.com/office/drawing/2014/main" id="{4CD0BB64-6643-42CE-AFE7-372305F21233}"/>
              </a:ext>
            </a:extLst>
          </p:cNvPr>
          <p:cNvSpPr>
            <a:spLocks noGrp="1"/>
          </p:cNvSpPr>
          <p:nvPr>
            <p:ph idx="20" hasCustomPrompt="1"/>
          </p:nvPr>
        </p:nvSpPr>
        <p:spPr>
          <a:xfrm>
            <a:off x="4829458" y="4580761"/>
            <a:ext cx="3600168"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D8D606F0-071A-A842-B316-9BEBD143AC36}"/>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7" name="Picture 16" descr="The University of Iowa">
            <a:extLst>
              <a:ext uri="{FF2B5EF4-FFF2-40B4-BE49-F238E27FC236}">
                <a16:creationId xmlns:a16="http://schemas.microsoft.com/office/drawing/2014/main" id="{70498093-055A-1249-80EE-EB69C10A937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8" name="Footer Placeholder 4">
            <a:extLst>
              <a:ext uri="{FF2B5EF4-FFF2-40B4-BE49-F238E27FC236}">
                <a16:creationId xmlns:a16="http://schemas.microsoft.com/office/drawing/2014/main" id="{8EEADFDD-6D39-8041-B44B-CC11D0FD544F}"/>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748418329"/>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2400" userDrawn="1">
          <p15:clr>
            <a:srgbClr val="FBAE40"/>
          </p15:clr>
        </p15:guide>
        <p15:guide id="7" orient="horz" pos="69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 Stat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04310"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sp>
        <p:nvSpPr>
          <p:cNvPr id="52" name="Picture Placeholder 50">
            <a:extLst>
              <a:ext uri="{FF2B5EF4-FFF2-40B4-BE49-F238E27FC236}">
                <a16:creationId xmlns:a16="http://schemas.microsoft.com/office/drawing/2014/main" id="{8D984633-F962-1848-A009-619CB8211633}"/>
              </a:ext>
            </a:extLst>
          </p:cNvPr>
          <p:cNvSpPr>
            <a:spLocks noGrp="1"/>
          </p:cNvSpPr>
          <p:nvPr>
            <p:ph type="pic" sz="quarter" idx="20"/>
          </p:nvPr>
        </p:nvSpPr>
        <p:spPr>
          <a:xfrm>
            <a:off x="2141220" y="2469136"/>
            <a:ext cx="940541" cy="930491"/>
          </a:xfrm>
        </p:spPr>
        <p:txBody>
          <a:bodyPr/>
          <a:lstStyle>
            <a:lvl1pPr marL="0" indent="0">
              <a:buNone/>
              <a:defRPr/>
            </a:lvl1pPr>
          </a:lstStyle>
          <a:p>
            <a:endParaRPr lang="en-US" dirty="0"/>
          </a:p>
        </p:txBody>
      </p:sp>
      <p:cxnSp>
        <p:nvCxnSpPr>
          <p:cNvPr id="14" name="Straight Connector 13">
            <a:extLst>
              <a:ext uri="{FF2B5EF4-FFF2-40B4-BE49-F238E27FC236}">
                <a16:creationId xmlns:a16="http://schemas.microsoft.com/office/drawing/2014/main" id="{44DE3AB4-3020-8D45-86B7-592F12CB716B}"/>
              </a:ext>
              <a:ext uri="{C183D7F6-B498-43B3-948B-1728B52AA6E4}">
                <adec:decorative xmlns:adec="http://schemas.microsoft.com/office/drawing/2017/decorative" val="1"/>
              </a:ext>
            </a:extLst>
          </p:cNvPr>
          <p:cNvCxnSpPr>
            <a:cxnSpLocks/>
          </p:cNvCxnSpPr>
          <p:nvPr userDrawn="1"/>
        </p:nvCxnSpPr>
        <p:spPr>
          <a:xfrm>
            <a:off x="672385"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DC4E94AD-16D9-BE4C-8C57-CFA6654E1BD9}"/>
              </a:ext>
            </a:extLst>
          </p:cNvPr>
          <p:cNvSpPr>
            <a:spLocks noGrp="1"/>
          </p:cNvSpPr>
          <p:nvPr>
            <p:ph idx="14" hasCustomPrompt="1"/>
          </p:nvPr>
        </p:nvSpPr>
        <p:spPr>
          <a:xfrm>
            <a:off x="704310"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9" name="Content Placeholder 2">
            <a:extLst>
              <a:ext uri="{FF2B5EF4-FFF2-40B4-BE49-F238E27FC236}">
                <a16:creationId xmlns:a16="http://schemas.microsoft.com/office/drawing/2014/main" id="{E64293C0-60B2-3341-9C38-86DF7ACA51DC}"/>
              </a:ext>
            </a:extLst>
          </p:cNvPr>
          <p:cNvSpPr>
            <a:spLocks noGrp="1"/>
          </p:cNvSpPr>
          <p:nvPr>
            <p:ph idx="21" hasCustomPrompt="1"/>
          </p:nvPr>
        </p:nvSpPr>
        <p:spPr>
          <a:xfrm>
            <a:off x="3436853"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cxnSp>
        <p:nvCxnSpPr>
          <p:cNvPr id="20" name="Straight Connector 19">
            <a:extLst>
              <a:ext uri="{FF2B5EF4-FFF2-40B4-BE49-F238E27FC236}">
                <a16:creationId xmlns:a16="http://schemas.microsoft.com/office/drawing/2014/main" id="{1799B91B-7CDD-284B-99CF-8408146B2C0D}"/>
              </a:ext>
              <a:ext uri="{C183D7F6-B498-43B3-948B-1728B52AA6E4}">
                <adec:decorative xmlns:adec="http://schemas.microsoft.com/office/drawing/2017/decorative" val="1"/>
              </a:ext>
            </a:extLst>
          </p:cNvPr>
          <p:cNvCxnSpPr>
            <a:cxnSpLocks/>
          </p:cNvCxnSpPr>
          <p:nvPr userDrawn="1"/>
        </p:nvCxnSpPr>
        <p:spPr>
          <a:xfrm>
            <a:off x="3404928"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8BB67D17-F456-FC43-9C41-9344D6EEB07B}"/>
              </a:ext>
            </a:extLst>
          </p:cNvPr>
          <p:cNvSpPr>
            <a:spLocks noGrp="1"/>
          </p:cNvSpPr>
          <p:nvPr>
            <p:ph idx="22" hasCustomPrompt="1"/>
          </p:nvPr>
        </p:nvSpPr>
        <p:spPr>
          <a:xfrm>
            <a:off x="3436853"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6" name="Content Placeholder 2">
            <a:extLst>
              <a:ext uri="{FF2B5EF4-FFF2-40B4-BE49-F238E27FC236}">
                <a16:creationId xmlns:a16="http://schemas.microsoft.com/office/drawing/2014/main" id="{60F6E28A-AB38-A64F-9481-C9F0437BFEA5}"/>
              </a:ext>
            </a:extLst>
          </p:cNvPr>
          <p:cNvSpPr>
            <a:spLocks noGrp="1"/>
          </p:cNvSpPr>
          <p:nvPr>
            <p:ph idx="24" hasCustomPrompt="1"/>
          </p:nvPr>
        </p:nvSpPr>
        <p:spPr>
          <a:xfrm>
            <a:off x="6169397"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cxnSp>
        <p:nvCxnSpPr>
          <p:cNvPr id="27" name="Straight Connector 26">
            <a:extLst>
              <a:ext uri="{FF2B5EF4-FFF2-40B4-BE49-F238E27FC236}">
                <a16:creationId xmlns:a16="http://schemas.microsoft.com/office/drawing/2014/main" id="{F9F7D2B0-E449-FD45-9789-FC204088E97C}"/>
              </a:ext>
              <a:ext uri="{C183D7F6-B498-43B3-948B-1728B52AA6E4}">
                <adec:decorative xmlns:adec="http://schemas.microsoft.com/office/drawing/2017/decorative" val="1"/>
              </a:ext>
            </a:extLst>
          </p:cNvPr>
          <p:cNvCxnSpPr>
            <a:cxnSpLocks/>
          </p:cNvCxnSpPr>
          <p:nvPr userDrawn="1"/>
        </p:nvCxnSpPr>
        <p:spPr>
          <a:xfrm>
            <a:off x="6137472"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86FE37F4-1DCF-2D40-845F-6C10AC016C29}"/>
              </a:ext>
            </a:extLst>
          </p:cNvPr>
          <p:cNvSpPr>
            <a:spLocks noGrp="1"/>
          </p:cNvSpPr>
          <p:nvPr>
            <p:ph idx="25" hasCustomPrompt="1"/>
          </p:nvPr>
        </p:nvSpPr>
        <p:spPr>
          <a:xfrm>
            <a:off x="6169397"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0" name="Picture 29" descr="The University of Iowa">
            <a:extLst>
              <a:ext uri="{FF2B5EF4-FFF2-40B4-BE49-F238E27FC236}">
                <a16:creationId xmlns:a16="http://schemas.microsoft.com/office/drawing/2014/main" id="{B9F9D999-694A-C64C-9BA8-FF37455DDD7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1" name="Footer Placeholder 4">
            <a:extLst>
              <a:ext uri="{FF2B5EF4-FFF2-40B4-BE49-F238E27FC236}">
                <a16:creationId xmlns:a16="http://schemas.microsoft.com/office/drawing/2014/main" id="{A000685F-E841-A44D-AC9C-173BD5E3C25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34" name="Picture Placeholder 50">
            <a:extLst>
              <a:ext uri="{FF2B5EF4-FFF2-40B4-BE49-F238E27FC236}">
                <a16:creationId xmlns:a16="http://schemas.microsoft.com/office/drawing/2014/main" id="{F52BFEB6-775B-5540-A1D7-F6E3DDCDB834}"/>
              </a:ext>
            </a:extLst>
          </p:cNvPr>
          <p:cNvSpPr>
            <a:spLocks noGrp="1"/>
          </p:cNvSpPr>
          <p:nvPr>
            <p:ph type="pic" sz="quarter" idx="28"/>
          </p:nvPr>
        </p:nvSpPr>
        <p:spPr>
          <a:xfrm>
            <a:off x="4873763" y="2484685"/>
            <a:ext cx="940541" cy="930491"/>
          </a:xfrm>
        </p:spPr>
        <p:txBody>
          <a:bodyPr/>
          <a:lstStyle>
            <a:lvl1pPr marL="0" indent="0">
              <a:buNone/>
              <a:defRPr/>
            </a:lvl1pPr>
          </a:lstStyle>
          <a:p>
            <a:endParaRPr lang="en-US" dirty="0"/>
          </a:p>
        </p:txBody>
      </p:sp>
      <p:sp>
        <p:nvSpPr>
          <p:cNvPr id="35" name="Picture Placeholder 50">
            <a:extLst>
              <a:ext uri="{FF2B5EF4-FFF2-40B4-BE49-F238E27FC236}">
                <a16:creationId xmlns:a16="http://schemas.microsoft.com/office/drawing/2014/main" id="{3B2767A3-945C-8A48-8F63-467E5E2A4DDF}"/>
              </a:ext>
            </a:extLst>
          </p:cNvPr>
          <p:cNvSpPr>
            <a:spLocks noGrp="1"/>
          </p:cNvSpPr>
          <p:nvPr>
            <p:ph type="pic" sz="quarter" idx="29"/>
          </p:nvPr>
        </p:nvSpPr>
        <p:spPr>
          <a:xfrm>
            <a:off x="7606307" y="2484685"/>
            <a:ext cx="940541" cy="930491"/>
          </a:xfrm>
        </p:spPr>
        <p:txBody>
          <a:bodyPr/>
          <a:lstStyle>
            <a:lvl1pPr marL="0" indent="0">
              <a:buNone/>
              <a:defRPr/>
            </a:lvl1pPr>
          </a:lstStyle>
          <a:p>
            <a:endParaRPr lang="en-US" dirty="0"/>
          </a:p>
        </p:txBody>
      </p:sp>
    </p:spTree>
    <p:extLst>
      <p:ext uri="{BB962C8B-B14F-4D97-AF65-F5344CB8AC3E}">
        <p14:creationId xmlns:p14="http://schemas.microsoft.com/office/powerpoint/2010/main" val="171071268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7A2738-1D29-40DE-AACF-F60CD708E892}"/>
              </a:ext>
              <a:ext uri="{C183D7F6-B498-43B3-948B-1728B52AA6E4}">
                <adec:decorative xmlns:adec="http://schemas.microsoft.com/office/drawing/2017/decorative" val="1"/>
              </a:ext>
            </a:extLst>
          </p:cNvPr>
          <p:cNvCxnSpPr/>
          <p:nvPr userDrawn="1"/>
        </p:nvCxnSpPr>
        <p:spPr>
          <a:xfrm>
            <a:off x="1901902" y="2921860"/>
            <a:ext cx="533326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D1ADFA24-184F-46B9-B1D0-3FBB044F3673}"/>
              </a:ext>
              <a:ext uri="{C183D7F6-B498-43B3-948B-1728B52AA6E4}">
                <adec:decorative xmlns:adec="http://schemas.microsoft.com/office/drawing/2017/decorative" val="1"/>
              </a:ext>
            </a:extLst>
          </p:cNvPr>
          <p:cNvSpPr/>
          <p:nvPr userDrawn="1"/>
        </p:nvSpPr>
        <p:spPr>
          <a:xfrm>
            <a:off x="1216102"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5" name="Picture Placeholder 3">
            <a:extLst>
              <a:ext uri="{FF2B5EF4-FFF2-40B4-BE49-F238E27FC236}">
                <a16:creationId xmlns:a16="http://schemas.microsoft.com/office/drawing/2014/main" id="{DC306F30-B3C1-E74C-B18C-7075DB0761DE}"/>
              </a:ext>
            </a:extLst>
          </p:cNvPr>
          <p:cNvSpPr>
            <a:spLocks noGrp="1"/>
          </p:cNvSpPr>
          <p:nvPr>
            <p:ph type="pic" sz="quarter" idx="21"/>
          </p:nvPr>
        </p:nvSpPr>
        <p:spPr>
          <a:xfrm>
            <a:off x="1472729" y="2553043"/>
            <a:ext cx="886809" cy="878171"/>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4078664"/>
            <a:ext cx="2375055"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4078664"/>
            <a:ext cx="2230029"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2</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4078663"/>
            <a:ext cx="2375055"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4" name="Picture 23" descr="The University of Iowa">
            <a:extLst>
              <a:ext uri="{FF2B5EF4-FFF2-40B4-BE49-F238E27FC236}">
                <a16:creationId xmlns:a16="http://schemas.microsoft.com/office/drawing/2014/main" id="{A13C9DCC-5284-6A4A-A857-E196C97A3071}"/>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8" name="Footer Placeholder 4">
            <a:extLst>
              <a:ext uri="{FF2B5EF4-FFF2-40B4-BE49-F238E27FC236}">
                <a16:creationId xmlns:a16="http://schemas.microsoft.com/office/drawing/2014/main" id="{EE85593F-9DA3-E843-83EA-BB61BA6E56A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29" name="Oval 28">
            <a:extLst>
              <a:ext uri="{FF2B5EF4-FFF2-40B4-BE49-F238E27FC236}">
                <a16:creationId xmlns:a16="http://schemas.microsoft.com/office/drawing/2014/main" id="{DF1D17A9-33ED-0C42-9E29-A5641F8C0AFE}"/>
              </a:ext>
              <a:ext uri="{C183D7F6-B498-43B3-948B-1728B52AA6E4}">
                <adec:decorative xmlns:adec="http://schemas.microsoft.com/office/drawing/2017/decorative" val="1"/>
              </a:ext>
            </a:extLst>
          </p:cNvPr>
          <p:cNvSpPr/>
          <p:nvPr userDrawn="1"/>
        </p:nvSpPr>
        <p:spPr>
          <a:xfrm>
            <a:off x="3859924"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0" name="Picture Placeholder 3">
            <a:extLst>
              <a:ext uri="{FF2B5EF4-FFF2-40B4-BE49-F238E27FC236}">
                <a16:creationId xmlns:a16="http://schemas.microsoft.com/office/drawing/2014/main" id="{569A0A84-E625-844B-BFE2-C1C6287E290E}"/>
              </a:ext>
            </a:extLst>
          </p:cNvPr>
          <p:cNvSpPr>
            <a:spLocks noGrp="1"/>
          </p:cNvSpPr>
          <p:nvPr>
            <p:ph type="pic" sz="quarter" idx="24"/>
          </p:nvPr>
        </p:nvSpPr>
        <p:spPr>
          <a:xfrm>
            <a:off x="4103299" y="2553043"/>
            <a:ext cx="886809" cy="878171"/>
          </a:xfrm>
        </p:spPr>
        <p:txBody>
          <a:bodyPr/>
          <a:lstStyle>
            <a:lvl1pPr>
              <a:buNone/>
              <a:defRPr/>
            </a:lvl1pPr>
          </a:lstStyle>
          <a:p>
            <a:endParaRPr lang="en-US" dirty="0"/>
          </a:p>
        </p:txBody>
      </p:sp>
      <p:sp>
        <p:nvSpPr>
          <p:cNvPr id="31" name="Oval 30">
            <a:extLst>
              <a:ext uri="{FF2B5EF4-FFF2-40B4-BE49-F238E27FC236}">
                <a16:creationId xmlns:a16="http://schemas.microsoft.com/office/drawing/2014/main" id="{A5736D78-B363-E54C-9445-910A8845B60F}"/>
              </a:ext>
              <a:ext uri="{C183D7F6-B498-43B3-948B-1728B52AA6E4}">
                <adec:decorative xmlns:adec="http://schemas.microsoft.com/office/drawing/2017/decorative" val="1"/>
              </a:ext>
            </a:extLst>
          </p:cNvPr>
          <p:cNvSpPr/>
          <p:nvPr userDrawn="1"/>
        </p:nvSpPr>
        <p:spPr>
          <a:xfrm>
            <a:off x="6503747" y="2265939"/>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Picture Placeholder 3">
            <a:extLst>
              <a:ext uri="{FF2B5EF4-FFF2-40B4-BE49-F238E27FC236}">
                <a16:creationId xmlns:a16="http://schemas.microsoft.com/office/drawing/2014/main" id="{AE5BD224-C6F0-A44B-8415-008E871A701D}"/>
              </a:ext>
            </a:extLst>
          </p:cNvPr>
          <p:cNvSpPr>
            <a:spLocks noGrp="1"/>
          </p:cNvSpPr>
          <p:nvPr>
            <p:ph type="pic" sz="quarter" idx="25"/>
          </p:nvPr>
        </p:nvSpPr>
        <p:spPr>
          <a:xfrm>
            <a:off x="6760374" y="2552669"/>
            <a:ext cx="886809" cy="878171"/>
          </a:xfrm>
        </p:spPr>
        <p:txBody>
          <a:bodyPr/>
          <a:lstStyle>
            <a:lvl1pPr>
              <a:buNone/>
              <a:defRPr/>
            </a:lvl1pPr>
          </a:lstStyle>
          <a:p>
            <a:endParaRPr lang="en-US" dirty="0"/>
          </a:p>
        </p:txBody>
      </p:sp>
    </p:spTree>
    <p:extLst>
      <p:ext uri="{BB962C8B-B14F-4D97-AF65-F5344CB8AC3E}">
        <p14:creationId xmlns:p14="http://schemas.microsoft.com/office/powerpoint/2010/main" val="73395191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1B9DD2E6-4011-470E-85A1-9331B2E255C8}"/>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 uri="{C183D7F6-B498-43B3-948B-1728B52AA6E4}">
                <adec:decorative xmlns:adec="http://schemas.microsoft.com/office/drawing/2017/decorative" val="1"/>
              </a:ext>
            </a:extLst>
          </p:cNvPr>
          <p:cNvCxnSpPr/>
          <p:nvPr userDrawn="1"/>
        </p:nvCxnSpPr>
        <p:spPr>
          <a:xfrm>
            <a:off x="1901902" y="2921860"/>
            <a:ext cx="533326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714375"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6" name="Content Placeholder 2">
            <a:extLst>
              <a:ext uri="{FF2B5EF4-FFF2-40B4-BE49-F238E27FC236}">
                <a16:creationId xmlns:a16="http://schemas.microsoft.com/office/drawing/2014/main" id="{8C7F2CE8-9E91-4C86-99AB-686A9C810419}"/>
              </a:ext>
            </a:extLst>
          </p:cNvPr>
          <p:cNvSpPr>
            <a:spLocks noGrp="1"/>
          </p:cNvSpPr>
          <p:nvPr>
            <p:ph idx="18" hasCustomPrompt="1"/>
          </p:nvPr>
        </p:nvSpPr>
        <p:spPr>
          <a:xfrm>
            <a:off x="2720638"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8" name="Content Placeholder 2">
            <a:extLst>
              <a:ext uri="{FF2B5EF4-FFF2-40B4-BE49-F238E27FC236}">
                <a16:creationId xmlns:a16="http://schemas.microsoft.com/office/drawing/2014/main" id="{BC06D7C8-7D2D-4A80-B5B8-174F5056AA0B}"/>
              </a:ext>
            </a:extLst>
          </p:cNvPr>
          <p:cNvSpPr>
            <a:spLocks noGrp="1"/>
          </p:cNvSpPr>
          <p:nvPr>
            <p:ph idx="19" hasCustomPrompt="1"/>
          </p:nvPr>
        </p:nvSpPr>
        <p:spPr>
          <a:xfrm>
            <a:off x="4654213"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30" name="Content Placeholder 2">
            <a:extLst>
              <a:ext uri="{FF2B5EF4-FFF2-40B4-BE49-F238E27FC236}">
                <a16:creationId xmlns:a16="http://schemas.microsoft.com/office/drawing/2014/main" id="{8FC2F9F8-450A-4433-BAFC-DCD0001FAF1D}"/>
              </a:ext>
            </a:extLst>
          </p:cNvPr>
          <p:cNvSpPr>
            <a:spLocks noGrp="1"/>
          </p:cNvSpPr>
          <p:nvPr>
            <p:ph idx="20" hasCustomPrompt="1"/>
          </p:nvPr>
        </p:nvSpPr>
        <p:spPr>
          <a:xfrm>
            <a:off x="6660475" y="4073057"/>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6" name="Rectangle 15">
            <a:extLst>
              <a:ext uri="{FF2B5EF4-FFF2-40B4-BE49-F238E27FC236}">
                <a16:creationId xmlns:a16="http://schemas.microsoft.com/office/drawing/2014/main" id="{D4578BB7-B3A6-0D4A-A743-C8950F9817AE}"/>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4" name="Picture 33" descr="The University of Iowa">
            <a:extLst>
              <a:ext uri="{FF2B5EF4-FFF2-40B4-BE49-F238E27FC236}">
                <a16:creationId xmlns:a16="http://schemas.microsoft.com/office/drawing/2014/main" id="{E6A101F6-A986-EA4C-85FF-846F802DF0A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5" name="Footer Placeholder 4">
            <a:extLst>
              <a:ext uri="{FF2B5EF4-FFF2-40B4-BE49-F238E27FC236}">
                <a16:creationId xmlns:a16="http://schemas.microsoft.com/office/drawing/2014/main" id="{DBA4A05F-7745-F24C-BB9F-0EF0456B4EA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36" name="Oval 35">
            <a:extLst>
              <a:ext uri="{FF2B5EF4-FFF2-40B4-BE49-F238E27FC236}">
                <a16:creationId xmlns:a16="http://schemas.microsoft.com/office/drawing/2014/main" id="{F794BC38-28A2-BC4E-9A38-652E9790E452}"/>
              </a:ext>
              <a:ext uri="{C183D7F6-B498-43B3-948B-1728B52AA6E4}">
                <adec:decorative xmlns:adec="http://schemas.microsoft.com/office/drawing/2017/decorative" val="1"/>
              </a:ext>
            </a:extLst>
          </p:cNvPr>
          <p:cNvSpPr/>
          <p:nvPr userDrawn="1"/>
        </p:nvSpPr>
        <p:spPr>
          <a:xfrm>
            <a:off x="952785" y="2244527"/>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Picture Placeholder 3">
            <a:extLst>
              <a:ext uri="{FF2B5EF4-FFF2-40B4-BE49-F238E27FC236}">
                <a16:creationId xmlns:a16="http://schemas.microsoft.com/office/drawing/2014/main" id="{BEB5B93C-855D-1841-B46E-5C7DC4474C9D}"/>
              </a:ext>
            </a:extLst>
          </p:cNvPr>
          <p:cNvSpPr>
            <a:spLocks noGrp="1"/>
          </p:cNvSpPr>
          <p:nvPr>
            <p:ph type="pic" sz="quarter" idx="25"/>
          </p:nvPr>
        </p:nvSpPr>
        <p:spPr>
          <a:xfrm>
            <a:off x="1169656" y="2531257"/>
            <a:ext cx="886809" cy="878171"/>
          </a:xfrm>
        </p:spPr>
        <p:txBody>
          <a:bodyPr/>
          <a:lstStyle>
            <a:lvl1pPr>
              <a:buNone/>
              <a:defRPr/>
            </a:lvl1pPr>
          </a:lstStyle>
          <a:p>
            <a:endParaRPr lang="en-US" dirty="0"/>
          </a:p>
        </p:txBody>
      </p:sp>
      <p:sp>
        <p:nvSpPr>
          <p:cNvPr id="38" name="Oval 37">
            <a:extLst>
              <a:ext uri="{FF2B5EF4-FFF2-40B4-BE49-F238E27FC236}">
                <a16:creationId xmlns:a16="http://schemas.microsoft.com/office/drawing/2014/main" id="{B88EAE07-826D-E648-AD1B-C375586FE0F9}"/>
              </a:ext>
              <a:ext uri="{C183D7F6-B498-43B3-948B-1728B52AA6E4}">
                <adec:decorative xmlns:adec="http://schemas.microsoft.com/office/drawing/2017/decorative" val="1"/>
              </a:ext>
            </a:extLst>
          </p:cNvPr>
          <p:cNvSpPr/>
          <p:nvPr userDrawn="1"/>
        </p:nvSpPr>
        <p:spPr>
          <a:xfrm>
            <a:off x="2905813"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Picture Placeholder 3">
            <a:extLst>
              <a:ext uri="{FF2B5EF4-FFF2-40B4-BE49-F238E27FC236}">
                <a16:creationId xmlns:a16="http://schemas.microsoft.com/office/drawing/2014/main" id="{6B4B3321-3FE0-F24B-B46D-CBEB820F0DB5}"/>
              </a:ext>
            </a:extLst>
          </p:cNvPr>
          <p:cNvSpPr>
            <a:spLocks noGrp="1"/>
          </p:cNvSpPr>
          <p:nvPr>
            <p:ph type="pic" sz="quarter" idx="21"/>
          </p:nvPr>
        </p:nvSpPr>
        <p:spPr>
          <a:xfrm>
            <a:off x="3205973" y="2546988"/>
            <a:ext cx="806295" cy="798442"/>
          </a:xfrm>
        </p:spPr>
        <p:txBody>
          <a:bodyPr/>
          <a:lstStyle>
            <a:lvl1pPr>
              <a:buNone/>
              <a:defRPr/>
            </a:lvl1pPr>
          </a:lstStyle>
          <a:p>
            <a:endParaRPr lang="en-US" dirty="0"/>
          </a:p>
        </p:txBody>
      </p:sp>
      <p:sp>
        <p:nvSpPr>
          <p:cNvPr id="40" name="Oval 39">
            <a:extLst>
              <a:ext uri="{FF2B5EF4-FFF2-40B4-BE49-F238E27FC236}">
                <a16:creationId xmlns:a16="http://schemas.microsoft.com/office/drawing/2014/main" id="{6B3422DB-51E9-564F-9FE0-BE73E0376126}"/>
              </a:ext>
              <a:ext uri="{C183D7F6-B498-43B3-948B-1728B52AA6E4}">
                <adec:decorative xmlns:adec="http://schemas.microsoft.com/office/drawing/2017/decorative" val="1"/>
              </a:ext>
            </a:extLst>
          </p:cNvPr>
          <p:cNvSpPr/>
          <p:nvPr userDrawn="1"/>
        </p:nvSpPr>
        <p:spPr>
          <a:xfrm>
            <a:off x="4887656"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Picture Placeholder 3">
            <a:extLst>
              <a:ext uri="{FF2B5EF4-FFF2-40B4-BE49-F238E27FC236}">
                <a16:creationId xmlns:a16="http://schemas.microsoft.com/office/drawing/2014/main" id="{2E216002-26D5-D44D-B1E3-F7FFA5933B39}"/>
              </a:ext>
            </a:extLst>
          </p:cNvPr>
          <p:cNvSpPr>
            <a:spLocks noGrp="1"/>
          </p:cNvSpPr>
          <p:nvPr>
            <p:ph type="pic" sz="quarter" idx="26"/>
          </p:nvPr>
        </p:nvSpPr>
        <p:spPr>
          <a:xfrm>
            <a:off x="5167368" y="2546987"/>
            <a:ext cx="825546" cy="817505"/>
          </a:xfrm>
        </p:spPr>
        <p:txBody>
          <a:bodyPr/>
          <a:lstStyle>
            <a:lvl1pPr>
              <a:buNone/>
              <a:defRPr/>
            </a:lvl1pPr>
          </a:lstStyle>
          <a:p>
            <a:endParaRPr lang="en-US" dirty="0"/>
          </a:p>
        </p:txBody>
      </p:sp>
      <p:sp>
        <p:nvSpPr>
          <p:cNvPr id="42" name="Oval 41">
            <a:extLst>
              <a:ext uri="{FF2B5EF4-FFF2-40B4-BE49-F238E27FC236}">
                <a16:creationId xmlns:a16="http://schemas.microsoft.com/office/drawing/2014/main" id="{96648D4D-6BD9-F24C-955D-9701360F7A42}"/>
              </a:ext>
              <a:ext uri="{C183D7F6-B498-43B3-948B-1728B52AA6E4}">
                <adec:decorative xmlns:adec="http://schemas.microsoft.com/office/drawing/2017/decorative" val="1"/>
              </a:ext>
            </a:extLst>
          </p:cNvPr>
          <p:cNvSpPr/>
          <p:nvPr userDrawn="1"/>
        </p:nvSpPr>
        <p:spPr>
          <a:xfrm>
            <a:off x="6819615" y="2244527"/>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3" name="Picture Placeholder 3">
            <a:extLst>
              <a:ext uri="{FF2B5EF4-FFF2-40B4-BE49-F238E27FC236}">
                <a16:creationId xmlns:a16="http://schemas.microsoft.com/office/drawing/2014/main" id="{E602C083-BC5F-514B-8FA9-A814C3E27430}"/>
              </a:ext>
            </a:extLst>
          </p:cNvPr>
          <p:cNvSpPr>
            <a:spLocks noGrp="1"/>
          </p:cNvSpPr>
          <p:nvPr>
            <p:ph type="pic" sz="quarter" idx="27"/>
          </p:nvPr>
        </p:nvSpPr>
        <p:spPr>
          <a:xfrm>
            <a:off x="7086775" y="2525203"/>
            <a:ext cx="825548" cy="817506"/>
          </a:xfrm>
        </p:spPr>
        <p:txBody>
          <a:bodyPr/>
          <a:lstStyle>
            <a:lvl1pPr>
              <a:buNone/>
              <a:defRPr/>
            </a:lvl1pPr>
          </a:lstStyle>
          <a:p>
            <a:endParaRPr lang="en-US" dirty="0"/>
          </a:p>
        </p:txBody>
      </p:sp>
    </p:spTree>
    <p:extLst>
      <p:ext uri="{BB962C8B-B14F-4D97-AF65-F5344CB8AC3E}">
        <p14:creationId xmlns:p14="http://schemas.microsoft.com/office/powerpoint/2010/main" val="156838957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 Photo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4C29AABA-668F-408C-81ED-9A30ED0A4BE9}"/>
              </a:ext>
            </a:extLst>
          </p:cNvPr>
          <p:cNvSpPr>
            <a:spLocks noGrp="1"/>
          </p:cNvSpPr>
          <p:nvPr>
            <p:ph type="pic" sz="quarter" idx="15"/>
          </p:nvPr>
        </p:nvSpPr>
        <p:spPr>
          <a:xfrm>
            <a:off x="711994" y="1684461"/>
            <a:ext cx="2377679"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3548916"/>
            <a:ext cx="2375055"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4264538"/>
            <a:ext cx="2375055"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282518"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Picture Placeholder 3">
            <a:extLst>
              <a:ext uri="{FF2B5EF4-FFF2-40B4-BE49-F238E27FC236}">
                <a16:creationId xmlns:a16="http://schemas.microsoft.com/office/drawing/2014/main" id="{3C3EF38F-8A6A-4B49-A1A2-467E7797A518}"/>
              </a:ext>
            </a:extLst>
          </p:cNvPr>
          <p:cNvSpPr>
            <a:spLocks noGrp="1"/>
          </p:cNvSpPr>
          <p:nvPr>
            <p:ph type="pic" sz="quarter" idx="16"/>
          </p:nvPr>
        </p:nvSpPr>
        <p:spPr>
          <a:xfrm>
            <a:off x="3451836" y="1677611"/>
            <a:ext cx="2240483" cy="1621608"/>
          </a:xfrm>
        </p:spPr>
        <p:txBody>
          <a:bodyPr/>
          <a:lstStyle>
            <a:lvl1pPr>
              <a:buNone/>
              <a:defRPr/>
            </a:lvl1pPr>
          </a:lstStyle>
          <a:p>
            <a:endParaRPr lang="en-US" dirty="0"/>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3537679"/>
            <a:ext cx="2230029"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462290" y="4253301"/>
            <a:ext cx="2230029"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5854823"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Picture Placeholder 3">
            <a:extLst>
              <a:ext uri="{FF2B5EF4-FFF2-40B4-BE49-F238E27FC236}">
                <a16:creationId xmlns:a16="http://schemas.microsoft.com/office/drawing/2014/main" id="{DDD8951C-5A36-4D07-AB7C-0F597B3D797D}"/>
              </a:ext>
            </a:extLst>
          </p:cNvPr>
          <p:cNvSpPr>
            <a:spLocks noGrp="1"/>
          </p:cNvSpPr>
          <p:nvPr>
            <p:ph type="pic" sz="quarter" idx="17"/>
          </p:nvPr>
        </p:nvSpPr>
        <p:spPr>
          <a:xfrm>
            <a:off x="6054481" y="1684461"/>
            <a:ext cx="2375144" cy="1621608"/>
          </a:xfrm>
        </p:spPr>
        <p:txBody>
          <a:bodyPr/>
          <a:lstStyle>
            <a:lvl1pPr>
              <a:buNone/>
              <a:defRPr/>
            </a:lvl1pPr>
          </a:lstStyle>
          <a:p>
            <a:endParaRPr lang="en-US" dirty="0"/>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3537679"/>
            <a:ext cx="2375055"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047636" y="4253301"/>
            <a:ext cx="2375055"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02DAB539-1500-4641-B587-77CADD883496}"/>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366D8D2D-32DD-794A-9976-853EF650004D}"/>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2" name="Footer Placeholder 4">
            <a:extLst>
              <a:ext uri="{FF2B5EF4-FFF2-40B4-BE49-F238E27FC236}">
                <a16:creationId xmlns:a16="http://schemas.microsoft.com/office/drawing/2014/main" id="{46934CAC-A1D4-6545-B8FE-B5DAC1E7D2F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664682089"/>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lumn Photo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userDrawn="1">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6" name="Picture Placeholder 3">
            <a:extLst>
              <a:ext uri="{FF2B5EF4-FFF2-40B4-BE49-F238E27FC236}">
                <a16:creationId xmlns:a16="http://schemas.microsoft.com/office/drawing/2014/main" id="{E21D4365-BAA8-4F76-87AD-1A328301E298}"/>
              </a:ext>
            </a:extLst>
          </p:cNvPr>
          <p:cNvSpPr>
            <a:spLocks noGrp="1"/>
          </p:cNvSpPr>
          <p:nvPr>
            <p:ph type="pic" sz="quarter" idx="19"/>
          </p:nvPr>
        </p:nvSpPr>
        <p:spPr>
          <a:xfrm>
            <a:off x="711994" y="1684461"/>
            <a:ext cx="1780454"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258088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Picture Placeholder 3">
            <a:extLst>
              <a:ext uri="{FF2B5EF4-FFF2-40B4-BE49-F238E27FC236}">
                <a16:creationId xmlns:a16="http://schemas.microsoft.com/office/drawing/2014/main" id="{EB10E167-B94B-AD40-958C-D9E0F8F9DF4A}"/>
              </a:ext>
            </a:extLst>
          </p:cNvPr>
          <p:cNvSpPr>
            <a:spLocks noGrp="1"/>
          </p:cNvSpPr>
          <p:nvPr userDrawn="1">
            <p:ph type="pic" sz="quarter" idx="23"/>
          </p:nvPr>
        </p:nvSpPr>
        <p:spPr>
          <a:xfrm>
            <a:off x="2695022" y="1684461"/>
            <a:ext cx="1780454" cy="1621608"/>
          </a:xfrm>
        </p:spPr>
        <p:txBody>
          <a:bodyPr/>
          <a:lstStyle>
            <a:lvl1pPr>
              <a:buNone/>
              <a:defRPr/>
            </a:lvl1pPr>
          </a:lstStyle>
          <a:p>
            <a:endParaRPr lang="en-US" dirty="0"/>
          </a:p>
        </p:txBody>
      </p:sp>
      <p:sp>
        <p:nvSpPr>
          <p:cNvPr id="25" name="Content Placeholder 2">
            <a:extLst>
              <a:ext uri="{FF2B5EF4-FFF2-40B4-BE49-F238E27FC236}">
                <a16:creationId xmlns:a16="http://schemas.microsoft.com/office/drawing/2014/main" id="{C03DF098-BB37-5848-9388-750D29EFC657}"/>
              </a:ext>
            </a:extLst>
          </p:cNvPr>
          <p:cNvSpPr>
            <a:spLocks noGrp="1"/>
          </p:cNvSpPr>
          <p:nvPr userDrawn="1">
            <p:ph idx="24" hasCustomPrompt="1"/>
          </p:nvPr>
        </p:nvSpPr>
        <p:spPr>
          <a:xfrm>
            <a:off x="2722790"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3" name="Content Placeholder 2">
            <a:extLst>
              <a:ext uri="{FF2B5EF4-FFF2-40B4-BE49-F238E27FC236}">
                <a16:creationId xmlns:a16="http://schemas.microsoft.com/office/drawing/2014/main" id="{6FE4DEF0-41BC-4548-B7BA-1E5B0231AFFD}"/>
              </a:ext>
            </a:extLst>
          </p:cNvPr>
          <p:cNvSpPr>
            <a:spLocks noGrp="1"/>
          </p:cNvSpPr>
          <p:nvPr userDrawn="1">
            <p:ph idx="25" hasCustomPrompt="1"/>
          </p:nvPr>
        </p:nvSpPr>
        <p:spPr>
          <a:xfrm>
            <a:off x="2722791"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4571805"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864CDDAA-23B4-C842-845C-7640D95F2B65}"/>
              </a:ext>
            </a:extLst>
          </p:cNvPr>
          <p:cNvSpPr>
            <a:spLocks noGrp="1"/>
          </p:cNvSpPr>
          <p:nvPr userDrawn="1">
            <p:ph type="pic" sz="quarter" idx="26"/>
          </p:nvPr>
        </p:nvSpPr>
        <p:spPr>
          <a:xfrm>
            <a:off x="4678050" y="1684461"/>
            <a:ext cx="1780454" cy="1621608"/>
          </a:xfrm>
        </p:spPr>
        <p:txBody>
          <a:bodyPr/>
          <a:lstStyle>
            <a:lvl1pPr>
              <a:buNone/>
              <a:defRPr/>
            </a:lvl1pPr>
          </a:lstStyle>
          <a:p>
            <a:endParaRPr lang="en-US" dirty="0"/>
          </a:p>
        </p:txBody>
      </p:sp>
      <p:sp>
        <p:nvSpPr>
          <p:cNvPr id="35" name="Content Placeholder 2">
            <a:extLst>
              <a:ext uri="{FF2B5EF4-FFF2-40B4-BE49-F238E27FC236}">
                <a16:creationId xmlns:a16="http://schemas.microsoft.com/office/drawing/2014/main" id="{DEB8CCE3-3756-5947-84B2-DFCA00A013F6}"/>
              </a:ext>
            </a:extLst>
          </p:cNvPr>
          <p:cNvSpPr>
            <a:spLocks noGrp="1"/>
          </p:cNvSpPr>
          <p:nvPr userDrawn="1">
            <p:ph idx="27" hasCustomPrompt="1"/>
          </p:nvPr>
        </p:nvSpPr>
        <p:spPr>
          <a:xfrm>
            <a:off x="4682218"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6" name="Content Placeholder 2">
            <a:extLst>
              <a:ext uri="{FF2B5EF4-FFF2-40B4-BE49-F238E27FC236}">
                <a16:creationId xmlns:a16="http://schemas.microsoft.com/office/drawing/2014/main" id="{09C56F7D-4836-1E4F-BD4C-CB150E12E098}"/>
              </a:ext>
            </a:extLst>
          </p:cNvPr>
          <p:cNvSpPr>
            <a:spLocks noGrp="1"/>
          </p:cNvSpPr>
          <p:nvPr userDrawn="1">
            <p:ph idx="28" hasCustomPrompt="1"/>
          </p:nvPr>
        </p:nvSpPr>
        <p:spPr>
          <a:xfrm>
            <a:off x="4682219"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656272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Picture Placeholder 3">
            <a:extLst>
              <a:ext uri="{FF2B5EF4-FFF2-40B4-BE49-F238E27FC236}">
                <a16:creationId xmlns:a16="http://schemas.microsoft.com/office/drawing/2014/main" id="{06A5C640-1D0E-4428-AC28-148AE98A7B34}"/>
              </a:ext>
            </a:extLst>
          </p:cNvPr>
          <p:cNvSpPr>
            <a:spLocks noGrp="1"/>
          </p:cNvSpPr>
          <p:nvPr userDrawn="1">
            <p:ph type="pic" sz="quarter" idx="22"/>
          </p:nvPr>
        </p:nvSpPr>
        <p:spPr>
          <a:xfrm>
            <a:off x="6661077" y="1680693"/>
            <a:ext cx="1762024" cy="1621608"/>
          </a:xfrm>
        </p:spPr>
        <p:txBody>
          <a:bodyPr/>
          <a:lstStyle>
            <a:lvl1pPr>
              <a:buNone/>
              <a:defRPr/>
            </a:lvl1pPr>
          </a:lstStyle>
          <a:p>
            <a:endParaRPr lang="en-US" dirty="0"/>
          </a:p>
        </p:txBody>
      </p:sp>
      <p:sp>
        <p:nvSpPr>
          <p:cNvPr id="19" name="Content Placeholder 2">
            <a:extLst>
              <a:ext uri="{FF2B5EF4-FFF2-40B4-BE49-F238E27FC236}">
                <a16:creationId xmlns:a16="http://schemas.microsoft.com/office/drawing/2014/main" id="{A07502CC-5B90-4BCF-B63B-36D026C9AE96}"/>
              </a:ext>
            </a:extLst>
          </p:cNvPr>
          <p:cNvSpPr>
            <a:spLocks noGrp="1"/>
          </p:cNvSpPr>
          <p:nvPr userDrawn="1">
            <p:ph idx="15" hasCustomPrompt="1"/>
          </p:nvPr>
        </p:nvSpPr>
        <p:spPr>
          <a:xfrm>
            <a:off x="6656311" y="3548916"/>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userDrawn="1">
            <p:ph idx="16" hasCustomPrompt="1"/>
          </p:nvPr>
        </p:nvSpPr>
        <p:spPr>
          <a:xfrm>
            <a:off x="6656311" y="4230000"/>
            <a:ext cx="1769150"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CA720753-9BFD-2840-9C93-FF72942ED6E3}"/>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8" name="Picture 27" descr="The University of Iowa">
            <a:extLst>
              <a:ext uri="{FF2B5EF4-FFF2-40B4-BE49-F238E27FC236}">
                <a16:creationId xmlns:a16="http://schemas.microsoft.com/office/drawing/2014/main" id="{5841833A-DC48-1341-8CED-2C33FF13E5F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9" name="Footer Placeholder 4">
            <a:extLst>
              <a:ext uri="{FF2B5EF4-FFF2-40B4-BE49-F238E27FC236}">
                <a16:creationId xmlns:a16="http://schemas.microsoft.com/office/drawing/2014/main" id="{99532311-74A6-524D-8B7C-520D61A0A09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17002199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 Slide - Photo">
    <p:spTree>
      <p:nvGrpSpPr>
        <p:cNvPr id="1" name=""/>
        <p:cNvGrpSpPr/>
        <p:nvPr/>
      </p:nvGrpSpPr>
      <p:grpSpPr>
        <a:xfrm>
          <a:off x="0" y="0"/>
          <a:ext cx="0" cy="0"/>
          <a:chOff x="0" y="0"/>
          <a:chExt cx="0" cy="0"/>
        </a:xfrm>
      </p:grpSpPr>
      <p:sp>
        <p:nvSpPr>
          <p:cNvPr id="17" name="Title 20">
            <a:extLst>
              <a:ext uri="{FF2B5EF4-FFF2-40B4-BE49-F238E27FC236}">
                <a16:creationId xmlns:a16="http://schemas.microsoft.com/office/drawing/2014/main" id="{2BA8F287-92C7-4FFD-A7E9-45864F8E91A4}"/>
              </a:ext>
            </a:extLst>
          </p:cNvPr>
          <p:cNvSpPr>
            <a:spLocks noGrp="1"/>
          </p:cNvSpPr>
          <p:nvPr>
            <p:ph type="title" hasCustomPrompt="1"/>
          </p:nvPr>
        </p:nvSpPr>
        <p:spPr>
          <a:xfrm>
            <a:off x="711994" y="498296"/>
            <a:ext cx="3945731" cy="896116"/>
          </a:xfrm>
        </p:spPr>
        <p:txBody>
          <a:bodyPr>
            <a:normAutofit/>
          </a:bodyPr>
          <a:lstStyle>
            <a:lvl1pPr>
              <a:defRPr sz="3300"/>
            </a:lvl1pPr>
          </a:lstStyle>
          <a:p>
            <a:r>
              <a:rPr lang="en-US" dirty="0"/>
              <a:t>Click to edit Title</a:t>
            </a:r>
          </a:p>
        </p:txBody>
      </p:sp>
      <p:cxnSp>
        <p:nvCxnSpPr>
          <p:cNvPr id="16" name="Straight Connector 15">
            <a:extLst>
              <a:ext uri="{FF2B5EF4-FFF2-40B4-BE49-F238E27FC236}">
                <a16:creationId xmlns:a16="http://schemas.microsoft.com/office/drawing/2014/main" id="{0F31F03A-71CF-475D-8A3C-99FC106D73E8}"/>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47404DB8-B6AC-4389-8E6E-A115840D1D74}"/>
              </a:ext>
            </a:extLst>
          </p:cNvPr>
          <p:cNvSpPr>
            <a:spLocks noGrp="1"/>
          </p:cNvSpPr>
          <p:nvPr>
            <p:ph idx="1"/>
          </p:nvPr>
        </p:nvSpPr>
        <p:spPr>
          <a:xfrm>
            <a:off x="714375" y="1686758"/>
            <a:ext cx="3943351" cy="4256843"/>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Arial" panose="020B0604020202020204" pitchFamily="34"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42EEDE3-0B18-E049-BE23-974E50C72979}"/>
              </a:ext>
            </a:extLst>
          </p:cNvPr>
          <p:cNvSpPr>
            <a:spLocks noGrp="1"/>
          </p:cNvSpPr>
          <p:nvPr>
            <p:ph type="pic" sz="quarter" idx="11"/>
          </p:nvPr>
        </p:nvSpPr>
        <p:spPr>
          <a:xfrm>
            <a:off x="5378651" y="1"/>
            <a:ext cx="3771900" cy="6389511"/>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sp>
        <p:nvSpPr>
          <p:cNvPr id="9" name="Rectangle 8">
            <a:extLst>
              <a:ext uri="{FF2B5EF4-FFF2-40B4-BE49-F238E27FC236}">
                <a16:creationId xmlns:a16="http://schemas.microsoft.com/office/drawing/2014/main" id="{7420F7CB-393D-BF45-B52D-542FDDEFCAFF}"/>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0" name="Picture 9" descr="The University of Iowa">
            <a:extLst>
              <a:ext uri="{FF2B5EF4-FFF2-40B4-BE49-F238E27FC236}">
                <a16:creationId xmlns:a16="http://schemas.microsoft.com/office/drawing/2014/main" id="{AEE57422-8581-D940-B95A-28BB5FA8EBEA}"/>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F4890DD7-288C-3F48-AC5A-4CC0C37D9FAB}"/>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625500995"/>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2934" userDrawn="1">
          <p15:clr>
            <a:srgbClr val="FBAE40"/>
          </p15:clr>
        </p15:guide>
        <p15:guide id="3" pos="450" userDrawn="1">
          <p15:clr>
            <a:srgbClr val="FBAE40"/>
          </p15:clr>
        </p15:guide>
        <p15:guide id="4" orient="horz" pos="1056"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ullet Slide - Photo Coll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524483D-CFE3-E34D-BB74-CEDD541765E2}"/>
              </a:ext>
            </a:extLst>
          </p:cNvPr>
          <p:cNvSpPr>
            <a:spLocks noGrp="1"/>
          </p:cNvSpPr>
          <p:nvPr>
            <p:ph type="title"/>
          </p:nvPr>
        </p:nvSpPr>
        <p:spPr>
          <a:xfrm>
            <a:off x="714375" y="365126"/>
            <a:ext cx="3940879" cy="1331865"/>
          </a:xfrm>
        </p:spPr>
        <p:txBody>
          <a:bodyPr>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17" name="Straight Connector 16">
            <a:extLst>
              <a:ext uri="{FF2B5EF4-FFF2-40B4-BE49-F238E27FC236}">
                <a16:creationId xmlns:a16="http://schemas.microsoft.com/office/drawing/2014/main" id="{EB28F420-DDD1-5E4A-9513-EAE252D759FE}"/>
              </a:ext>
              <a:ext uri="{C183D7F6-B498-43B3-948B-1728B52AA6E4}">
                <adec:decorative xmlns:adec="http://schemas.microsoft.com/office/drawing/2017/decorative" val="1"/>
              </a:ext>
            </a:extLst>
          </p:cNvPr>
          <p:cNvCxnSpPr>
            <a:cxnSpLocks/>
          </p:cNvCxnSpPr>
          <p:nvPr userDrawn="1"/>
        </p:nvCxnSpPr>
        <p:spPr>
          <a:xfrm>
            <a:off x="714376" y="164262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5D1D7B4-E242-C142-8F5F-F3301CC02498}"/>
              </a:ext>
            </a:extLst>
          </p:cNvPr>
          <p:cNvSpPr>
            <a:spLocks noGrp="1"/>
          </p:cNvSpPr>
          <p:nvPr>
            <p:ph idx="1"/>
          </p:nvPr>
        </p:nvSpPr>
        <p:spPr>
          <a:xfrm>
            <a:off x="714374" y="1962386"/>
            <a:ext cx="3949838" cy="3981214"/>
          </a:xfrm>
        </p:spPr>
        <p:txBody>
          <a:bodyPr/>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Font typeface="Roboto" panose="02000000000000000000" pitchFamily="2" charset="0"/>
              <a:buChar char="–"/>
              <a:defRPr sz="2000">
                <a:latin typeface="Roboto" panose="02000000000000000000" pitchFamily="2" charset="0"/>
                <a:ea typeface="Roboto" panose="02000000000000000000" pitchFamily="2" charset="0"/>
              </a:defRPr>
            </a:lvl2pPr>
            <a:lvl3pPr>
              <a:buClr>
                <a:schemeClr val="tx2"/>
              </a:buClr>
              <a:defRPr>
                <a:latin typeface="Roboto" panose="02000000000000000000" pitchFamily="2" charset="0"/>
                <a:ea typeface="Roboto" panose="02000000000000000000" pitchFamily="2" charset="0"/>
              </a:defRPr>
            </a:lvl3pPr>
            <a:lvl4pPr marL="1200150" indent="-171450">
              <a:buClr>
                <a:schemeClr val="tx2"/>
              </a:buClr>
              <a:buFont typeface="Arial" panose="020B0604020202020204" pitchFamily="34" charset="0"/>
              <a:buChar char="‒"/>
              <a:defRPr>
                <a:latin typeface="Roboto" panose="02000000000000000000" pitchFamily="2" charset="0"/>
                <a:ea typeface="Roboto" panose="02000000000000000000" pitchFamily="2" charset="0"/>
              </a:defRPr>
            </a:lvl4pPr>
            <a:lvl5pPr marL="1543050" indent="-171450">
              <a:buClr>
                <a:schemeClr val="tx2"/>
              </a:buClr>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4">
            <a:extLst>
              <a:ext uri="{FF2B5EF4-FFF2-40B4-BE49-F238E27FC236}">
                <a16:creationId xmlns:a16="http://schemas.microsoft.com/office/drawing/2014/main" id="{04FCC643-718F-7645-8F8D-0BFC94D0506B}"/>
              </a:ext>
            </a:extLst>
          </p:cNvPr>
          <p:cNvSpPr>
            <a:spLocks noGrp="1"/>
          </p:cNvSpPr>
          <p:nvPr>
            <p:ph type="pic" sz="quarter" idx="14"/>
          </p:nvPr>
        </p:nvSpPr>
        <p:spPr>
          <a:xfrm>
            <a:off x="5369627" y="1"/>
            <a:ext cx="1862553"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9" name="Picture Placeholder 4">
            <a:extLst>
              <a:ext uri="{FF2B5EF4-FFF2-40B4-BE49-F238E27FC236}">
                <a16:creationId xmlns:a16="http://schemas.microsoft.com/office/drawing/2014/main" id="{41C31617-CC11-4C42-B6D0-164DF6AFBF41}"/>
              </a:ext>
            </a:extLst>
          </p:cNvPr>
          <p:cNvSpPr>
            <a:spLocks noGrp="1"/>
          </p:cNvSpPr>
          <p:nvPr>
            <p:ph type="pic" sz="quarter" idx="15"/>
          </p:nvPr>
        </p:nvSpPr>
        <p:spPr>
          <a:xfrm>
            <a:off x="7285223" y="1"/>
            <a:ext cx="1862553"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6" name="Picture Placeholder 4">
            <a:extLst>
              <a:ext uri="{FF2B5EF4-FFF2-40B4-BE49-F238E27FC236}">
                <a16:creationId xmlns:a16="http://schemas.microsoft.com/office/drawing/2014/main" id="{3E5CE386-BEFE-FE49-A675-D93BEDF680BC}"/>
              </a:ext>
            </a:extLst>
          </p:cNvPr>
          <p:cNvSpPr>
            <a:spLocks noGrp="1"/>
          </p:cNvSpPr>
          <p:nvPr>
            <p:ph type="pic" sz="quarter" idx="11" hasCustomPrompt="1"/>
          </p:nvPr>
        </p:nvSpPr>
        <p:spPr>
          <a:xfrm>
            <a:off x="5369627" y="3234551"/>
            <a:ext cx="3774374" cy="3163824"/>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 Click icon to add picture </a:t>
            </a:r>
          </a:p>
        </p:txBody>
      </p:sp>
      <p:sp>
        <p:nvSpPr>
          <p:cNvPr id="11" name="Rectangle 10">
            <a:extLst>
              <a:ext uri="{FF2B5EF4-FFF2-40B4-BE49-F238E27FC236}">
                <a16:creationId xmlns:a16="http://schemas.microsoft.com/office/drawing/2014/main" id="{BC24DFA0-3257-B044-87EF-16154359E2FC}"/>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BF0FB327-46C7-CA4D-9F47-B21B9F7D79F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A0A57B74-2163-4C4B-BFF2-0F1E68BF384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1338072623"/>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2945" userDrawn="1">
          <p15:clr>
            <a:srgbClr val="FBAE40"/>
          </p15:clr>
        </p15:guide>
        <p15:guide id="3" pos="450" userDrawn="1">
          <p15:clr>
            <a:srgbClr val="FBAE40"/>
          </p15:clr>
        </p15:guide>
        <p15:guide id="4" orient="horz" pos="240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11994" y="494273"/>
            <a:ext cx="7717631" cy="869089"/>
          </a:xfrm>
        </p:spPr>
        <p:txBody>
          <a:bodyPr lIns="0" tIns="0" rIns="0" bIns="0"/>
          <a:lstStyle/>
          <a:p>
            <a:r>
              <a:rPr lang="en-US" dirty="0"/>
              <a:t>Click to edit Master title style</a:t>
            </a:r>
          </a:p>
        </p:txBody>
      </p:sp>
      <p:cxnSp>
        <p:nvCxnSpPr>
          <p:cNvPr id="8" name="Straight Connector 7">
            <a:extLst>
              <a:ext uri="{FF2B5EF4-FFF2-40B4-BE49-F238E27FC236}">
                <a16:creationId xmlns:a16="http://schemas.microsoft.com/office/drawing/2014/main" id="{CBB5BDD8-8221-F040-8AE0-3F33C4E24CA0}"/>
              </a:ext>
              <a:ext uri="{C183D7F6-B498-43B3-948B-1728B52AA6E4}">
                <adec:decorative xmlns:adec="http://schemas.microsoft.com/office/drawing/2017/decorative" val="1"/>
              </a:ext>
            </a:extLst>
          </p:cNvPr>
          <p:cNvCxnSpPr>
            <a:cxnSpLocks/>
          </p:cNvCxnSpPr>
          <p:nvPr userDrawn="1"/>
        </p:nvCxnSpPr>
        <p:spPr>
          <a:xfrm>
            <a:off x="711994" y="131002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DF1F65E7-1CB7-3D42-91A9-88DA4E58EB0E}"/>
              </a:ext>
            </a:extLst>
          </p:cNvPr>
          <p:cNvSpPr>
            <a:spLocks noGrp="1"/>
          </p:cNvSpPr>
          <p:nvPr>
            <p:ph type="chart" sz="quarter" idx="10"/>
          </p:nvPr>
        </p:nvSpPr>
        <p:spPr>
          <a:xfrm>
            <a:off x="711994" y="1570038"/>
            <a:ext cx="7717631" cy="4114800"/>
          </a:xfrm>
        </p:spPr>
        <p:txBody>
          <a:bodyPr lIns="0" tIns="0" rIns="0" bIns="0"/>
          <a:lstStyle/>
          <a:p>
            <a:endParaRPr lang="en-US" dirty="0"/>
          </a:p>
        </p:txBody>
      </p:sp>
      <p:sp>
        <p:nvSpPr>
          <p:cNvPr id="12" name="Rectangle 11">
            <a:extLst>
              <a:ext uri="{FF2B5EF4-FFF2-40B4-BE49-F238E27FC236}">
                <a16:creationId xmlns:a16="http://schemas.microsoft.com/office/drawing/2014/main" id="{1F56D074-0631-F846-A2A3-4A39FEAEFDD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9" name="Picture 8" descr="The University of Iowa">
            <a:extLst>
              <a:ext uri="{FF2B5EF4-FFF2-40B4-BE49-F238E27FC236}">
                <a16:creationId xmlns:a16="http://schemas.microsoft.com/office/drawing/2014/main" id="{34AAA98D-AE4C-3B41-A01C-8A57BF732058}"/>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0" name="Footer Placeholder 4">
            <a:extLst>
              <a:ext uri="{FF2B5EF4-FFF2-40B4-BE49-F238E27FC236}">
                <a16:creationId xmlns:a16="http://schemas.microsoft.com/office/drawing/2014/main" id="{761FD608-F8D8-AF42-97E8-83F5C7F92E37}"/>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142765285"/>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C533B8E-DBF3-664D-901D-8735DE775212}"/>
              </a:ext>
            </a:extLst>
          </p:cNvPr>
          <p:cNvSpPr>
            <a:spLocks noGrp="1"/>
          </p:cNvSpPr>
          <p:nvPr>
            <p:ph type="ctrTitle" hasCustomPrompt="1"/>
          </p:nvPr>
        </p:nvSpPr>
        <p:spPr>
          <a:xfrm>
            <a:off x="711994" y="3214770"/>
            <a:ext cx="5372488" cy="1160369"/>
          </a:xfrm>
        </p:spPr>
        <p:txBody>
          <a:bodyPr lIns="0" tIns="0" rIns="0" bIns="0" anchor="t" anchorCtr="0">
            <a:noAutofit/>
          </a:bodyPr>
          <a:lstStyle>
            <a:lvl1pPr algn="l">
              <a:defRPr sz="5200" b="1">
                <a:solidFill>
                  <a:schemeClr val="tx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12" name="Straight Connector 11">
            <a:extLst>
              <a:ext uri="{FF2B5EF4-FFF2-40B4-BE49-F238E27FC236}">
                <a16:creationId xmlns:a16="http://schemas.microsoft.com/office/drawing/2014/main" id="{382B9834-3ABC-DD48-8F8B-7C2FACEC9236}"/>
              </a:ext>
              <a:ext uri="{C183D7F6-B498-43B3-948B-1728B52AA6E4}">
                <adec:decorative xmlns:adec="http://schemas.microsoft.com/office/drawing/2017/decorative" val="1"/>
              </a:ext>
            </a:extLst>
          </p:cNvPr>
          <p:cNvCxnSpPr>
            <a:cxnSpLocks/>
          </p:cNvCxnSpPr>
          <p:nvPr userDrawn="1"/>
        </p:nvCxnSpPr>
        <p:spPr>
          <a:xfrm>
            <a:off x="730595" y="2923615"/>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6471287" y="3087124"/>
            <a:ext cx="2015280" cy="1498329"/>
          </a:xfrm>
        </p:spPr>
        <p:txBody>
          <a:bodyPr vert="horz" anchor="ctr" anchorCtr="0">
            <a:noAutofit/>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sz="1200" b="0"/>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Contact Person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 uri="{C183D7F6-B498-43B3-948B-1728B52AA6E4}">
                <adec:decorative xmlns:adec="http://schemas.microsoft.com/office/drawing/2017/decorative" val="1"/>
              </a:ext>
            </a:extLst>
          </p:cNvPr>
          <p:cNvSpPr/>
          <p:nvPr userDrawn="1"/>
        </p:nvSpPr>
        <p:spPr>
          <a:xfrm>
            <a:off x="711994" y="4789293"/>
            <a:ext cx="292608" cy="3000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989435" y="4789292"/>
            <a:ext cx="1719072" cy="300082"/>
          </a:xfrm>
          <a:solidFill>
            <a:schemeClr val="tx1"/>
          </a:solidFill>
          <a:ln>
            <a:noFill/>
          </a:ln>
        </p:spPr>
        <p:txBody>
          <a:bodyPr wrap="square" lIns="91440" tIns="45720" rIns="91440" bIns="45720">
            <a:spAutoFit/>
          </a:bodyPr>
          <a:lstStyle>
            <a:lvl1pPr marL="0" indent="0">
              <a:buNone/>
              <a:defRPr sz="1350">
                <a:solidFill>
                  <a:schemeClr val="bg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5" name="Group 14">
            <a:extLst>
              <a:ext uri="{FF2B5EF4-FFF2-40B4-BE49-F238E27FC236}">
                <a16:creationId xmlns:a16="http://schemas.microsoft.com/office/drawing/2014/main" id="{EB262A30-5EEC-5549-B428-7E5B11A5D7A7}"/>
              </a:ext>
            </a:extLst>
          </p:cNvPr>
          <p:cNvGrpSpPr/>
          <p:nvPr userDrawn="1"/>
        </p:nvGrpSpPr>
        <p:grpSpPr>
          <a:xfrm>
            <a:off x="803454" y="4864147"/>
            <a:ext cx="146304" cy="150373"/>
            <a:chOff x="3057746" y="812006"/>
            <a:chExt cx="173610" cy="183357"/>
          </a:xfrm>
          <a:noFill/>
        </p:grpSpPr>
        <p:cxnSp>
          <p:nvCxnSpPr>
            <p:cNvPr id="16" name="Straight Connector 15">
              <a:extLst>
                <a:ext uri="{FF2B5EF4-FFF2-40B4-BE49-F238E27FC236}">
                  <a16:creationId xmlns:a16="http://schemas.microsoft.com/office/drawing/2014/main" id="{1699B573-1E8F-3547-9D64-50A2EC630F1F}"/>
                </a:ext>
              </a:extLst>
            </p:cNvPr>
            <p:cNvCxnSpPr/>
            <p:nvPr userDrawn="1"/>
          </p:nvCxnSpPr>
          <p:spPr>
            <a:xfrm>
              <a:off x="3057746" y="904875"/>
              <a:ext cx="173610" cy="0"/>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Freeform: Shape 12">
              <a:extLst>
                <a:ext uri="{FF2B5EF4-FFF2-40B4-BE49-F238E27FC236}">
                  <a16:creationId xmlns:a16="http://schemas.microsoft.com/office/drawing/2014/main" id="{68F32139-4BAE-F54C-8358-EF5839C5813E}"/>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pic>
        <p:nvPicPr>
          <p:cNvPr id="14" name="Picture 13" descr="The University of Iowa">
            <a:extLst>
              <a:ext uri="{FF2B5EF4-FFF2-40B4-BE49-F238E27FC236}">
                <a16:creationId xmlns:a16="http://schemas.microsoft.com/office/drawing/2014/main" id="{4B1807D8-E6B4-C743-A4EC-22D5E0479848}"/>
              </a:ext>
            </a:extLst>
          </p:cNvPr>
          <p:cNvPicPr>
            <a:picLocks noChangeAspect="1"/>
          </p:cNvPicPr>
          <p:nvPr userDrawn="1"/>
        </p:nvPicPr>
        <p:blipFill>
          <a:blip r:embed="rId2"/>
          <a:srcRect/>
          <a:stretch/>
        </p:blipFill>
        <p:spPr>
          <a:xfrm>
            <a:off x="6471287" y="-1189"/>
            <a:ext cx="2015279" cy="963278"/>
          </a:xfrm>
          <a:prstGeom prst="rect">
            <a:avLst/>
          </a:prstGeom>
        </p:spPr>
      </p:pic>
      <p:sp>
        <p:nvSpPr>
          <p:cNvPr id="13" name="Footer Placeholder 4">
            <a:extLst>
              <a:ext uri="{FF2B5EF4-FFF2-40B4-BE49-F238E27FC236}">
                <a16:creationId xmlns:a16="http://schemas.microsoft.com/office/drawing/2014/main" id="{D7F85C9B-9D4B-D642-BBFB-CDE025D69CBD}"/>
              </a:ext>
            </a:extLst>
          </p:cNvPr>
          <p:cNvSpPr>
            <a:spLocks noGrp="1"/>
          </p:cNvSpPr>
          <p:nvPr>
            <p:ph type="ftr" sz="quarter" idx="3"/>
          </p:nvPr>
        </p:nvSpPr>
        <p:spPr>
          <a:xfrm>
            <a:off x="717072" y="2365791"/>
            <a:ext cx="7772020" cy="365125"/>
          </a:xfrm>
          <a:prstGeom prst="rect">
            <a:avLst/>
          </a:prstGeom>
          <a:noFill/>
        </p:spPr>
        <p:txBody>
          <a:bodyPr vert="horz" lIns="0" tIns="0" rIns="0" bIns="0" rtlCol="0" anchor="ctr"/>
          <a:lstStyle>
            <a:lvl1pPr algn="l">
              <a:defRPr sz="1650" b="0">
                <a:solidFill>
                  <a:schemeClr val="tx1"/>
                </a:solidFill>
              </a:defRPr>
            </a:lvl1pPr>
          </a:lstStyle>
          <a:p>
            <a:r>
              <a:rPr lang="en-US" dirty="0"/>
              <a:t>Insert-&gt;Header and Footer-&gt;Type Customizable Name</a:t>
            </a:r>
          </a:p>
        </p:txBody>
      </p:sp>
    </p:spTree>
    <p:extLst>
      <p:ext uri="{BB962C8B-B14F-4D97-AF65-F5344CB8AC3E}">
        <p14:creationId xmlns:p14="http://schemas.microsoft.com/office/powerpoint/2010/main" val="2883638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9"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Slide-Solid Black">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47420D0-6FF1-9C4A-B953-EA4EEABBA308}"/>
              </a:ext>
            </a:extLst>
          </p:cNvPr>
          <p:cNvSpPr>
            <a:spLocks noGrp="1"/>
          </p:cNvSpPr>
          <p:nvPr>
            <p:ph type="ctrTitle" hasCustomPrompt="1"/>
          </p:nvPr>
        </p:nvSpPr>
        <p:spPr>
          <a:xfrm>
            <a:off x="711994" y="3203884"/>
            <a:ext cx="5372488" cy="1160369"/>
          </a:xfrm>
        </p:spPr>
        <p:txBody>
          <a:bodyPr lIns="0" tIns="0" rIns="0" bIns="0" anchor="t" anchorCtr="0">
            <a:noAutofit/>
          </a:bodyPr>
          <a:lstStyle>
            <a:lvl1pPr algn="l">
              <a:defRPr sz="5200" b="1">
                <a:solidFill>
                  <a:schemeClr val="bg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21" name="Straight Connector 20">
            <a:extLst>
              <a:ext uri="{FF2B5EF4-FFF2-40B4-BE49-F238E27FC236}">
                <a16:creationId xmlns:a16="http://schemas.microsoft.com/office/drawing/2014/main" id="{4F7216A4-2452-1B4B-AE0D-122E7F5A5965}"/>
              </a:ext>
              <a:ext uri="{C183D7F6-B498-43B3-948B-1728B52AA6E4}">
                <adec:decorative xmlns:adec="http://schemas.microsoft.com/office/drawing/2017/decorative" val="1"/>
              </a:ext>
            </a:extLst>
          </p:cNvPr>
          <p:cNvCxnSpPr>
            <a:cxnSpLocks/>
          </p:cNvCxnSpPr>
          <p:nvPr userDrawn="1"/>
        </p:nvCxnSpPr>
        <p:spPr>
          <a:xfrm>
            <a:off x="730595" y="2923615"/>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6468763" y="3105910"/>
            <a:ext cx="2020329" cy="1498329"/>
          </a:xfrm>
        </p:spPr>
        <p:txBody>
          <a:bodyPr vert="horz" anchor="ctr" anchorCtr="0">
            <a:noAutofit/>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sz="1200" b="0">
                <a:solidFill>
                  <a:schemeClr val="bg1"/>
                </a:solidFill>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Contact Person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711993" y="4770260"/>
            <a:ext cx="292608" cy="3000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997825" y="4770260"/>
            <a:ext cx="1719072" cy="300082"/>
          </a:xfrm>
          <a:solidFill>
            <a:schemeClr val="accent1"/>
          </a:solidFill>
          <a:ln>
            <a:noFill/>
          </a:ln>
        </p:spPr>
        <p:txBody>
          <a:bodyPr wrap="none" lIns="91440" tIns="45720" rIns="91440" bIns="45720">
            <a:spAutoFit/>
          </a:bodyPr>
          <a:lstStyle>
            <a:lvl1pPr marL="0" indent="0">
              <a:buNone/>
              <a:defRPr sz="1350">
                <a:solidFill>
                  <a:schemeClr val="tx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1" name="Group 10">
            <a:extLst>
              <a:ext uri="{FF2B5EF4-FFF2-40B4-BE49-F238E27FC236}">
                <a16:creationId xmlns:a16="http://schemas.microsoft.com/office/drawing/2014/main" id="{5625728D-FF50-4FF2-AC2E-B13A3D44D5B9}"/>
              </a:ext>
              <a:ext uri="{C183D7F6-B498-43B3-948B-1728B52AA6E4}">
                <adec:decorative xmlns:adec="http://schemas.microsoft.com/office/drawing/2017/decorative" val="1"/>
              </a:ext>
            </a:extLst>
          </p:cNvPr>
          <p:cNvGrpSpPr/>
          <p:nvPr/>
        </p:nvGrpSpPr>
        <p:grpSpPr>
          <a:xfrm>
            <a:off x="803454" y="4845115"/>
            <a:ext cx="146304" cy="150373"/>
            <a:chOff x="3057746" y="812006"/>
            <a:chExt cx="173610" cy="183357"/>
          </a:xfrm>
          <a:noFill/>
        </p:grpSpPr>
        <p:cxnSp>
          <p:nvCxnSpPr>
            <p:cNvPr id="12" name="Straight Connector 11">
              <a:extLst>
                <a:ext uri="{FF2B5EF4-FFF2-40B4-BE49-F238E27FC236}">
                  <a16:creationId xmlns:a16="http://schemas.microsoft.com/office/drawing/2014/main" id="{58A6E0DE-15E0-485B-8083-6D1BB965B9B6}"/>
                </a:ext>
              </a:extLst>
            </p:cNvPr>
            <p:cNvCxnSpPr/>
            <p:nvPr userDrawn="1"/>
          </p:nvCxnSpPr>
          <p:spPr>
            <a:xfrm>
              <a:off x="3057746" y="904875"/>
              <a:ext cx="173610"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184EFEE4-DF1C-4FDF-ABC6-804BF8FA2941}"/>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pic>
        <p:nvPicPr>
          <p:cNvPr id="15" name="Picture 14" descr="The University of Iowa">
            <a:extLst>
              <a:ext uri="{FF2B5EF4-FFF2-40B4-BE49-F238E27FC236}">
                <a16:creationId xmlns:a16="http://schemas.microsoft.com/office/drawing/2014/main" id="{6179B039-C5FC-F04C-AB21-BEF980B032D5}"/>
              </a:ext>
            </a:extLst>
          </p:cNvPr>
          <p:cNvPicPr>
            <a:picLocks noChangeAspect="1"/>
          </p:cNvPicPr>
          <p:nvPr userDrawn="1"/>
        </p:nvPicPr>
        <p:blipFill>
          <a:blip r:embed="rId2"/>
          <a:srcRect/>
          <a:stretch/>
        </p:blipFill>
        <p:spPr>
          <a:xfrm>
            <a:off x="6468762" y="-581"/>
            <a:ext cx="2020330" cy="962061"/>
          </a:xfrm>
          <a:prstGeom prst="rect">
            <a:avLst/>
          </a:prstGeom>
        </p:spPr>
      </p:pic>
      <p:sp>
        <p:nvSpPr>
          <p:cNvPr id="17" name="Footer Placeholder 4">
            <a:extLst>
              <a:ext uri="{FF2B5EF4-FFF2-40B4-BE49-F238E27FC236}">
                <a16:creationId xmlns:a16="http://schemas.microsoft.com/office/drawing/2014/main" id="{70E4C36A-C453-EE4B-A1E5-D1232C361273}"/>
              </a:ext>
            </a:extLst>
          </p:cNvPr>
          <p:cNvSpPr>
            <a:spLocks noGrp="1"/>
          </p:cNvSpPr>
          <p:nvPr>
            <p:ph type="ftr" sz="quarter" idx="3"/>
          </p:nvPr>
        </p:nvSpPr>
        <p:spPr>
          <a:xfrm>
            <a:off x="717072" y="2365791"/>
            <a:ext cx="7772020" cy="365125"/>
          </a:xfrm>
          <a:prstGeom prst="rect">
            <a:avLst/>
          </a:prstGeom>
          <a:noFill/>
        </p:spPr>
        <p:txBody>
          <a:bodyPr vert="horz" lIns="0" tIns="0" rIns="0" bIns="0" rtlCol="0" anchor="ctr"/>
          <a:lstStyle>
            <a:lvl1pPr algn="l">
              <a:defRPr sz="1650" b="0">
                <a:solidFill>
                  <a:schemeClr val="bg1"/>
                </a:solidFill>
              </a:defRPr>
            </a:lvl1pPr>
          </a:lstStyle>
          <a:p>
            <a:r>
              <a:rPr lang="en-US" dirty="0"/>
              <a:t>Insert-&gt;Header and Footer-&gt;Type Customizable Name</a:t>
            </a:r>
            <a:endParaRPr lang="en-US" sz="1650" dirty="0"/>
          </a:p>
        </p:txBody>
      </p:sp>
    </p:spTree>
    <p:extLst>
      <p:ext uri="{BB962C8B-B14F-4D97-AF65-F5344CB8AC3E}">
        <p14:creationId xmlns:p14="http://schemas.microsoft.com/office/powerpoint/2010/main" val="37886445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IOWA Logo with Text">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B993FB4-4336-2048-A6A4-FA306EBBE714}"/>
              </a:ext>
            </a:extLst>
          </p:cNvPr>
          <p:cNvSpPr>
            <a:spLocks noGrp="1"/>
          </p:cNvSpPr>
          <p:nvPr>
            <p:ph type="title" hasCustomPrompt="1"/>
          </p:nvPr>
        </p:nvSpPr>
        <p:spPr>
          <a:xfrm>
            <a:off x="628650" y="4229810"/>
            <a:ext cx="7886700" cy="1311454"/>
          </a:xfrm>
        </p:spPr>
        <p:txBody>
          <a:bodyPr/>
          <a:lstStyle>
            <a:lvl1pPr algn="ctr">
              <a:defRPr sz="4200">
                <a:solidFill>
                  <a:schemeClr val="bg1"/>
                </a:solidFill>
              </a:defRPr>
            </a:lvl1pPr>
          </a:lstStyle>
          <a:p>
            <a:r>
              <a:rPr lang="en-US" dirty="0"/>
              <a:t>Closing Slide Header</a:t>
            </a:r>
          </a:p>
        </p:txBody>
      </p:sp>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rcRect/>
          <a:stretch/>
        </p:blipFill>
        <p:spPr>
          <a:xfrm>
            <a:off x="1714500" y="1793124"/>
            <a:ext cx="5715000" cy="1666875"/>
          </a:xfrm>
          <a:prstGeom prst="rect">
            <a:avLst/>
          </a:prstGeom>
        </p:spPr>
      </p:pic>
    </p:spTree>
    <p:extLst>
      <p:ext uri="{BB962C8B-B14F-4D97-AF65-F5344CB8AC3E}">
        <p14:creationId xmlns:p14="http://schemas.microsoft.com/office/powerpoint/2010/main" val="11334907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OWA Logo Only">
    <p:bg>
      <p:bgPr>
        <a:solidFill>
          <a:schemeClr val="tx1"/>
        </a:solidFill>
        <a:effectLst/>
      </p:bgPr>
    </p:bg>
    <p:spTree>
      <p:nvGrpSpPr>
        <p:cNvPr id="1" name=""/>
        <p:cNvGrpSpPr/>
        <p:nvPr/>
      </p:nvGrpSpPr>
      <p:grpSpPr>
        <a:xfrm>
          <a:off x="0" y="0"/>
          <a:ext cx="0" cy="0"/>
          <a:chOff x="0" y="0"/>
          <a:chExt cx="0" cy="0"/>
        </a:xfrm>
      </p:grpSpPr>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rcRect/>
          <a:stretch/>
        </p:blipFill>
        <p:spPr>
          <a:xfrm>
            <a:off x="1714500" y="2595562"/>
            <a:ext cx="5715000" cy="1666875"/>
          </a:xfrm>
          <a:prstGeom prst="rect">
            <a:avLst/>
          </a:prstGeom>
        </p:spPr>
      </p:pic>
    </p:spTree>
    <p:extLst>
      <p:ext uri="{BB962C8B-B14F-4D97-AF65-F5344CB8AC3E}">
        <p14:creationId xmlns:p14="http://schemas.microsoft.com/office/powerpoint/2010/main" val="1974530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628650" y="365126"/>
            <a:ext cx="7886700" cy="896116"/>
          </a:xfrm>
          <a:prstGeom prst="rect">
            <a:avLst/>
          </a:prstGeom>
        </p:spPr>
        <p:txBody>
          <a:bodyPr vert="horz" lIns="0" tIns="0" rIns="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0061491"/>
      </p:ext>
    </p:extLst>
  </p:cSld>
  <p:clrMap bg1="lt1" tx1="dk1" bg2="lt2" tx2="dk2" accent1="accent1" accent2="accent2" accent3="accent3" accent4="accent4" accent5="accent5" accent6="accent6" hlink="hlink" folHlink="folHlink"/>
  <p:sldLayoutIdLst>
    <p:sldLayoutId id="2147483656" r:id="rId1"/>
    <p:sldLayoutId id="2147483687" r:id="rId2"/>
    <p:sldLayoutId id="2147483688" r:id="rId3"/>
    <p:sldLayoutId id="2147483684" r:id="rId4"/>
    <p:sldLayoutId id="2147483663" r:id="rId5"/>
    <p:sldLayoutId id="2147483686" r:id="rId6"/>
    <p:sldLayoutId id="2147483690" r:id="rId7"/>
    <p:sldLayoutId id="2147483682" r:id="rId8"/>
    <p:sldLayoutId id="2147483650" r:id="rId9"/>
    <p:sldLayoutId id="2147483662" r:id="rId10"/>
    <p:sldLayoutId id="2147483670" r:id="rId11"/>
    <p:sldLayoutId id="2147483667" r:id="rId12"/>
    <p:sldLayoutId id="2147483668" r:id="rId13"/>
    <p:sldLayoutId id="2147483675" r:id="rId14"/>
    <p:sldLayoutId id="2147483677" r:id="rId15"/>
    <p:sldLayoutId id="2147483676" r:id="rId16"/>
    <p:sldLayoutId id="2147483672" r:id="rId17"/>
    <p:sldLayoutId id="2147483692" r:id="rId18"/>
    <p:sldLayoutId id="2147483669" r:id="rId19"/>
    <p:sldLayoutId id="2147483671" r:id="rId20"/>
    <p:sldLayoutId id="2147483679" r:id="rId21"/>
    <p:sldLayoutId id="2147483680" r:id="rId22"/>
    <p:sldLayoutId id="2147483654" r:id="rId23"/>
    <p:sldLayoutId id="2147483655" r:id="rId24"/>
    <p:sldLayoutId id="2147483665" r:id="rId25"/>
    <p:sldLayoutId id="2147483664" r:id="rId26"/>
    <p:sldLayoutId id="2147483689" r:id="rId27"/>
    <p:sldLayoutId id="2147483693" r:id="rId28"/>
    <p:sldLayoutId id="2147483691" r:id="rId29"/>
  </p:sldLayoutIdLst>
  <p:hf sldNum="0" hdr="0" dt="0"/>
  <p:txStyles>
    <p:titleStyle>
      <a:lvl1pPr algn="l" defTabSz="685800" rtl="0" eaLnBrk="1" latinLnBrk="0" hangingPunct="1">
        <a:lnSpc>
          <a:spcPct val="90000"/>
        </a:lnSpc>
        <a:spcBef>
          <a:spcPct val="0"/>
        </a:spcBef>
        <a:buNone/>
        <a:defRPr sz="3000" b="1" kern="1200">
          <a:solidFill>
            <a:schemeClr val="tx1"/>
          </a:solidFill>
          <a:latin typeface="Roboto" panose="02000000000000000000" pitchFamily="2" charset="0"/>
          <a:ea typeface="Roboto" panose="02000000000000000000" pitchFamily="2" charset="0"/>
          <a:cs typeface="Arial" panose="020B0604020202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514350" indent="-171450" algn="l" defTabSz="685800" rtl="0" eaLnBrk="1" latinLnBrk="0" hangingPunct="1">
        <a:lnSpc>
          <a:spcPct val="100000"/>
        </a:lnSpc>
        <a:spcBef>
          <a:spcPts val="375"/>
        </a:spcBef>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403D5-BC0B-4F9F-917C-A0E19E660465}"/>
              </a:ext>
            </a:extLst>
          </p:cNvPr>
          <p:cNvSpPr>
            <a:spLocks noGrp="1"/>
          </p:cNvSpPr>
          <p:nvPr>
            <p:ph type="ctrTitle"/>
          </p:nvPr>
        </p:nvSpPr>
        <p:spPr>
          <a:xfrm>
            <a:off x="731044" y="2677626"/>
            <a:ext cx="6931628" cy="1847088"/>
          </a:xfrm>
        </p:spPr>
        <p:txBody>
          <a:bodyPr/>
          <a:lstStyle/>
          <a:p>
            <a:r>
              <a:rPr sz="3600" dirty="0"/>
              <a:t>VBF BDT</a:t>
            </a:r>
          </a:p>
        </p:txBody>
      </p:sp>
      <p:sp>
        <p:nvSpPr>
          <p:cNvPr id="3" name="Subtitle 2">
            <a:extLst>
              <a:ext uri="{FF2B5EF4-FFF2-40B4-BE49-F238E27FC236}">
                <a16:creationId xmlns:a16="http://schemas.microsoft.com/office/drawing/2014/main" id="{AC0DFB1C-9412-4465-BD51-1BC37504ACC2}"/>
              </a:ext>
            </a:extLst>
          </p:cNvPr>
          <p:cNvSpPr>
            <a:spLocks noGrp="1"/>
          </p:cNvSpPr>
          <p:nvPr>
            <p:ph type="subTitle" idx="1"/>
          </p:nvPr>
        </p:nvSpPr>
        <p:spPr>
          <a:xfrm>
            <a:off x="731044" y="4709626"/>
            <a:ext cx="7765770" cy="365125"/>
          </a:xfrm>
        </p:spPr>
        <p:txBody>
          <a:bodyPr/>
          <a:lstStyle/>
          <a:p>
            <a:r>
              <a:rPr lang="en-US" dirty="0"/>
              <a:t>Minou Emmad</a:t>
            </a:r>
            <a:endParaRPr dirty="0"/>
          </a:p>
        </p:txBody>
      </p:sp>
      <p:sp>
        <p:nvSpPr>
          <p:cNvPr id="4" name="Text Placeholder 3">
            <a:extLst>
              <a:ext uri="{FF2B5EF4-FFF2-40B4-BE49-F238E27FC236}">
                <a16:creationId xmlns:a16="http://schemas.microsoft.com/office/drawing/2014/main" id="{9104C1AD-959E-4514-90C6-FE9233FA3621}"/>
              </a:ext>
            </a:extLst>
          </p:cNvPr>
          <p:cNvSpPr>
            <a:spLocks noGrp="1"/>
          </p:cNvSpPr>
          <p:nvPr>
            <p:ph type="body" sz="quarter" idx="10"/>
          </p:nvPr>
        </p:nvSpPr>
        <p:spPr>
          <a:xfrm>
            <a:off x="731044" y="5098725"/>
            <a:ext cx="7765770" cy="414991"/>
          </a:xfrm>
        </p:spPr>
        <p:txBody>
          <a:bodyPr/>
          <a:lstStyle/>
          <a:p>
            <a:r>
              <a:rPr dirty="0"/>
              <a:t>University of Iowa  ·  May 2026</a:t>
            </a:r>
          </a:p>
        </p:txBody>
      </p:sp>
      <p:sp>
        <p:nvSpPr>
          <p:cNvPr id="5" name="Footer Placeholder 4">
            <a:extLst>
              <a:ext uri="{FF2B5EF4-FFF2-40B4-BE49-F238E27FC236}">
                <a16:creationId xmlns:a16="http://schemas.microsoft.com/office/drawing/2014/main" id="{74D12BC6-C958-4329-A995-372B15531917}"/>
              </a:ext>
            </a:extLst>
          </p:cNvPr>
          <p:cNvSpPr>
            <a:spLocks noGrp="1"/>
          </p:cNvSpPr>
          <p:nvPr>
            <p:ph type="ftr" sz="quarter" idx="3"/>
          </p:nvPr>
        </p:nvSpPr>
        <p:spPr>
          <a:xfrm>
            <a:off x="714376" y="1774217"/>
            <a:ext cx="6948756" cy="365125"/>
          </a:xfrm>
        </p:spPr>
        <p:txBody>
          <a:bodyPr/>
          <a:lstStyle/>
          <a:p>
            <a:r>
              <a:t>CMS Run-3 H→μμ analysis</a:t>
            </a:r>
            <a:endParaRPr lang="en-US" dirty="0"/>
          </a:p>
        </p:txBody>
      </p:sp>
    </p:spTree>
    <p:extLst>
      <p:ext uri="{BB962C8B-B14F-4D97-AF65-F5344CB8AC3E}">
        <p14:creationId xmlns:p14="http://schemas.microsoft.com/office/powerpoint/2010/main" val="12193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BDT performance: ROC curves</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rPr dirty="0"/>
              <a:t>Per-era ROC with AUC</a:t>
            </a:r>
            <a:r>
              <a:rPr lang="en-US" dirty="0"/>
              <a:t>: </a:t>
            </a:r>
            <a:r>
              <a:rPr dirty="0"/>
              <a:t>strong, consistent S/B separation across all eras</a:t>
            </a:r>
            <a:endParaRPr lang="en-US" dirty="0"/>
          </a:p>
        </p:txBody>
      </p:sp>
      <p:pic>
        <p:nvPicPr>
          <p:cNvPr id="9" name="Picture 8" descr="c_roc.jpg"/>
          <p:cNvPicPr>
            <a:picLocks noChangeAspect="1"/>
          </p:cNvPicPr>
          <p:nvPr/>
        </p:nvPicPr>
        <p:blipFill>
          <a:blip r:embed="rId3"/>
          <a:stretch>
            <a:fillRect/>
          </a:stretch>
        </p:blipFill>
        <p:spPr>
          <a:xfrm>
            <a:off x="411480" y="1554480"/>
            <a:ext cx="5099601" cy="4206240"/>
          </a:xfrm>
          <a:prstGeom prst="rect">
            <a:avLst/>
          </a:prstGeom>
        </p:spPr>
      </p:pic>
      <p:sp>
        <p:nvSpPr>
          <p:cNvPr id="10" name="TextBox 9"/>
          <p:cNvSpPr txBox="1"/>
          <p:nvPr/>
        </p:nvSpPr>
        <p:spPr>
          <a:xfrm>
            <a:off x="5882104" y="1554480"/>
            <a:ext cx="2941856" cy="215444"/>
          </a:xfrm>
          <a:prstGeom prst="rect">
            <a:avLst/>
          </a:prstGeom>
          <a:noFill/>
        </p:spPr>
        <p:txBody>
          <a:bodyPr wrap="square" lIns="0" tIns="0" rIns="0" bIns="0" anchor="t">
            <a:spAutoFit/>
          </a:bodyPr>
          <a:lstStyle/>
          <a:p>
            <a:pPr algn="l"/>
            <a:r>
              <a:rPr sz="1400" b="1" i="0" dirty="0">
                <a:solidFill>
                  <a:srgbClr val="000000"/>
                </a:solidFill>
                <a:latin typeface="Calibri"/>
              </a:rPr>
              <a:t>Per-era AUC</a:t>
            </a:r>
          </a:p>
        </p:txBody>
      </p:sp>
      <p:cxnSp>
        <p:nvCxnSpPr>
          <p:cNvPr id="11" name="Connector 10"/>
          <p:cNvCxnSpPr/>
          <p:nvPr/>
        </p:nvCxnSpPr>
        <p:spPr>
          <a:xfrm>
            <a:off x="5882105" y="1888155"/>
            <a:ext cx="548640" cy="0"/>
          </a:xfrm>
          <a:prstGeom prst="line">
            <a:avLst/>
          </a:prstGeom>
          <a:ln w="25400">
            <a:solidFill>
              <a:srgbClr val="FFCD00"/>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163326698"/>
              </p:ext>
            </p:extLst>
          </p:nvPr>
        </p:nvGraphicFramePr>
        <p:xfrm>
          <a:off x="5882105" y="2011679"/>
          <a:ext cx="2941855" cy="3383818"/>
        </p:xfrm>
        <a:graphic>
          <a:graphicData uri="http://schemas.openxmlformats.org/drawingml/2006/table">
            <a:tbl>
              <a:tblPr firstRow="1" bandRow="1">
                <a:tableStyleId>{5C22544A-7EE6-4342-B048-85BDC9FD1C3A}</a:tableStyleId>
              </a:tblPr>
              <a:tblGrid>
                <a:gridCol w="1613275">
                  <a:extLst>
                    <a:ext uri="{9D8B030D-6E8A-4147-A177-3AD203B41FA5}">
                      <a16:colId xmlns:a16="http://schemas.microsoft.com/office/drawing/2014/main" val="20000"/>
                    </a:ext>
                  </a:extLst>
                </a:gridCol>
                <a:gridCol w="1328580">
                  <a:extLst>
                    <a:ext uri="{9D8B030D-6E8A-4147-A177-3AD203B41FA5}">
                      <a16:colId xmlns:a16="http://schemas.microsoft.com/office/drawing/2014/main" val="20001"/>
                    </a:ext>
                  </a:extLst>
                </a:gridCol>
              </a:tblGrid>
              <a:tr h="483402">
                <a:tc>
                  <a:txBody>
                    <a:bodyPr/>
                    <a:lstStyle/>
                    <a:p>
                      <a:pPr algn="l"/>
                      <a:r>
                        <a:rPr sz="1100" b="1">
                          <a:solidFill>
                            <a:srgbClr val="FFFFFF"/>
                          </a:solidFill>
                          <a:latin typeface="Calibri"/>
                        </a:rPr>
                        <a:t>Era</a:t>
                      </a:r>
                    </a:p>
                  </a:txBody>
                  <a:tcPr marL="45720" marR="45720" marT="0" marB="0">
                    <a:solidFill>
                      <a:srgbClr val="000000"/>
                    </a:solidFill>
                  </a:tcPr>
                </a:tc>
                <a:tc>
                  <a:txBody>
                    <a:bodyPr/>
                    <a:lstStyle/>
                    <a:p>
                      <a:pPr algn="ctr"/>
                      <a:r>
                        <a:rPr sz="1100" b="1">
                          <a:solidFill>
                            <a:srgbClr val="FFFFFF"/>
                          </a:solidFill>
                          <a:latin typeface="Calibri"/>
                        </a:rPr>
                        <a:t>AUC</a:t>
                      </a:r>
                    </a:p>
                  </a:txBody>
                  <a:tcPr marL="45720" marR="45720" marT="0" marB="0">
                    <a:solidFill>
                      <a:srgbClr val="000000"/>
                    </a:solidFill>
                  </a:tcPr>
                </a:tc>
                <a:extLst>
                  <a:ext uri="{0D108BD9-81ED-4DB2-BD59-A6C34878D82A}">
                    <a16:rowId xmlns:a16="http://schemas.microsoft.com/office/drawing/2014/main" val="10000"/>
                  </a:ext>
                </a:extLst>
              </a:tr>
              <a:tr h="483402">
                <a:tc>
                  <a:txBody>
                    <a:bodyPr/>
                    <a:lstStyle/>
                    <a:p>
                      <a:pPr algn="l"/>
                      <a:r>
                        <a:rPr sz="1100">
                          <a:solidFill>
                            <a:srgbClr val="1A1A1A"/>
                          </a:solidFill>
                          <a:latin typeface="Calibri"/>
                        </a:rPr>
                        <a:t>Era 12022</a:t>
                      </a:r>
                    </a:p>
                  </a:txBody>
                  <a:tcPr marL="45720" marR="45720" marT="0" marB="0">
                    <a:solidFill>
                      <a:srgbClr val="FFFFFF"/>
                    </a:solidFill>
                  </a:tcPr>
                </a:tc>
                <a:tc>
                  <a:txBody>
                    <a:bodyPr/>
                    <a:lstStyle/>
                    <a:p>
                      <a:pPr algn="ctr"/>
                      <a:r>
                        <a:rPr sz="1100">
                          <a:solidFill>
                            <a:srgbClr val="1A1A1A"/>
                          </a:solidFill>
                          <a:latin typeface="Calibri"/>
                        </a:rPr>
                        <a:t>0.914</a:t>
                      </a:r>
                    </a:p>
                  </a:txBody>
                  <a:tcPr marL="45720" marR="45720" marT="0" marB="0">
                    <a:solidFill>
                      <a:srgbClr val="FFFFFF"/>
                    </a:solidFill>
                  </a:tcPr>
                </a:tc>
                <a:extLst>
                  <a:ext uri="{0D108BD9-81ED-4DB2-BD59-A6C34878D82A}">
                    <a16:rowId xmlns:a16="http://schemas.microsoft.com/office/drawing/2014/main" val="10001"/>
                  </a:ext>
                </a:extLst>
              </a:tr>
              <a:tr h="483402">
                <a:tc>
                  <a:txBody>
                    <a:bodyPr/>
                    <a:lstStyle/>
                    <a:p>
                      <a:pPr algn="l"/>
                      <a:r>
                        <a:rPr sz="1100">
                          <a:solidFill>
                            <a:srgbClr val="1A1A1A"/>
                          </a:solidFill>
                          <a:latin typeface="Calibri"/>
                        </a:rPr>
                        <a:t>Era 12023</a:t>
                      </a:r>
                    </a:p>
                  </a:txBody>
                  <a:tcPr marL="45720" marR="45720" marT="0" marB="0">
                    <a:solidFill>
                      <a:srgbClr val="FFFFFF"/>
                    </a:solidFill>
                  </a:tcPr>
                </a:tc>
                <a:tc>
                  <a:txBody>
                    <a:bodyPr/>
                    <a:lstStyle/>
                    <a:p>
                      <a:pPr algn="ctr"/>
                      <a:r>
                        <a:rPr sz="1100">
                          <a:solidFill>
                            <a:srgbClr val="1A1A1A"/>
                          </a:solidFill>
                          <a:latin typeface="Calibri"/>
                        </a:rPr>
                        <a:t>0.919</a:t>
                      </a:r>
                    </a:p>
                  </a:txBody>
                  <a:tcPr marL="45720" marR="45720" marT="0" marB="0">
                    <a:solidFill>
                      <a:srgbClr val="FFFFFF"/>
                    </a:solidFill>
                  </a:tcPr>
                </a:tc>
                <a:extLst>
                  <a:ext uri="{0D108BD9-81ED-4DB2-BD59-A6C34878D82A}">
                    <a16:rowId xmlns:a16="http://schemas.microsoft.com/office/drawing/2014/main" val="10002"/>
                  </a:ext>
                </a:extLst>
              </a:tr>
              <a:tr h="483402">
                <a:tc>
                  <a:txBody>
                    <a:bodyPr/>
                    <a:lstStyle/>
                    <a:p>
                      <a:pPr algn="l"/>
                      <a:r>
                        <a:rPr sz="1100">
                          <a:solidFill>
                            <a:srgbClr val="1A1A1A"/>
                          </a:solidFill>
                          <a:latin typeface="Calibri"/>
                        </a:rPr>
                        <a:t>Era 22022</a:t>
                      </a:r>
                    </a:p>
                  </a:txBody>
                  <a:tcPr marL="45720" marR="45720" marT="0" marB="0">
                    <a:solidFill>
                      <a:srgbClr val="FFFFFF"/>
                    </a:solidFill>
                  </a:tcPr>
                </a:tc>
                <a:tc>
                  <a:txBody>
                    <a:bodyPr/>
                    <a:lstStyle/>
                    <a:p>
                      <a:pPr algn="ctr"/>
                      <a:r>
                        <a:rPr sz="1100">
                          <a:solidFill>
                            <a:srgbClr val="1A1A1A"/>
                          </a:solidFill>
                          <a:latin typeface="Calibri"/>
                        </a:rPr>
                        <a:t>0.915</a:t>
                      </a:r>
                    </a:p>
                  </a:txBody>
                  <a:tcPr marL="45720" marR="45720" marT="0" marB="0">
                    <a:solidFill>
                      <a:srgbClr val="FFFFFF"/>
                    </a:solidFill>
                  </a:tcPr>
                </a:tc>
                <a:extLst>
                  <a:ext uri="{0D108BD9-81ED-4DB2-BD59-A6C34878D82A}">
                    <a16:rowId xmlns:a16="http://schemas.microsoft.com/office/drawing/2014/main" val="10003"/>
                  </a:ext>
                </a:extLst>
              </a:tr>
              <a:tr h="483402">
                <a:tc>
                  <a:txBody>
                    <a:bodyPr/>
                    <a:lstStyle/>
                    <a:p>
                      <a:pPr algn="l"/>
                      <a:r>
                        <a:rPr sz="1100">
                          <a:solidFill>
                            <a:srgbClr val="1A1A1A"/>
                          </a:solidFill>
                          <a:latin typeface="Calibri"/>
                        </a:rPr>
                        <a:t>Era 22023</a:t>
                      </a:r>
                    </a:p>
                  </a:txBody>
                  <a:tcPr marL="45720" marR="45720" marT="0" marB="0">
                    <a:solidFill>
                      <a:srgbClr val="FFFFFF"/>
                    </a:solidFill>
                  </a:tcPr>
                </a:tc>
                <a:tc>
                  <a:txBody>
                    <a:bodyPr/>
                    <a:lstStyle/>
                    <a:p>
                      <a:pPr algn="ctr"/>
                      <a:r>
                        <a:rPr sz="1100">
                          <a:solidFill>
                            <a:srgbClr val="1A1A1A"/>
                          </a:solidFill>
                          <a:latin typeface="Calibri"/>
                        </a:rPr>
                        <a:t>0.914</a:t>
                      </a:r>
                    </a:p>
                  </a:txBody>
                  <a:tcPr marL="45720" marR="45720" marT="0" marB="0">
                    <a:solidFill>
                      <a:srgbClr val="FFFFFF"/>
                    </a:solidFill>
                  </a:tcPr>
                </a:tc>
                <a:extLst>
                  <a:ext uri="{0D108BD9-81ED-4DB2-BD59-A6C34878D82A}">
                    <a16:rowId xmlns:a16="http://schemas.microsoft.com/office/drawing/2014/main" val="10004"/>
                  </a:ext>
                </a:extLst>
              </a:tr>
              <a:tr h="483402">
                <a:tc>
                  <a:txBody>
                    <a:bodyPr/>
                    <a:lstStyle/>
                    <a:p>
                      <a:pPr algn="l"/>
                      <a:r>
                        <a:rPr sz="1100" b="1" dirty="0">
                          <a:solidFill>
                            <a:srgbClr val="000000"/>
                          </a:solidFill>
                          <a:latin typeface="Calibri"/>
                        </a:rPr>
                        <a:t>Era 2024</a:t>
                      </a:r>
                    </a:p>
                  </a:txBody>
                  <a:tcPr marL="45720" marR="45720" marT="0" marB="0">
                    <a:solidFill>
                      <a:srgbClr val="F4E07F"/>
                    </a:solidFill>
                  </a:tcPr>
                </a:tc>
                <a:tc>
                  <a:txBody>
                    <a:bodyPr/>
                    <a:lstStyle/>
                    <a:p>
                      <a:pPr algn="ctr"/>
                      <a:r>
                        <a:rPr sz="1100" b="1">
                          <a:solidFill>
                            <a:srgbClr val="000000"/>
                          </a:solidFill>
                          <a:latin typeface="Calibri"/>
                        </a:rPr>
                        <a:t>0.932</a:t>
                      </a:r>
                    </a:p>
                  </a:txBody>
                  <a:tcPr marL="45720" marR="45720" marT="0" marB="0">
                    <a:solidFill>
                      <a:srgbClr val="F4E07F"/>
                    </a:solidFill>
                  </a:tcPr>
                </a:tc>
                <a:extLst>
                  <a:ext uri="{0D108BD9-81ED-4DB2-BD59-A6C34878D82A}">
                    <a16:rowId xmlns:a16="http://schemas.microsoft.com/office/drawing/2014/main" val="10005"/>
                  </a:ext>
                </a:extLst>
              </a:tr>
              <a:tr h="483406">
                <a:tc>
                  <a:txBody>
                    <a:bodyPr/>
                    <a:lstStyle/>
                    <a:p>
                      <a:pPr algn="l"/>
                      <a:r>
                        <a:rPr sz="1100" dirty="0">
                          <a:solidFill>
                            <a:srgbClr val="1A1A1A"/>
                          </a:solidFill>
                          <a:latin typeface="Calibri"/>
                        </a:rPr>
                        <a:t>Era 2025</a:t>
                      </a:r>
                    </a:p>
                  </a:txBody>
                  <a:tcPr marL="45720" marR="45720" marT="0" marB="0">
                    <a:solidFill>
                      <a:srgbClr val="FFFFFF"/>
                    </a:solidFill>
                  </a:tcPr>
                </a:tc>
                <a:tc>
                  <a:txBody>
                    <a:bodyPr/>
                    <a:lstStyle/>
                    <a:p>
                      <a:pPr algn="ctr"/>
                      <a:r>
                        <a:rPr sz="1100" dirty="0">
                          <a:solidFill>
                            <a:srgbClr val="1A1A1A"/>
                          </a:solidFill>
                          <a:latin typeface="Calibri"/>
                        </a:rPr>
                        <a:t>0.915</a:t>
                      </a:r>
                    </a:p>
                  </a:txBody>
                  <a:tcPr marL="45720" marR="45720" marT="0" marB="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10178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BDT score: data vs. stacked MC</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t>Combined eras, full 110–150 GeV — background-model closure</a:t>
            </a:r>
            <a:endParaRPr lang="en-US" dirty="0"/>
          </a:p>
        </p:txBody>
      </p:sp>
      <p:pic>
        <p:nvPicPr>
          <p:cNvPr id="9" name="Picture 8" descr="cmb-002.jpg"/>
          <p:cNvPicPr>
            <a:picLocks noChangeAspect="1"/>
          </p:cNvPicPr>
          <p:nvPr/>
        </p:nvPicPr>
        <p:blipFill>
          <a:blip r:embed="rId3"/>
          <a:stretch>
            <a:fillRect/>
          </a:stretch>
        </p:blipFill>
        <p:spPr>
          <a:xfrm>
            <a:off x="411480" y="1554480"/>
            <a:ext cx="5430003" cy="4297680"/>
          </a:xfrm>
          <a:prstGeom prst="rect">
            <a:avLst/>
          </a:prstGeom>
        </p:spPr>
      </p:pic>
      <p:sp>
        <p:nvSpPr>
          <p:cNvPr id="14" name="Rectangle 13"/>
          <p:cNvSpPr/>
          <p:nvPr/>
        </p:nvSpPr>
        <p:spPr>
          <a:xfrm>
            <a:off x="5989320" y="2123316"/>
            <a:ext cx="2834640" cy="100584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2123316"/>
            <a:ext cx="73152" cy="10058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2169036"/>
            <a:ext cx="2697480" cy="274320"/>
          </a:xfrm>
          <a:prstGeom prst="rect">
            <a:avLst/>
          </a:prstGeom>
          <a:noFill/>
        </p:spPr>
        <p:txBody>
          <a:bodyPr wrap="square" lIns="0" tIns="0" rIns="0" bIns="0" anchor="t">
            <a:spAutoFit/>
          </a:bodyPr>
          <a:lstStyle/>
          <a:p>
            <a:pPr algn="l"/>
            <a:r>
              <a:rPr sz="1000" b="1" i="0">
                <a:solidFill>
                  <a:srgbClr val="000000"/>
                </a:solidFill>
                <a:latin typeface="Calibri"/>
              </a:rPr>
              <a:t>Bulk region</a:t>
            </a:r>
          </a:p>
        </p:txBody>
      </p:sp>
      <p:sp>
        <p:nvSpPr>
          <p:cNvPr id="17" name="TextBox 16"/>
          <p:cNvSpPr txBox="1"/>
          <p:nvPr/>
        </p:nvSpPr>
        <p:spPr>
          <a:xfrm>
            <a:off x="6126480" y="2443356"/>
            <a:ext cx="2697480" cy="640080"/>
          </a:xfrm>
          <a:prstGeom prst="rect">
            <a:avLst/>
          </a:prstGeom>
          <a:noFill/>
        </p:spPr>
        <p:txBody>
          <a:bodyPr wrap="square" lIns="0" tIns="0" rIns="0" bIns="0" anchor="t">
            <a:spAutoFit/>
          </a:bodyPr>
          <a:lstStyle/>
          <a:p>
            <a:pPr algn="l"/>
            <a:r>
              <a:rPr sz="900" b="0" i="0">
                <a:solidFill>
                  <a:srgbClr val="555555"/>
                </a:solidFill>
                <a:latin typeface="Calibri"/>
              </a:rPr>
              <a:t>Cat 0 (BDT &lt; 0.906) holds ≈99 % of 110–150 GeV events: DY-dominated, EWK + top sub-leading.</a:t>
            </a:r>
          </a:p>
        </p:txBody>
      </p:sp>
      <p:sp>
        <p:nvSpPr>
          <p:cNvPr id="18" name="Rectangle 17"/>
          <p:cNvSpPr/>
          <p:nvPr/>
        </p:nvSpPr>
        <p:spPr>
          <a:xfrm>
            <a:off x="5989320" y="3266316"/>
            <a:ext cx="2834640" cy="100584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89320" y="3266316"/>
            <a:ext cx="73152" cy="10058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3312036"/>
            <a:ext cx="2697480" cy="274320"/>
          </a:xfrm>
          <a:prstGeom prst="rect">
            <a:avLst/>
          </a:prstGeom>
          <a:noFill/>
        </p:spPr>
        <p:txBody>
          <a:bodyPr wrap="square" lIns="0" tIns="0" rIns="0" bIns="0" anchor="t">
            <a:spAutoFit/>
          </a:bodyPr>
          <a:lstStyle/>
          <a:p>
            <a:pPr algn="l"/>
            <a:r>
              <a:rPr sz="1000" b="1" i="0">
                <a:solidFill>
                  <a:srgbClr val="000000"/>
                </a:solidFill>
                <a:latin typeface="Calibri"/>
              </a:rPr>
              <a:t>Signal-enriched tail</a:t>
            </a:r>
          </a:p>
        </p:txBody>
      </p:sp>
      <p:sp>
        <p:nvSpPr>
          <p:cNvPr id="21" name="TextBox 20"/>
          <p:cNvSpPr txBox="1"/>
          <p:nvPr/>
        </p:nvSpPr>
        <p:spPr>
          <a:xfrm>
            <a:off x="6126480" y="3586356"/>
            <a:ext cx="2697480" cy="640080"/>
          </a:xfrm>
          <a:prstGeom prst="rect">
            <a:avLst/>
          </a:prstGeom>
          <a:noFill/>
        </p:spPr>
        <p:txBody>
          <a:bodyPr wrap="square" lIns="0" tIns="0" rIns="0" bIns="0" anchor="t">
            <a:spAutoFit/>
          </a:bodyPr>
          <a:lstStyle/>
          <a:p>
            <a:pPr algn="l"/>
            <a:r>
              <a:rPr sz="900" b="0" i="0" dirty="0">
                <a:solidFill>
                  <a:srgbClr val="555555"/>
                </a:solidFill>
                <a:latin typeface="Calibri"/>
              </a:rPr>
              <a:t>BDT &gt; 0.906 region (Cat 1-3): EWK fraction grows; this is where VBF signal lives.</a:t>
            </a:r>
          </a:p>
        </p:txBody>
      </p:sp>
      <p:sp>
        <p:nvSpPr>
          <p:cNvPr id="22" name="Rectangle 21"/>
          <p:cNvSpPr/>
          <p:nvPr/>
        </p:nvSpPr>
        <p:spPr>
          <a:xfrm>
            <a:off x="5989320" y="4409316"/>
            <a:ext cx="2834640" cy="100584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89320" y="4409316"/>
            <a:ext cx="73152" cy="10058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6480" y="4455036"/>
            <a:ext cx="2697480" cy="274320"/>
          </a:xfrm>
          <a:prstGeom prst="rect">
            <a:avLst/>
          </a:prstGeom>
          <a:noFill/>
        </p:spPr>
        <p:txBody>
          <a:bodyPr wrap="square" lIns="0" tIns="0" rIns="0" bIns="0" anchor="t">
            <a:spAutoFit/>
          </a:bodyPr>
          <a:lstStyle/>
          <a:p>
            <a:pPr algn="l"/>
            <a:r>
              <a:rPr sz="1000" b="1" i="0">
                <a:solidFill>
                  <a:srgbClr val="000000"/>
                </a:solidFill>
                <a:latin typeface="Calibri"/>
              </a:rPr>
              <a:t>Data/Bkg ratio</a:t>
            </a:r>
          </a:p>
        </p:txBody>
      </p:sp>
      <p:sp>
        <p:nvSpPr>
          <p:cNvPr id="25" name="TextBox 24"/>
          <p:cNvSpPr txBox="1"/>
          <p:nvPr/>
        </p:nvSpPr>
        <p:spPr>
          <a:xfrm>
            <a:off x="6126480" y="4729356"/>
            <a:ext cx="2697480" cy="640080"/>
          </a:xfrm>
          <a:prstGeom prst="rect">
            <a:avLst/>
          </a:prstGeom>
          <a:noFill/>
        </p:spPr>
        <p:txBody>
          <a:bodyPr wrap="square" lIns="0" tIns="0" rIns="0" bIns="0" anchor="t">
            <a:spAutoFit/>
          </a:bodyPr>
          <a:lstStyle/>
          <a:p>
            <a:pPr algn="l"/>
            <a:r>
              <a:rPr sz="900" b="0" i="0" dirty="0">
                <a:solidFill>
                  <a:srgbClr val="555555"/>
                </a:solidFill>
                <a:latin typeface="Calibri"/>
              </a:rPr>
              <a:t>Near unity at low BDT; mild upward drift in the tail driven by signal-rich bins.</a:t>
            </a:r>
          </a:p>
        </p:txBody>
      </p:sp>
    </p:spTree>
    <p:extLst>
      <p:ext uri="{BB962C8B-B14F-4D97-AF65-F5344CB8AC3E}">
        <p14:creationId xmlns:p14="http://schemas.microsoft.com/office/powerpoint/2010/main" val="1610178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FE862D-1184-49E9-A1F8-4F17E5FFE4CF}"/>
              </a:ext>
            </a:extLst>
          </p:cNvPr>
          <p:cNvSpPr>
            <a:spLocks noGrp="1"/>
          </p:cNvSpPr>
          <p:nvPr>
            <p:ph type="title"/>
          </p:nvPr>
        </p:nvSpPr>
        <p:spPr>
          <a:xfrm>
            <a:off x="457200" y="411480"/>
            <a:ext cx="8229600" cy="777240"/>
          </a:xfrm>
        </p:spPr>
        <p:txBody>
          <a:bodyPr wrap="square"/>
          <a:lstStyle/>
          <a:p>
            <a:r>
              <a:t>Choosing the category boundaries</a:t>
            </a:r>
            <a:endParaRPr lang="en-US" dirty="0"/>
          </a:p>
        </p:txBody>
      </p:sp>
      <p:sp>
        <p:nvSpPr>
          <p:cNvPr id="8" name="Rectangle 7"/>
          <p:cNvSpPr/>
          <p:nvPr/>
        </p:nvSpPr>
        <p:spPr>
          <a:xfrm>
            <a:off x="393191" y="1600200"/>
            <a:ext cx="1965960" cy="201168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76071" y="1783080"/>
            <a:ext cx="548640" cy="54864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1" y="1783080"/>
            <a:ext cx="548640" cy="548640"/>
          </a:xfrm>
          <a:prstGeom prst="rect">
            <a:avLst/>
          </a:prstGeom>
          <a:noFill/>
        </p:spPr>
        <p:txBody>
          <a:bodyPr wrap="square" lIns="0" tIns="0" rIns="0" bIns="0" anchor="ctr">
            <a:spAutoFit/>
          </a:bodyPr>
          <a:lstStyle/>
          <a:p>
            <a:pPr algn="ctr"/>
            <a:r>
              <a:rPr sz="2000" b="1" i="0">
                <a:solidFill>
                  <a:srgbClr val="000000"/>
                </a:solidFill>
                <a:latin typeface="Calibri"/>
              </a:rPr>
              <a:t>1</a:t>
            </a:r>
          </a:p>
        </p:txBody>
      </p:sp>
      <p:sp>
        <p:nvSpPr>
          <p:cNvPr id="11" name="TextBox 10"/>
          <p:cNvSpPr txBox="1"/>
          <p:nvPr/>
        </p:nvSpPr>
        <p:spPr>
          <a:xfrm>
            <a:off x="530351" y="2423160"/>
            <a:ext cx="1691639" cy="640080"/>
          </a:xfrm>
          <a:prstGeom prst="rect">
            <a:avLst/>
          </a:prstGeom>
          <a:noFill/>
        </p:spPr>
        <p:txBody>
          <a:bodyPr wrap="square" lIns="0" tIns="0" rIns="0" bIns="0" anchor="t">
            <a:spAutoFit/>
          </a:bodyPr>
          <a:lstStyle/>
          <a:p>
            <a:pPr algn="l"/>
            <a:r>
              <a:rPr sz="1300" b="1" i="0">
                <a:solidFill>
                  <a:srgbClr val="000000"/>
                </a:solidFill>
                <a:latin typeface="Calibri"/>
              </a:rPr>
              <a:t>Start with one
category</a:t>
            </a:r>
          </a:p>
        </p:txBody>
      </p:sp>
      <p:sp>
        <p:nvSpPr>
          <p:cNvPr id="12" name="TextBox 11"/>
          <p:cNvSpPr txBox="1"/>
          <p:nvPr/>
        </p:nvSpPr>
        <p:spPr>
          <a:xfrm>
            <a:off x="530351" y="2971800"/>
            <a:ext cx="1691639" cy="548640"/>
          </a:xfrm>
          <a:prstGeom prst="rect">
            <a:avLst/>
          </a:prstGeom>
          <a:noFill/>
        </p:spPr>
        <p:txBody>
          <a:bodyPr wrap="square" lIns="0" tIns="0" rIns="0" bIns="0" anchor="t">
            <a:spAutoFit/>
          </a:bodyPr>
          <a:lstStyle/>
          <a:p>
            <a:pPr algn="l"/>
            <a:r>
              <a:rPr sz="900" b="0" i="0">
                <a:solidFill>
                  <a:srgbClr val="555555"/>
                </a:solidFill>
                <a:latin typeface="Calibri"/>
              </a:rPr>
              <a:t>All events in [0,1). Compute combined-era Asimov Z in HWHM window.</a:t>
            </a:r>
          </a:p>
        </p:txBody>
      </p:sp>
      <p:sp>
        <p:nvSpPr>
          <p:cNvPr id="13" name="Rectangle 12"/>
          <p:cNvSpPr/>
          <p:nvPr/>
        </p:nvSpPr>
        <p:spPr>
          <a:xfrm>
            <a:off x="2523744" y="1600200"/>
            <a:ext cx="1965960" cy="201168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706624" y="1783080"/>
            <a:ext cx="548640" cy="54864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06624" y="1783080"/>
            <a:ext cx="548640" cy="548640"/>
          </a:xfrm>
          <a:prstGeom prst="rect">
            <a:avLst/>
          </a:prstGeom>
          <a:noFill/>
        </p:spPr>
        <p:txBody>
          <a:bodyPr wrap="square" lIns="0" tIns="0" rIns="0" bIns="0" anchor="ctr">
            <a:spAutoFit/>
          </a:bodyPr>
          <a:lstStyle/>
          <a:p>
            <a:pPr algn="ctr"/>
            <a:r>
              <a:rPr sz="2000" b="1" i="0">
                <a:solidFill>
                  <a:srgbClr val="000000"/>
                </a:solidFill>
                <a:latin typeface="Calibri"/>
              </a:rPr>
              <a:t>2</a:t>
            </a:r>
          </a:p>
        </p:txBody>
      </p:sp>
      <p:sp>
        <p:nvSpPr>
          <p:cNvPr id="16" name="TextBox 15"/>
          <p:cNvSpPr txBox="1"/>
          <p:nvPr/>
        </p:nvSpPr>
        <p:spPr>
          <a:xfrm>
            <a:off x="2660903" y="2423160"/>
            <a:ext cx="1691639" cy="640080"/>
          </a:xfrm>
          <a:prstGeom prst="rect">
            <a:avLst/>
          </a:prstGeom>
          <a:noFill/>
        </p:spPr>
        <p:txBody>
          <a:bodyPr wrap="square" lIns="0" tIns="0" rIns="0" bIns="0" anchor="t">
            <a:spAutoFit/>
          </a:bodyPr>
          <a:lstStyle/>
          <a:p>
            <a:pPr algn="l"/>
            <a:r>
              <a:rPr sz="1300" b="1" i="0">
                <a:solidFill>
                  <a:srgbClr val="000000"/>
                </a:solidFill>
                <a:latin typeface="Calibri"/>
              </a:rPr>
              <a:t>Scan one new
boundary</a:t>
            </a:r>
          </a:p>
        </p:txBody>
      </p:sp>
      <p:sp>
        <p:nvSpPr>
          <p:cNvPr id="17" name="TextBox 16"/>
          <p:cNvSpPr txBox="1"/>
          <p:nvPr/>
        </p:nvSpPr>
        <p:spPr>
          <a:xfrm>
            <a:off x="2660903" y="2971800"/>
            <a:ext cx="1691639" cy="548640"/>
          </a:xfrm>
          <a:prstGeom prst="rect">
            <a:avLst/>
          </a:prstGeom>
          <a:noFill/>
        </p:spPr>
        <p:txBody>
          <a:bodyPr wrap="square" lIns="0" tIns="0" rIns="0" bIns="0" anchor="t">
            <a:spAutoFit/>
          </a:bodyPr>
          <a:lstStyle/>
          <a:p>
            <a:pPr algn="l"/>
            <a:r>
              <a:rPr sz="900" b="0" i="0">
                <a:solidFill>
                  <a:srgbClr val="555555"/>
                </a:solidFill>
                <a:latin typeface="Calibri"/>
              </a:rPr>
              <a:t>Trial boundaries placed at the 1–99 % quantiles of the signal-score distribution.</a:t>
            </a:r>
          </a:p>
        </p:txBody>
      </p:sp>
      <p:sp>
        <p:nvSpPr>
          <p:cNvPr id="18" name="Rectangle 17"/>
          <p:cNvSpPr/>
          <p:nvPr/>
        </p:nvSpPr>
        <p:spPr>
          <a:xfrm>
            <a:off x="4654296" y="1600200"/>
            <a:ext cx="1965960" cy="201168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837176" y="1783080"/>
            <a:ext cx="548640" cy="54864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37176" y="1783080"/>
            <a:ext cx="548640" cy="548640"/>
          </a:xfrm>
          <a:prstGeom prst="rect">
            <a:avLst/>
          </a:prstGeom>
          <a:noFill/>
        </p:spPr>
        <p:txBody>
          <a:bodyPr wrap="square" lIns="0" tIns="0" rIns="0" bIns="0" anchor="ctr">
            <a:spAutoFit/>
          </a:bodyPr>
          <a:lstStyle/>
          <a:p>
            <a:pPr algn="ctr"/>
            <a:r>
              <a:rPr sz="2000" b="1" i="0">
                <a:solidFill>
                  <a:srgbClr val="000000"/>
                </a:solidFill>
                <a:latin typeface="Calibri"/>
              </a:rPr>
              <a:t>3</a:t>
            </a:r>
          </a:p>
        </p:txBody>
      </p:sp>
      <p:sp>
        <p:nvSpPr>
          <p:cNvPr id="21" name="TextBox 20"/>
          <p:cNvSpPr txBox="1"/>
          <p:nvPr/>
        </p:nvSpPr>
        <p:spPr>
          <a:xfrm>
            <a:off x="4791456" y="2423160"/>
            <a:ext cx="1691639" cy="640080"/>
          </a:xfrm>
          <a:prstGeom prst="rect">
            <a:avLst/>
          </a:prstGeom>
          <a:noFill/>
        </p:spPr>
        <p:txBody>
          <a:bodyPr wrap="square" lIns="0" tIns="0" rIns="0" bIns="0" anchor="t">
            <a:spAutoFit/>
          </a:bodyPr>
          <a:lstStyle/>
          <a:p>
            <a:pPr algn="l"/>
            <a:r>
              <a:rPr sz="1300" b="1" i="0">
                <a:solidFill>
                  <a:srgbClr val="000000"/>
                </a:solidFill>
                <a:latin typeface="Calibri"/>
              </a:rPr>
              <a:t>Accept if ΔZ
significant</a:t>
            </a:r>
          </a:p>
        </p:txBody>
      </p:sp>
      <p:sp>
        <p:nvSpPr>
          <p:cNvPr id="22" name="TextBox 21"/>
          <p:cNvSpPr txBox="1"/>
          <p:nvPr/>
        </p:nvSpPr>
        <p:spPr>
          <a:xfrm>
            <a:off x="4791456" y="2971800"/>
            <a:ext cx="1691639" cy="276999"/>
          </a:xfrm>
          <a:prstGeom prst="rect">
            <a:avLst/>
          </a:prstGeom>
          <a:noFill/>
        </p:spPr>
        <p:txBody>
          <a:bodyPr wrap="square" lIns="0" tIns="0" rIns="0" bIns="0" anchor="t">
            <a:spAutoFit/>
          </a:bodyPr>
          <a:lstStyle/>
          <a:p>
            <a:pPr algn="l"/>
            <a:r>
              <a:rPr sz="900" b="0" i="0" dirty="0">
                <a:solidFill>
                  <a:srgbClr val="555555"/>
                </a:solidFill>
                <a:latin typeface="Calibri"/>
              </a:rPr>
              <a:t>Keep the split that maximizes Z. Repeat until gain saturates.</a:t>
            </a:r>
          </a:p>
        </p:txBody>
      </p:sp>
      <p:sp>
        <p:nvSpPr>
          <p:cNvPr id="23" name="Rectangle 22"/>
          <p:cNvSpPr/>
          <p:nvPr/>
        </p:nvSpPr>
        <p:spPr>
          <a:xfrm>
            <a:off x="6784848" y="1600200"/>
            <a:ext cx="1965960" cy="201168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967728" y="1783080"/>
            <a:ext cx="548640" cy="548640"/>
          </a:xfrm>
          <a:prstGeom prst="ellipse">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67728" y="1783080"/>
            <a:ext cx="548640" cy="548640"/>
          </a:xfrm>
          <a:prstGeom prst="rect">
            <a:avLst/>
          </a:prstGeom>
          <a:noFill/>
        </p:spPr>
        <p:txBody>
          <a:bodyPr wrap="square" lIns="0" tIns="0" rIns="0" bIns="0" anchor="ctr">
            <a:spAutoFit/>
          </a:bodyPr>
          <a:lstStyle/>
          <a:p>
            <a:pPr algn="ctr"/>
            <a:r>
              <a:rPr sz="2000" b="1" i="0">
                <a:solidFill>
                  <a:srgbClr val="000000"/>
                </a:solidFill>
                <a:latin typeface="Calibri"/>
              </a:rPr>
              <a:t>4</a:t>
            </a:r>
          </a:p>
        </p:txBody>
      </p:sp>
      <p:sp>
        <p:nvSpPr>
          <p:cNvPr id="26" name="TextBox 25"/>
          <p:cNvSpPr txBox="1"/>
          <p:nvPr/>
        </p:nvSpPr>
        <p:spPr>
          <a:xfrm>
            <a:off x="6922008" y="2423160"/>
            <a:ext cx="1691639" cy="640080"/>
          </a:xfrm>
          <a:prstGeom prst="rect">
            <a:avLst/>
          </a:prstGeom>
          <a:noFill/>
        </p:spPr>
        <p:txBody>
          <a:bodyPr wrap="square" lIns="0" tIns="0" rIns="0" bIns="0" anchor="t">
            <a:spAutoFit/>
          </a:bodyPr>
          <a:lstStyle/>
          <a:p>
            <a:pPr algn="l"/>
            <a:r>
              <a:rPr sz="1300" b="1" i="0">
                <a:solidFill>
                  <a:srgbClr val="000000"/>
                </a:solidFill>
                <a:latin typeface="Calibri"/>
              </a:rPr>
              <a:t>Stop at
saturation</a:t>
            </a:r>
          </a:p>
        </p:txBody>
      </p:sp>
      <p:sp>
        <p:nvSpPr>
          <p:cNvPr id="27" name="TextBox 26"/>
          <p:cNvSpPr txBox="1"/>
          <p:nvPr/>
        </p:nvSpPr>
        <p:spPr>
          <a:xfrm>
            <a:off x="6922008" y="2971800"/>
            <a:ext cx="1691639" cy="548640"/>
          </a:xfrm>
          <a:prstGeom prst="rect">
            <a:avLst/>
          </a:prstGeom>
          <a:noFill/>
        </p:spPr>
        <p:txBody>
          <a:bodyPr wrap="square" lIns="0" tIns="0" rIns="0" bIns="0" anchor="t">
            <a:spAutoFit/>
          </a:bodyPr>
          <a:lstStyle/>
          <a:p>
            <a:pPr algn="l"/>
            <a:r>
              <a:rPr sz="900" b="0" i="0">
                <a:solidFill>
                  <a:srgbClr val="555555"/>
                </a:solidFill>
                <a:latin typeface="Calibri"/>
              </a:rPr>
              <a:t>n=4 chosen: Z(4) = 1.578 vs. Z(3) = 1.526 → +3.4% gain only.</a:t>
            </a:r>
          </a:p>
        </p:txBody>
      </p:sp>
      <p:sp>
        <p:nvSpPr>
          <p:cNvPr id="28" name="Rectangle 27"/>
          <p:cNvSpPr/>
          <p:nvPr/>
        </p:nvSpPr>
        <p:spPr>
          <a:xfrm>
            <a:off x="457200" y="3840480"/>
            <a:ext cx="8229600" cy="1828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840480"/>
            <a:ext cx="109728" cy="18288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3931920"/>
            <a:ext cx="7955279" cy="320040"/>
          </a:xfrm>
          <a:prstGeom prst="rect">
            <a:avLst/>
          </a:prstGeom>
          <a:noFill/>
        </p:spPr>
        <p:txBody>
          <a:bodyPr wrap="square" lIns="0" tIns="0" rIns="0" bIns="0" anchor="t">
            <a:spAutoFit/>
          </a:bodyPr>
          <a:lstStyle/>
          <a:p>
            <a:pPr algn="l"/>
            <a:r>
              <a:rPr sz="1000" b="1" i="0" spc="300">
                <a:solidFill>
                  <a:srgbClr val="FFCD00"/>
                </a:solidFill>
                <a:latin typeface="Calibri"/>
              </a:rPr>
              <a:t>OPTIMISATION METRIC</a:t>
            </a:r>
          </a:p>
        </p:txBody>
      </p:sp>
      <p:sp>
        <p:nvSpPr>
          <p:cNvPr id="31" name="TextBox 30"/>
          <p:cNvSpPr txBox="1"/>
          <p:nvPr/>
        </p:nvSpPr>
        <p:spPr>
          <a:xfrm>
            <a:off x="684136" y="4179696"/>
            <a:ext cx="7955279" cy="365760"/>
          </a:xfrm>
          <a:prstGeom prst="rect">
            <a:avLst/>
          </a:prstGeom>
          <a:noFill/>
        </p:spPr>
        <p:txBody>
          <a:bodyPr wrap="square" lIns="0" tIns="0" rIns="0" bIns="0" anchor="t">
            <a:spAutoFit/>
          </a:bodyPr>
          <a:lstStyle/>
          <a:p>
            <a:pPr algn="l"/>
            <a:r>
              <a:rPr sz="1500" b="1" i="0" dirty="0">
                <a:solidFill>
                  <a:srgbClr val="FFFFFF"/>
                </a:solidFill>
                <a:latin typeface="Calibri"/>
              </a:rPr>
              <a:t>Combined Asimov significance in HWHM mass window</a:t>
            </a:r>
          </a:p>
        </p:txBody>
      </p:sp>
      <mc:AlternateContent xmlns:mc="http://schemas.openxmlformats.org/markup-compatibility/2006" xmlns:a14="http://schemas.microsoft.com/office/drawing/2010/main">
        <mc:Choice Requires="a14">
          <p:sp>
            <p:nvSpPr>
              <p:cNvPr id="32" name="TextBox 31"/>
              <p:cNvSpPr txBox="1"/>
              <p:nvPr/>
            </p:nvSpPr>
            <p:spPr>
              <a:xfrm>
                <a:off x="685800" y="4472720"/>
                <a:ext cx="4646814" cy="689484"/>
              </a:xfrm>
              <a:prstGeom prst="rect">
                <a:avLst/>
              </a:prstGeom>
              <a:noFill/>
            </p:spPr>
            <p:txBody>
              <a:bodyPr wrap="square" lIns="0" tIns="0" rIns="0" bIns="0" anchor="t">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chemeClr val="accent1"/>
                              </a:solidFill>
                              <a:latin typeface="Cambria Math" panose="02040503050406030204" pitchFamily="18" charset="0"/>
                            </a:rPr>
                          </m:ctrlPr>
                        </m:sSubSupPr>
                        <m:e>
                          <m:r>
                            <a:rPr lang="en-US" i="1">
                              <a:solidFill>
                                <a:schemeClr val="accent1"/>
                              </a:solidFill>
                              <a:latin typeface="Cambria Math" panose="02040503050406030204" pitchFamily="18" charset="0"/>
                            </a:rPr>
                            <m:t>𝑍</m:t>
                          </m:r>
                        </m:e>
                        <m:sub>
                          <m:r>
                            <m:rPr>
                              <m:nor/>
                            </m:rPr>
                            <a:rPr lang="en-US" i="1">
                              <a:solidFill>
                                <a:schemeClr val="accent1"/>
                              </a:solidFill>
                            </a:rPr>
                            <m:t>comb</m:t>
                          </m:r>
                        </m:sub>
                        <m:sup>
                          <m:r>
                            <a:rPr lang="en-US">
                              <a:solidFill>
                                <a:schemeClr val="accent1"/>
                              </a:solidFill>
                              <a:latin typeface="Cambria Math" panose="02040503050406030204" pitchFamily="18" charset="0"/>
                            </a:rPr>
                            <m:t>2</m:t>
                          </m:r>
                        </m:sup>
                      </m:sSubSup>
                      <m:r>
                        <a:rPr lang="en-US">
                          <a:solidFill>
                            <a:schemeClr val="accent1"/>
                          </a:solidFill>
                          <a:latin typeface="Cambria Math" panose="02040503050406030204" pitchFamily="18" charset="0"/>
                        </a:rPr>
                        <m:t>=</m:t>
                      </m:r>
                      <m:nary>
                        <m:naryPr>
                          <m:chr m:val="∑"/>
                          <m:grow m:val="on"/>
                          <m:supHide m:val="on"/>
                          <m:ctrlPr>
                            <a:rPr lang="en-US" i="1">
                              <a:solidFill>
                                <a:schemeClr val="accent1"/>
                              </a:solidFill>
                              <a:latin typeface="Cambria Math" panose="02040503050406030204" pitchFamily="18" charset="0"/>
                            </a:rPr>
                          </m:ctrlPr>
                        </m:naryPr>
                        <m:sub>
                          <m:r>
                            <a:rPr lang="en-US" i="1">
                              <a:solidFill>
                                <a:schemeClr val="accent1"/>
                              </a:solidFill>
                              <a:latin typeface="Cambria Math" panose="02040503050406030204" pitchFamily="18" charset="0"/>
                            </a:rPr>
                            <m:t>𝑖</m:t>
                          </m:r>
                        </m:sub>
                        <m:sup/>
                        <m:e>
                          <m:r>
                            <a:rPr lang="en-US">
                              <a:solidFill>
                                <a:schemeClr val="accent1"/>
                              </a:solidFill>
                              <a:latin typeface="Cambria Math" panose="02040503050406030204" pitchFamily="18" charset="0"/>
                            </a:rPr>
                            <m:t>2</m:t>
                          </m:r>
                        </m:e>
                      </m:nary>
                      <m:d>
                        <m:dPr>
                          <m:begChr m:val="["/>
                          <m:endChr m:val="]"/>
                          <m:ctrlPr>
                            <a:rPr lang="en-US" i="1">
                              <a:solidFill>
                                <a:schemeClr val="accent1"/>
                              </a:solidFill>
                              <a:latin typeface="Cambria Math" panose="02040503050406030204" pitchFamily="18" charset="0"/>
                            </a:rPr>
                          </m:ctrlPr>
                        </m:dPr>
                        <m:e>
                          <m:d>
                            <m:dPr>
                              <m:ctrlPr>
                                <a:rPr lang="en-US" i="1">
                                  <a:solidFill>
                                    <a:schemeClr val="accent1"/>
                                  </a:solidFill>
                                  <a:latin typeface="Cambria Math" panose="02040503050406030204" pitchFamily="18" charset="0"/>
                                </a:rPr>
                              </m:ctrlPr>
                            </m:dPr>
                            <m:e>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𝑆</m:t>
                                  </m:r>
                                </m:e>
                                <m:sub>
                                  <m:r>
                                    <a:rPr lang="en-US" i="1">
                                      <a:solidFill>
                                        <a:schemeClr val="accent1"/>
                                      </a:solidFill>
                                      <a:latin typeface="Cambria Math" panose="02040503050406030204" pitchFamily="18" charset="0"/>
                                    </a:rPr>
                                    <m:t>𝑖</m:t>
                                  </m:r>
                                </m:sub>
                              </m:sSub>
                              <m:r>
                                <a:rPr lang="en-US">
                                  <a:solidFill>
                                    <a:schemeClr val="accent1"/>
                                  </a:solidFill>
                                  <a:latin typeface="Cambria Math" panose="02040503050406030204" pitchFamily="18" charset="0"/>
                                </a:rPr>
                                <m:t>+</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𝐵</m:t>
                                  </m:r>
                                </m:e>
                                <m:sub>
                                  <m:r>
                                    <a:rPr lang="en-US" i="1">
                                      <a:solidFill>
                                        <a:schemeClr val="accent1"/>
                                      </a:solidFill>
                                      <a:latin typeface="Cambria Math" panose="02040503050406030204" pitchFamily="18" charset="0"/>
                                    </a:rPr>
                                    <m:t>𝑖</m:t>
                                  </m:r>
                                </m:sub>
                              </m:sSub>
                            </m:e>
                          </m:d>
                          <m:func>
                            <m:funcPr>
                              <m:ctrlPr>
                                <a:rPr lang="en-US" i="1">
                                  <a:solidFill>
                                    <a:schemeClr val="accent1"/>
                                  </a:solidFill>
                                  <a:latin typeface="Cambria Math" panose="02040503050406030204" pitchFamily="18" charset="0"/>
                                </a:rPr>
                              </m:ctrlPr>
                            </m:funcPr>
                            <m:fName>
                              <m:r>
                                <m:rPr>
                                  <m:sty m:val="p"/>
                                </m:rPr>
                                <a:rPr lang="en-US">
                                  <a:solidFill>
                                    <a:schemeClr val="accent1"/>
                                  </a:solidFill>
                                  <a:latin typeface="Cambria Math" panose="02040503050406030204" pitchFamily="18" charset="0"/>
                                </a:rPr>
                                <m:t>ln</m:t>
                              </m:r>
                            </m:fName>
                            <m:e>
                              <m:d>
                                <m:dPr>
                                  <m:ctrlPr>
                                    <a:rPr lang="en-US" i="1">
                                      <a:solidFill>
                                        <a:schemeClr val="accent1"/>
                                      </a:solidFill>
                                      <a:latin typeface="Cambria Math" panose="02040503050406030204" pitchFamily="18" charset="0"/>
                                    </a:rPr>
                                  </m:ctrlPr>
                                </m:dPr>
                                <m:e>
                                  <m:r>
                                    <a:rPr lang="en-US">
                                      <a:solidFill>
                                        <a:schemeClr val="accent1"/>
                                      </a:solidFill>
                                      <a:latin typeface="Cambria Math" panose="02040503050406030204" pitchFamily="18" charset="0"/>
                                    </a:rPr>
                                    <m:t>1</m:t>
                                  </m:r>
                                  <m:r>
                                    <a:rPr lang="en-US">
                                      <a:solidFill>
                                        <a:schemeClr val="accent1"/>
                                      </a:solidFill>
                                      <a:latin typeface="Cambria Math" panose="02040503050406030204" pitchFamily="18" charset="0"/>
                                    </a:rPr>
                                    <m:t>+</m:t>
                                  </m:r>
                                  <m:f>
                                    <m:fPr>
                                      <m:ctrlPr>
                                        <a:rPr lang="en-US" i="1">
                                          <a:solidFill>
                                            <a:schemeClr val="accent1"/>
                                          </a:solidFill>
                                          <a:latin typeface="Cambria Math" panose="02040503050406030204" pitchFamily="18" charset="0"/>
                                        </a:rPr>
                                      </m:ctrlPr>
                                    </m:fPr>
                                    <m:num>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𝑆</m:t>
                                          </m:r>
                                        </m:e>
                                        <m:sub>
                                          <m:r>
                                            <a:rPr lang="en-US" i="1">
                                              <a:solidFill>
                                                <a:schemeClr val="accent1"/>
                                              </a:solidFill>
                                              <a:latin typeface="Cambria Math" panose="02040503050406030204" pitchFamily="18" charset="0"/>
                                            </a:rPr>
                                            <m:t>𝑖</m:t>
                                          </m:r>
                                        </m:sub>
                                      </m:sSub>
                                    </m:num>
                                    <m:den>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𝐵</m:t>
                                          </m:r>
                                        </m:e>
                                        <m:sub>
                                          <m:r>
                                            <a:rPr lang="en-US" i="1">
                                              <a:solidFill>
                                                <a:schemeClr val="accent1"/>
                                              </a:solidFill>
                                              <a:latin typeface="Cambria Math" panose="02040503050406030204" pitchFamily="18" charset="0"/>
                                            </a:rPr>
                                            <m:t>𝑖</m:t>
                                          </m:r>
                                        </m:sub>
                                      </m:sSub>
                                    </m:den>
                                  </m:f>
                                </m:e>
                              </m:d>
                            </m:e>
                          </m:func>
                          <m:r>
                            <a:rPr lang="en-US">
                              <a:solidFill>
                                <a:schemeClr val="accent1"/>
                              </a:solidFill>
                              <a:latin typeface="Cambria Math" panose="02040503050406030204" pitchFamily="18" charset="0"/>
                            </a:rPr>
                            <m:t>−</m:t>
                          </m:r>
                          <m:sSub>
                            <m:sSubPr>
                              <m:ctrlPr>
                                <a:rPr lang="en-US" i="1">
                                  <a:solidFill>
                                    <a:schemeClr val="accent1"/>
                                  </a:solidFill>
                                  <a:latin typeface="Cambria Math" panose="02040503050406030204" pitchFamily="18" charset="0"/>
                                </a:rPr>
                              </m:ctrlPr>
                            </m:sSubPr>
                            <m:e>
                              <m:r>
                                <a:rPr lang="en-US" i="1">
                                  <a:solidFill>
                                    <a:schemeClr val="accent1"/>
                                  </a:solidFill>
                                  <a:latin typeface="Cambria Math" panose="02040503050406030204" pitchFamily="18" charset="0"/>
                                </a:rPr>
                                <m:t>𝑆</m:t>
                              </m:r>
                            </m:e>
                            <m:sub>
                              <m:r>
                                <a:rPr lang="en-US" i="1">
                                  <a:solidFill>
                                    <a:schemeClr val="accent1"/>
                                  </a:solidFill>
                                  <a:latin typeface="Cambria Math" panose="02040503050406030204" pitchFamily="18" charset="0"/>
                                </a:rPr>
                                <m:t>𝑖</m:t>
                              </m:r>
                            </m:sub>
                          </m:sSub>
                        </m:e>
                      </m:d>
                    </m:oMath>
                  </m:oMathPara>
                </a14:m>
                <a:endParaRPr lang="en-US" sz="1400" b="0" dirty="0">
                  <a:solidFill>
                    <a:schemeClr val="accent1"/>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685800" y="4472720"/>
                <a:ext cx="4646814" cy="689484"/>
              </a:xfrm>
              <a:prstGeom prst="rect">
                <a:avLst/>
              </a:prstGeom>
              <a:blipFill>
                <a:blip r:embed="rId3"/>
                <a:stretch>
                  <a:fillRect/>
                </a:stretch>
              </a:blipFill>
            </p:spPr>
            <p:txBody>
              <a:bodyPr/>
              <a:lstStyle/>
              <a:p>
                <a:r>
                  <a:rPr lang="en-US">
                    <a:noFill/>
                  </a:rPr>
                  <a:t> </a:t>
                </a:r>
              </a:p>
            </p:txBody>
          </p:sp>
        </mc:Fallback>
      </mc:AlternateContent>
      <p:sp>
        <p:nvSpPr>
          <p:cNvPr id="33" name="TextBox 32"/>
          <p:cNvSpPr txBox="1"/>
          <p:nvPr/>
        </p:nvSpPr>
        <p:spPr>
          <a:xfrm>
            <a:off x="685800" y="5212080"/>
            <a:ext cx="7955279" cy="457200"/>
          </a:xfrm>
          <a:prstGeom prst="rect">
            <a:avLst/>
          </a:prstGeom>
          <a:noFill/>
        </p:spPr>
        <p:txBody>
          <a:bodyPr wrap="square" lIns="0" tIns="0" rIns="0" bIns="0" anchor="t">
            <a:spAutoFit/>
          </a:bodyPr>
          <a:lstStyle/>
          <a:p>
            <a:pPr algn="l"/>
            <a:r>
              <a:rPr sz="900" b="0" i="1" dirty="0">
                <a:solidFill>
                  <a:srgbClr val="DDDDDD"/>
                </a:solidFill>
                <a:latin typeface="Calibri"/>
              </a:rPr>
              <a:t>Sum over categories </a:t>
            </a:r>
            <a:r>
              <a:rPr sz="900" b="0" i="1" dirty="0" err="1">
                <a:solidFill>
                  <a:srgbClr val="DDDDDD"/>
                </a:solidFill>
                <a:latin typeface="Calibri"/>
              </a:rPr>
              <a:t>i</a:t>
            </a:r>
            <a:r>
              <a:rPr sz="900" b="0" i="1" dirty="0">
                <a:solidFill>
                  <a:srgbClr val="DDDDDD"/>
                </a:solidFill>
                <a:latin typeface="Calibri"/>
              </a:rPr>
              <a:t>, evaluated separately per era, then combined in quadrature.  </a:t>
            </a:r>
          </a:p>
          <a:p>
            <a:pPr algn="l"/>
            <a:r>
              <a:rPr sz="900" b="0" i="0" dirty="0">
                <a:solidFill>
                  <a:srgbClr val="BBBBBB"/>
                </a:solidFill>
                <a:latin typeface="Calibri"/>
              </a:rPr>
              <a:t>S from VBF H(125) MC × acc × eff in HWHM window; B from data-driven sideband fit extrapolated in.</a:t>
            </a:r>
          </a:p>
        </p:txBody>
      </p:sp>
      <p:sp>
        <p:nvSpPr>
          <p:cNvPr id="3" name="TextBox 2">
            <a:extLst>
              <a:ext uri="{FF2B5EF4-FFF2-40B4-BE49-F238E27FC236}">
                <a16:creationId xmlns:a16="http://schemas.microsoft.com/office/drawing/2014/main" id="{AC38E0E2-02ED-F731-E381-B7F374324A63}"/>
              </a:ext>
            </a:extLst>
          </p:cNvPr>
          <p:cNvSpPr txBox="1"/>
          <p:nvPr/>
        </p:nvSpPr>
        <p:spPr>
          <a:xfrm>
            <a:off x="2021902" y="6446520"/>
            <a:ext cx="7014187" cy="400110"/>
          </a:xfrm>
          <a:prstGeom prst="rect">
            <a:avLst/>
          </a:prstGeom>
          <a:noFill/>
        </p:spPr>
        <p:txBody>
          <a:bodyPr wrap="square">
            <a:spAutoFit/>
          </a:bodyPr>
          <a:lstStyle/>
          <a:p>
            <a:r>
              <a:rPr lang="en-US" sz="1000" dirty="0">
                <a:solidFill>
                  <a:schemeClr val="bg1"/>
                </a:solidFill>
              </a:rPr>
              <a:t>Cooperstein et al., </a:t>
            </a:r>
            <a:r>
              <a:rPr lang="en-US" sz="1000" i="1" dirty="0">
                <a:solidFill>
                  <a:schemeClr val="bg1"/>
                </a:solidFill>
              </a:rPr>
              <a:t>Search for Higgs boson decays into muons in proton-proton collisions at 13 TeV using full Run2 data</a:t>
            </a:r>
            <a:r>
              <a:rPr lang="en-US" sz="1000" dirty="0">
                <a:solidFill>
                  <a:schemeClr val="bg1"/>
                </a:solidFill>
              </a:rPr>
              <a:t>, CMS Draft Analysis Note, 2020.</a:t>
            </a:r>
          </a:p>
        </p:txBody>
      </p:sp>
    </p:spTree>
    <p:extLst>
      <p:ext uri="{BB962C8B-B14F-4D97-AF65-F5344CB8AC3E}">
        <p14:creationId xmlns:p14="http://schemas.microsoft.com/office/powerpoint/2010/main" val="744737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Iterative boundary scan</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t>Three accepted boundaries; each subsequent split adds less significance</a:t>
            </a:r>
            <a:endParaRPr lang="en-US" dirty="0"/>
          </a:p>
        </p:txBody>
      </p:sp>
      <p:pic>
        <p:nvPicPr>
          <p:cNvPr id="2" name="Picture 1" descr="c_boundary_scan.jpg">
            <a:extLst>
              <a:ext uri="{FF2B5EF4-FFF2-40B4-BE49-F238E27FC236}">
                <a16:creationId xmlns:a16="http://schemas.microsoft.com/office/drawing/2014/main" id="{19BC0C8F-208B-329C-CF41-C3AF823E5507}"/>
              </a:ext>
            </a:extLst>
          </p:cNvPr>
          <p:cNvPicPr>
            <a:picLocks noChangeAspect="1"/>
          </p:cNvPicPr>
          <p:nvPr/>
        </p:nvPicPr>
        <p:blipFill>
          <a:blip r:embed="rId3"/>
          <a:srcRect t="52923" r="48840"/>
          <a:stretch>
            <a:fillRect/>
          </a:stretch>
        </p:blipFill>
        <p:spPr>
          <a:xfrm>
            <a:off x="6001583" y="1079892"/>
            <a:ext cx="3112518" cy="2012641"/>
          </a:xfrm>
          <a:prstGeom prst="rect">
            <a:avLst/>
          </a:prstGeom>
        </p:spPr>
      </p:pic>
      <p:pic>
        <p:nvPicPr>
          <p:cNvPr id="5" name="Picture 4" descr="c_boundary_scan.jpg">
            <a:extLst>
              <a:ext uri="{FF2B5EF4-FFF2-40B4-BE49-F238E27FC236}">
                <a16:creationId xmlns:a16="http://schemas.microsoft.com/office/drawing/2014/main" id="{0C3E16FB-1CEA-29D7-686C-3E8A613371B5}"/>
              </a:ext>
            </a:extLst>
          </p:cNvPr>
          <p:cNvPicPr>
            <a:picLocks noChangeAspect="1"/>
          </p:cNvPicPr>
          <p:nvPr/>
        </p:nvPicPr>
        <p:blipFill>
          <a:blip r:embed="rId3"/>
          <a:srcRect t="5840" r="50120" b="46809"/>
          <a:stretch>
            <a:fillRect/>
          </a:stretch>
        </p:blipFill>
        <p:spPr>
          <a:xfrm>
            <a:off x="52020" y="1103801"/>
            <a:ext cx="2981191" cy="1988732"/>
          </a:xfrm>
          <a:prstGeom prst="rect">
            <a:avLst/>
          </a:prstGeom>
        </p:spPr>
      </p:pic>
      <p:sp>
        <p:nvSpPr>
          <p:cNvPr id="6" name="Rectangle 5">
            <a:extLst>
              <a:ext uri="{FF2B5EF4-FFF2-40B4-BE49-F238E27FC236}">
                <a16:creationId xmlns:a16="http://schemas.microsoft.com/office/drawing/2014/main" id="{600F431F-C21A-15BF-60D6-7837BBBD2858}"/>
              </a:ext>
            </a:extLst>
          </p:cNvPr>
          <p:cNvSpPr/>
          <p:nvPr/>
        </p:nvSpPr>
        <p:spPr>
          <a:xfrm>
            <a:off x="4380470" y="1637270"/>
            <a:ext cx="327454" cy="43990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B8A9632-95A4-3FFF-EAB7-6023F58D548A}"/>
                  </a:ext>
                </a:extLst>
              </p:cNvPr>
              <p:cNvSpPr txBox="1"/>
              <p:nvPr/>
            </p:nvSpPr>
            <p:spPr>
              <a:xfrm>
                <a:off x="282498" y="3233520"/>
                <a:ext cx="8669110" cy="3207673"/>
              </a:xfrm>
              <a:prstGeom prst="rect">
                <a:avLst/>
              </a:prstGeom>
              <a:noFill/>
            </p:spPr>
            <p:txBody>
              <a:bodyPr wrap="square">
                <a:spAutoFit/>
              </a:bodyPr>
              <a:lstStyle/>
              <a:p>
                <a:pPr marL="285750" indent="-285750">
                  <a:buFont typeface="Arial" panose="020B0604020202020204" pitchFamily="34" charset="0"/>
                  <a:buChar char="•"/>
                </a:pPr>
                <a:r>
                  <a:rPr lang="en-US" dirty="0"/>
                  <a:t>The scan uses the transformed variable: </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a:latin typeface="Cambria Math" panose="02040503050406030204" pitchFamily="18" charset="0"/>
                        </a:rPr>
                        <m:t>=</m:t>
                      </m:r>
                      <m:func>
                        <m:funcPr>
                          <m:ctrlPr>
                            <a:rPr lang="ar-AE" i="1">
                              <a:latin typeface="Cambria Math" panose="02040503050406030204" pitchFamily="18" charset="0"/>
                            </a:rPr>
                          </m:ctrlPr>
                        </m:funcPr>
                        <m:fName>
                          <m:r>
                            <m:rPr>
                              <m:sty m:val="p"/>
                            </m:rPr>
                            <a:rPr lang="en-US">
                              <a:latin typeface="Cambria Math" panose="02040503050406030204" pitchFamily="18" charset="0"/>
                            </a:rPr>
                            <m:t>arctanh</m:t>
                          </m:r>
                        </m:fName>
                        <m:e>
                          <m:d>
                            <m:dPr>
                              <m:ctrlPr>
                                <a:rPr lang="ar-AE" i="1">
                                  <a:latin typeface="Cambria Math" panose="02040503050406030204" pitchFamily="18" charset="0"/>
                                </a:rPr>
                              </m:ctrlPr>
                            </m:dPr>
                            <m:e>
                              <m:f>
                                <m:fPr>
                                  <m:ctrlPr>
                                    <a:rPr lang="ar-AE" i="1">
                                      <a:latin typeface="Cambria Math" panose="02040503050406030204" pitchFamily="18" charset="0"/>
                                    </a:rPr>
                                  </m:ctrlPr>
                                </m:fPr>
                                <m:num>
                                  <m:r>
                                    <m:rPr>
                                      <m:nor/>
                                    </m:rPr>
                                    <a:rPr lang="en-US" i="1"/>
                                    <m:t>score</m:t>
                                  </m:r>
                                  <m:r>
                                    <a:rPr lang="en-US">
                                      <a:latin typeface="Cambria Math" panose="02040503050406030204" pitchFamily="18" charset="0"/>
                                    </a:rPr>
                                    <m:t>+</m:t>
                                  </m:r>
                                  <m:r>
                                    <a:rPr lang="en-US">
                                      <a:latin typeface="Cambria Math" panose="02040503050406030204" pitchFamily="18" charset="0"/>
                                    </a:rPr>
                                    <m:t>1</m:t>
                                  </m:r>
                                </m:num>
                                <m:den>
                                  <m:r>
                                    <a:rPr lang="ar-AE">
                                      <a:latin typeface="Cambria Math" panose="02040503050406030204" pitchFamily="18" charset="0"/>
                                    </a:rPr>
                                    <m:t>2</m:t>
                                  </m:r>
                                </m:den>
                              </m:f>
                            </m:e>
                          </m:d>
                        </m:e>
                      </m:func>
                      <m:r>
                        <a:rPr lang="en-US" b="0" i="0" smtClean="0">
                          <a:latin typeface="Cambria Math" panose="02040503050406030204" pitchFamily="18" charset="0"/>
                        </a:rPr>
                        <m:t> </m:t>
                      </m:r>
                    </m:oMath>
                  </m:oMathPara>
                </a14:m>
                <a:endParaRPr lang="en-US" b="0" dirty="0"/>
              </a:p>
              <a:p>
                <a:pPr marL="285750" indent="-285750">
                  <a:buFont typeface="Arial" panose="020B0604020202020204" pitchFamily="34" charset="0"/>
                  <a:buChar char="•"/>
                </a:pPr>
                <a:r>
                  <a:rPr lang="en-US" dirty="0"/>
                  <a:t>Following </a:t>
                </a:r>
                <a:r>
                  <a:rPr lang="en-US" i="1" dirty="0"/>
                  <a:t>AN2019_090</a:t>
                </a:r>
                <a:r>
                  <a:rPr lang="en-US" dirty="0"/>
                  <a:t>, candidate cut points are chosen at the </a:t>
                </a:r>
                <a:r>
                  <a:rPr lang="en-US" b="1" dirty="0"/>
                  <a:t>1st–99th percentiles</a:t>
                </a:r>
                <a:r>
                  <a:rPr lang="en-US" dirty="0"/>
                  <a:t> of the signal distribution in </a:t>
                </a:r>
                <a14:m>
                  <m:oMath xmlns:m="http://schemas.openxmlformats.org/officeDocument/2006/math">
                    <m:r>
                      <a:rPr lang="en-US" b="0" i="1">
                        <a:latin typeface="Cambria Math" panose="02040503050406030204" pitchFamily="18" charset="0"/>
                      </a:rPr>
                      <m:t>𝑡</m:t>
                    </m:r>
                  </m:oMath>
                </a14:m>
                <a:r>
                  <a:rPr lang="en-US" dirty="0"/>
                  <a:t>-space. </a:t>
                </a:r>
              </a:p>
              <a:p>
                <a:pPr marL="285750" indent="-285750">
                  <a:buFont typeface="Arial" panose="020B0604020202020204" pitchFamily="34" charset="0"/>
                  <a:buChar char="•"/>
                </a:pPr>
                <a:r>
                  <a:rPr lang="en-US" dirty="0"/>
                  <a:t>This produces </a:t>
                </a:r>
                <a:r>
                  <a:rPr lang="en-US" b="1" dirty="0"/>
                  <a:t>99 scan points</a:t>
                </a:r>
                <a:r>
                  <a:rPr lang="en-US" dirty="0"/>
                  <a:t>. </a:t>
                </a:r>
              </a:p>
              <a:p>
                <a:pPr marL="285750" indent="-285750">
                  <a:buFont typeface="Arial" panose="020B0604020202020204" pitchFamily="34" charset="0"/>
                  <a:buChar char="•"/>
                </a:pPr>
                <a:r>
                  <a:rPr lang="en-US" dirty="0"/>
                  <a:t>The scan points are therefore spaced by approximately </a:t>
                </a:r>
                <a:r>
                  <a:rPr lang="en-US" b="1" dirty="0"/>
                  <a:t>equal signal-efficiency intervals (~1%)</a:t>
                </a:r>
                <a:r>
                  <a:rPr lang="en-US" dirty="0"/>
                  <a:t> rather than equal score intervals. </a:t>
                </a:r>
              </a:p>
              <a:p>
                <a:pPr marL="285750" indent="-285750">
                  <a:buFont typeface="Arial" panose="020B0604020202020204" pitchFamily="34" charset="0"/>
                  <a:buChar char="•"/>
                </a:pPr>
                <a:r>
                  <a:rPr lang="en-US" dirty="0"/>
                  <a:t>As a result, the x-axis effectively represents a </a:t>
                </a:r>
                <a:r>
                  <a:rPr lang="en-US" b="1" dirty="0"/>
                  <a:t>uniform grid of signal-retention cuts</a:t>
                </a:r>
                <a:r>
                  <a:rPr lang="en-US" dirty="0"/>
                  <a:t>. </a:t>
                </a:r>
              </a:p>
              <a:p>
                <a:pPr algn="l">
                  <a:spcAft>
                    <a:spcPts val="1200"/>
                  </a:spcAft>
                  <a:buNone/>
                </a:pPr>
                <a:endParaRPr lang="en-US" b="0" i="0" dirty="0">
                  <a:solidFill>
                    <a:schemeClr val="tx1"/>
                  </a:solidFill>
                  <a:effectLst/>
                  <a:latin typeface="Segoe WPC"/>
                </a:endParaRPr>
              </a:p>
            </p:txBody>
          </p:sp>
        </mc:Choice>
        <mc:Fallback>
          <p:sp>
            <p:nvSpPr>
              <p:cNvPr id="4" name="TextBox 3">
                <a:extLst>
                  <a:ext uri="{FF2B5EF4-FFF2-40B4-BE49-F238E27FC236}">
                    <a16:creationId xmlns:a16="http://schemas.microsoft.com/office/drawing/2014/main" id="{BB8A9632-95A4-3FFF-EAB7-6023F58D548A}"/>
                  </a:ext>
                </a:extLst>
              </p:cNvPr>
              <p:cNvSpPr txBox="1">
                <a:spLocks noRot="1" noChangeAspect="1" noMove="1" noResize="1" noEditPoints="1" noAdjustHandles="1" noChangeArrowheads="1" noChangeShapeType="1" noTextEdit="1"/>
              </p:cNvSpPr>
              <p:nvPr/>
            </p:nvSpPr>
            <p:spPr>
              <a:xfrm>
                <a:off x="282498" y="3233520"/>
                <a:ext cx="8669110" cy="3207673"/>
              </a:xfrm>
              <a:prstGeom prst="rect">
                <a:avLst/>
              </a:prstGeom>
              <a:blipFill>
                <a:blip r:embed="rId4"/>
                <a:stretch>
                  <a:fillRect l="-422" t="-759"/>
                </a:stretch>
              </a:blipFill>
            </p:spPr>
            <p:txBody>
              <a:bodyPr/>
              <a:lstStyle/>
              <a:p>
                <a:r>
                  <a:rPr lang="en-US">
                    <a:noFill/>
                  </a:rPr>
                  <a:t> </a:t>
                </a:r>
              </a:p>
            </p:txBody>
          </p:sp>
        </mc:Fallback>
      </mc:AlternateContent>
      <p:pic>
        <p:nvPicPr>
          <p:cNvPr id="9" name="Picture 8" descr="c_boundary_scan.jpg"/>
          <p:cNvPicPr>
            <a:picLocks noChangeAspect="1"/>
          </p:cNvPicPr>
          <p:nvPr/>
        </p:nvPicPr>
        <p:blipFill>
          <a:blip r:embed="rId3"/>
          <a:srcRect l="50120" t="4761" b="46809"/>
          <a:stretch>
            <a:fillRect/>
          </a:stretch>
        </p:blipFill>
        <p:spPr>
          <a:xfrm>
            <a:off x="3011092" y="1043254"/>
            <a:ext cx="3003533" cy="2049279"/>
          </a:xfrm>
          <a:prstGeom prst="rect">
            <a:avLst/>
          </a:prstGeom>
        </p:spPr>
      </p:pic>
    </p:spTree>
    <p:extLst>
      <p:ext uri="{BB962C8B-B14F-4D97-AF65-F5344CB8AC3E}">
        <p14:creationId xmlns:p14="http://schemas.microsoft.com/office/powerpoint/2010/main" val="1610178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t>Final category structure</a:t>
            </a:r>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Combined eras: BDT boundaries and data/MC populations per category</a:t>
            </a:r>
            <a:endParaRPr lang="en-US" dirty="0"/>
          </a:p>
        </p:txBody>
      </p:sp>
      <p:graphicFrame>
        <p:nvGraphicFramePr>
          <p:cNvPr id="34" name="Table 33"/>
          <p:cNvGraphicFramePr>
            <a:graphicFrameLocks noGrp="1"/>
          </p:cNvGraphicFramePr>
          <p:nvPr>
            <p:extLst>
              <p:ext uri="{D42A27DB-BD31-4B8C-83A1-F6EECF244321}">
                <p14:modId xmlns:p14="http://schemas.microsoft.com/office/powerpoint/2010/main" val="1421344486"/>
              </p:ext>
            </p:extLst>
          </p:nvPr>
        </p:nvGraphicFramePr>
        <p:xfrm>
          <a:off x="457200" y="2279468"/>
          <a:ext cx="8360228" cy="2668090"/>
        </p:xfrm>
        <a:graphic>
          <a:graphicData uri="http://schemas.openxmlformats.org/drawingml/2006/table">
            <a:tbl>
              <a:tblPr firstRow="1" bandRow="1">
                <a:tableStyleId>{5C22544A-7EE6-4342-B048-85BDC9FD1C3A}</a:tableStyleId>
              </a:tblPr>
              <a:tblGrid>
                <a:gridCol w="650240">
                  <a:extLst>
                    <a:ext uri="{9D8B030D-6E8A-4147-A177-3AD203B41FA5}">
                      <a16:colId xmlns:a16="http://schemas.microsoft.com/office/drawing/2014/main" val="20000"/>
                    </a:ext>
                  </a:extLst>
                </a:gridCol>
                <a:gridCol w="1439817">
                  <a:extLst>
                    <a:ext uri="{9D8B030D-6E8A-4147-A177-3AD203B41FA5}">
                      <a16:colId xmlns:a16="http://schemas.microsoft.com/office/drawing/2014/main" val="20001"/>
                    </a:ext>
                  </a:extLst>
                </a:gridCol>
                <a:gridCol w="882469">
                  <a:extLst>
                    <a:ext uri="{9D8B030D-6E8A-4147-A177-3AD203B41FA5}">
                      <a16:colId xmlns:a16="http://schemas.microsoft.com/office/drawing/2014/main" val="20002"/>
                    </a:ext>
                  </a:extLst>
                </a:gridCol>
                <a:gridCol w="1300480">
                  <a:extLst>
                    <a:ext uri="{9D8B030D-6E8A-4147-A177-3AD203B41FA5}">
                      <a16:colId xmlns:a16="http://schemas.microsoft.com/office/drawing/2014/main" val="20003"/>
                    </a:ext>
                  </a:extLst>
                </a:gridCol>
                <a:gridCol w="1393371">
                  <a:extLst>
                    <a:ext uri="{9D8B030D-6E8A-4147-A177-3AD203B41FA5}">
                      <a16:colId xmlns:a16="http://schemas.microsoft.com/office/drawing/2014/main" val="20004"/>
                    </a:ext>
                  </a:extLst>
                </a:gridCol>
                <a:gridCol w="1393371">
                  <a:extLst>
                    <a:ext uri="{9D8B030D-6E8A-4147-A177-3AD203B41FA5}">
                      <a16:colId xmlns:a16="http://schemas.microsoft.com/office/drawing/2014/main" val="20005"/>
                    </a:ext>
                  </a:extLst>
                </a:gridCol>
                <a:gridCol w="1300480">
                  <a:extLst>
                    <a:ext uri="{9D8B030D-6E8A-4147-A177-3AD203B41FA5}">
                      <a16:colId xmlns:a16="http://schemas.microsoft.com/office/drawing/2014/main" val="20006"/>
                    </a:ext>
                  </a:extLst>
                </a:gridCol>
              </a:tblGrid>
              <a:tr h="533618">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Width</a:t>
                      </a:r>
                    </a:p>
                  </a:txBody>
                  <a:tcPr marL="45720" marR="45720" marT="18288" marB="18288">
                    <a:solidFill>
                      <a:srgbClr val="000000"/>
                    </a:solidFill>
                  </a:tcPr>
                </a:tc>
                <a:tc>
                  <a:txBody>
                    <a:bodyPr/>
                    <a:lstStyle/>
                    <a:p>
                      <a:pPr algn="ctr"/>
                      <a:r>
                        <a:rPr sz="1000" b="1">
                          <a:solidFill>
                            <a:srgbClr val="FFFFFF"/>
                          </a:solidFill>
                          <a:latin typeface="Calibri"/>
                        </a:rPr>
                        <a:t>Data (SB)</a:t>
                      </a:r>
                    </a:p>
                  </a:txBody>
                  <a:tcPr marL="45720" marR="45720" marT="18288" marB="18288">
                    <a:solidFill>
                      <a:srgbClr val="000000"/>
                    </a:solidFill>
                  </a:tcPr>
                </a:tc>
                <a:tc>
                  <a:txBody>
                    <a:bodyPr/>
                    <a:lstStyle/>
                    <a:p>
                      <a:pPr algn="ctr"/>
                      <a:r>
                        <a:rPr sz="1000" b="1">
                          <a:solidFill>
                            <a:srgbClr val="FFFFFF"/>
                          </a:solidFill>
                          <a:latin typeface="Calibri"/>
                        </a:rPr>
                        <a:t>MC full</a:t>
                      </a:r>
                    </a:p>
                  </a:txBody>
                  <a:tcPr marL="45720" marR="45720" marT="18288" marB="18288">
                    <a:solidFill>
                      <a:srgbClr val="000000"/>
                    </a:solidFill>
                  </a:tcPr>
                </a:tc>
                <a:tc>
                  <a:txBody>
                    <a:bodyPr/>
                    <a:lstStyle/>
                    <a:p>
                      <a:pPr algn="ctr"/>
                      <a:r>
                        <a:rPr sz="1000" b="1">
                          <a:solidFill>
                            <a:srgbClr val="FFFFFF"/>
                          </a:solidFill>
                          <a:latin typeface="Calibri"/>
                        </a:rPr>
                        <a:t>VBF sig. frac.</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533618">
                <a:tc>
                  <a:txBody>
                    <a:bodyPr/>
                    <a:lstStyle/>
                    <a:p>
                      <a:pPr algn="ctr"/>
                      <a:r>
                        <a:rPr sz="1000" b="1">
                          <a:solidFill>
                            <a:srgbClr val="FFFFFF"/>
                          </a:solidFill>
                          <a:latin typeface="Calibri"/>
                        </a:rPr>
                        <a:t>0</a:t>
                      </a:r>
                    </a:p>
                  </a:txBody>
                  <a:tcPr marL="45720" marR="45720" marT="18288" marB="18288">
                    <a:solidFill>
                      <a:srgbClr val="1A1A1A"/>
                    </a:solidFill>
                  </a:tcPr>
                </a:tc>
                <a:tc>
                  <a:txBody>
                    <a:bodyPr/>
                    <a:lstStyle/>
                    <a:p>
                      <a:pPr algn="ctr"/>
                      <a:r>
                        <a:rPr sz="1000" b="0">
                          <a:solidFill>
                            <a:srgbClr val="1A1A1A"/>
                          </a:solidFill>
                          <a:latin typeface="Calibri"/>
                        </a:rPr>
                        <a:t>[0.000, 0.906)</a:t>
                      </a:r>
                    </a:p>
                  </a:txBody>
                  <a:tcPr marL="45720" marR="45720" marT="18288" marB="18288">
                    <a:solidFill>
                      <a:srgbClr val="FFFFFF"/>
                    </a:solidFill>
                  </a:tcPr>
                </a:tc>
                <a:tc>
                  <a:txBody>
                    <a:bodyPr/>
                    <a:lstStyle/>
                    <a:p>
                      <a:pPr algn="ctr"/>
                      <a:r>
                        <a:rPr sz="1000" b="0">
                          <a:solidFill>
                            <a:srgbClr val="1A1A1A"/>
                          </a:solidFill>
                          <a:latin typeface="Calibri"/>
                        </a:rPr>
                        <a:t>0.906</a:t>
                      </a:r>
                    </a:p>
                  </a:txBody>
                  <a:tcPr marL="45720" marR="45720" marT="18288" marB="18288">
                    <a:solidFill>
                      <a:srgbClr val="FFFFFF"/>
                    </a:solidFill>
                  </a:tcPr>
                </a:tc>
                <a:tc>
                  <a:txBody>
                    <a:bodyPr/>
                    <a:lstStyle/>
                    <a:p>
                      <a:pPr algn="ctr"/>
                      <a:r>
                        <a:rPr sz="1000" b="0">
                          <a:solidFill>
                            <a:srgbClr val="1A1A1A"/>
                          </a:solidFill>
                          <a:latin typeface="Calibri"/>
                        </a:rPr>
                        <a:t>24,134</a:t>
                      </a:r>
                    </a:p>
                  </a:txBody>
                  <a:tcPr marL="45720" marR="45720" marT="18288" marB="18288">
                    <a:solidFill>
                      <a:srgbClr val="FFFFFF"/>
                    </a:solidFill>
                  </a:tcPr>
                </a:tc>
                <a:tc>
                  <a:txBody>
                    <a:bodyPr/>
                    <a:lstStyle/>
                    <a:p>
                      <a:pPr algn="ctr"/>
                      <a:r>
                        <a:rPr sz="1000" b="0">
                          <a:solidFill>
                            <a:srgbClr val="1A1A1A"/>
                          </a:solidFill>
                          <a:latin typeface="Calibri"/>
                        </a:rPr>
                        <a:t>389,225.5</a:t>
                      </a:r>
                    </a:p>
                  </a:txBody>
                  <a:tcPr marL="45720" marR="45720" marT="18288" marB="18288">
                    <a:solidFill>
                      <a:srgbClr val="FFFFFF"/>
                    </a:solidFill>
                  </a:tcPr>
                </a:tc>
                <a:tc>
                  <a:txBody>
                    <a:bodyPr/>
                    <a:lstStyle/>
                    <a:p>
                      <a:pPr algn="ctr"/>
                      <a:r>
                        <a:rPr sz="1000" b="0">
                          <a:solidFill>
                            <a:srgbClr val="1A1A1A"/>
                          </a:solidFill>
                          <a:latin typeface="Calibri"/>
                        </a:rPr>
                        <a:t>0.16 %</a:t>
                      </a:r>
                    </a:p>
                  </a:txBody>
                  <a:tcPr marL="45720" marR="45720" marT="18288" marB="18288">
                    <a:solidFill>
                      <a:srgbClr val="FFFFFF"/>
                    </a:solidFill>
                  </a:tcPr>
                </a:tc>
                <a:tc>
                  <a:txBody>
                    <a:bodyPr/>
                    <a:lstStyle/>
                    <a:p>
                      <a:pPr algn="ctr"/>
                      <a:r>
                        <a:rPr sz="1000" b="0">
                          <a:solidFill>
                            <a:srgbClr val="1A1A1A"/>
                          </a:solidFill>
                          <a:latin typeface="Calibri"/>
                        </a:rPr>
                        <a:t>0.169</a:t>
                      </a:r>
                    </a:p>
                  </a:txBody>
                  <a:tcPr marL="45720" marR="45720" marT="18288" marB="18288">
                    <a:solidFill>
                      <a:srgbClr val="FFFFFF"/>
                    </a:solidFill>
                  </a:tcPr>
                </a:tc>
                <a:extLst>
                  <a:ext uri="{0D108BD9-81ED-4DB2-BD59-A6C34878D82A}">
                    <a16:rowId xmlns:a16="http://schemas.microsoft.com/office/drawing/2014/main" val="10001"/>
                  </a:ext>
                </a:extLst>
              </a:tr>
              <a:tr h="533618">
                <a:tc>
                  <a:txBody>
                    <a:bodyPr/>
                    <a:lstStyle/>
                    <a:p>
                      <a:pPr algn="ctr"/>
                      <a:r>
                        <a:rPr sz="1000" b="1">
                          <a:solidFill>
                            <a:srgbClr val="FFFFFF"/>
                          </a:solidFill>
                          <a:latin typeface="Calibri"/>
                        </a:rPr>
                        <a:t>1</a:t>
                      </a:r>
                    </a:p>
                  </a:txBody>
                  <a:tcPr marL="45720" marR="45720" marT="18288" marB="18288">
                    <a:solidFill>
                      <a:srgbClr val="1B365D"/>
                    </a:solidFill>
                  </a:tcPr>
                </a:tc>
                <a:tc>
                  <a:txBody>
                    <a:bodyPr/>
                    <a:lstStyle/>
                    <a:p>
                      <a:pPr algn="ctr"/>
                      <a:r>
                        <a:rPr sz="1000" b="0">
                          <a:solidFill>
                            <a:srgbClr val="1A1A1A"/>
                          </a:solidFill>
                          <a:latin typeface="Calibri"/>
                        </a:rPr>
                        <a:t>[0.906, 0.984)</a:t>
                      </a:r>
                    </a:p>
                  </a:txBody>
                  <a:tcPr marL="45720" marR="45720" marT="18288" marB="18288">
                    <a:solidFill>
                      <a:srgbClr val="FFFFFF"/>
                    </a:solidFill>
                  </a:tcPr>
                </a:tc>
                <a:tc>
                  <a:txBody>
                    <a:bodyPr/>
                    <a:lstStyle/>
                    <a:p>
                      <a:pPr algn="ctr"/>
                      <a:r>
                        <a:rPr sz="1000" b="0">
                          <a:solidFill>
                            <a:srgbClr val="1A1A1A"/>
                          </a:solidFill>
                          <a:latin typeface="Calibri"/>
                        </a:rPr>
                        <a:t>0.078</a:t>
                      </a:r>
                    </a:p>
                  </a:txBody>
                  <a:tcPr marL="45720" marR="45720" marT="18288" marB="18288">
                    <a:solidFill>
                      <a:srgbClr val="FFFFFF"/>
                    </a:solidFill>
                  </a:tcPr>
                </a:tc>
                <a:tc>
                  <a:txBody>
                    <a:bodyPr/>
                    <a:lstStyle/>
                    <a:p>
                      <a:pPr algn="ctr"/>
                      <a:r>
                        <a:rPr sz="1000" b="0">
                          <a:solidFill>
                            <a:srgbClr val="1A1A1A"/>
                          </a:solidFill>
                          <a:latin typeface="Calibri"/>
                        </a:rPr>
                        <a:t>639</a:t>
                      </a:r>
                    </a:p>
                  </a:txBody>
                  <a:tcPr marL="45720" marR="45720" marT="18288" marB="18288">
                    <a:solidFill>
                      <a:srgbClr val="FFFFFF"/>
                    </a:solidFill>
                  </a:tcPr>
                </a:tc>
                <a:tc>
                  <a:txBody>
                    <a:bodyPr/>
                    <a:lstStyle/>
                    <a:p>
                      <a:pPr algn="ctr"/>
                      <a:r>
                        <a:rPr sz="1000" b="0">
                          <a:solidFill>
                            <a:srgbClr val="1A1A1A"/>
                          </a:solidFill>
                          <a:latin typeface="Calibri"/>
                        </a:rPr>
                        <a:t>6,476.5</a:t>
                      </a:r>
                    </a:p>
                  </a:txBody>
                  <a:tcPr marL="45720" marR="45720" marT="18288" marB="18288">
                    <a:solidFill>
                      <a:srgbClr val="FFFFFF"/>
                    </a:solidFill>
                  </a:tcPr>
                </a:tc>
                <a:tc>
                  <a:txBody>
                    <a:bodyPr/>
                    <a:lstStyle/>
                    <a:p>
                      <a:pPr algn="ctr"/>
                      <a:r>
                        <a:rPr sz="1000" b="0">
                          <a:solidFill>
                            <a:srgbClr val="1A1A1A"/>
                          </a:solidFill>
                          <a:latin typeface="Calibri"/>
                        </a:rPr>
                        <a:t>4.7 %</a:t>
                      </a:r>
                    </a:p>
                  </a:txBody>
                  <a:tcPr marL="45720" marR="45720" marT="18288" marB="18288">
                    <a:solidFill>
                      <a:srgbClr val="FFFFFF"/>
                    </a:solidFill>
                  </a:tcPr>
                </a:tc>
                <a:tc>
                  <a:txBody>
                    <a:bodyPr/>
                    <a:lstStyle/>
                    <a:p>
                      <a:pPr algn="ctr"/>
                      <a:r>
                        <a:rPr sz="1000" b="0">
                          <a:solidFill>
                            <a:srgbClr val="1A1A1A"/>
                          </a:solidFill>
                          <a:latin typeface="Calibri"/>
                        </a:rPr>
                        <a:t>0.796</a:t>
                      </a:r>
                    </a:p>
                  </a:txBody>
                  <a:tcPr marL="45720" marR="45720" marT="18288" marB="18288">
                    <a:solidFill>
                      <a:srgbClr val="FFFFFF"/>
                    </a:solidFill>
                  </a:tcPr>
                </a:tc>
                <a:extLst>
                  <a:ext uri="{0D108BD9-81ED-4DB2-BD59-A6C34878D82A}">
                    <a16:rowId xmlns:a16="http://schemas.microsoft.com/office/drawing/2014/main" val="10002"/>
                  </a:ext>
                </a:extLst>
              </a:tr>
              <a:tr h="533618">
                <a:tc>
                  <a:txBody>
                    <a:bodyPr/>
                    <a:lstStyle/>
                    <a:p>
                      <a:pPr algn="ctr"/>
                      <a:r>
                        <a:rPr sz="1000" b="1" dirty="0">
                          <a:solidFill>
                            <a:srgbClr val="FFFFFF"/>
                          </a:solidFill>
                          <a:latin typeface="Calibri"/>
                        </a:rPr>
                        <a:t>2</a:t>
                      </a:r>
                    </a:p>
                  </a:txBody>
                  <a:tcPr marL="45720" marR="45720" marT="18288" marB="18288">
                    <a:solidFill>
                      <a:srgbClr val="C18A2F"/>
                    </a:solidFill>
                  </a:tcPr>
                </a:tc>
                <a:tc>
                  <a:txBody>
                    <a:bodyPr/>
                    <a:lstStyle/>
                    <a:p>
                      <a:pPr algn="ctr"/>
                      <a:r>
                        <a:rPr sz="1000" b="0">
                          <a:solidFill>
                            <a:srgbClr val="1A1A1A"/>
                          </a:solidFill>
                          <a:latin typeface="Calibri"/>
                        </a:rPr>
                        <a:t>[0.984, 0.990)</a:t>
                      </a:r>
                    </a:p>
                  </a:txBody>
                  <a:tcPr marL="45720" marR="45720" marT="18288" marB="18288">
                    <a:solidFill>
                      <a:srgbClr val="FFFFFF"/>
                    </a:solidFill>
                  </a:tcPr>
                </a:tc>
                <a:tc>
                  <a:txBody>
                    <a:bodyPr/>
                    <a:lstStyle/>
                    <a:p>
                      <a:pPr algn="ctr"/>
                      <a:r>
                        <a:rPr sz="1000" b="0">
                          <a:solidFill>
                            <a:srgbClr val="1A1A1A"/>
                          </a:solidFill>
                          <a:latin typeface="Calibri"/>
                        </a:rPr>
                        <a:t>0.006</a:t>
                      </a:r>
                    </a:p>
                  </a:txBody>
                  <a:tcPr marL="45720" marR="45720" marT="18288" marB="18288">
                    <a:solidFill>
                      <a:srgbClr val="FFFFFF"/>
                    </a:solidFill>
                  </a:tcPr>
                </a:tc>
                <a:tc>
                  <a:txBody>
                    <a:bodyPr/>
                    <a:lstStyle/>
                    <a:p>
                      <a:pPr algn="ctr"/>
                      <a:r>
                        <a:rPr sz="1000" b="0">
                          <a:solidFill>
                            <a:srgbClr val="1A1A1A"/>
                          </a:solidFill>
                          <a:latin typeface="Calibri"/>
                        </a:rPr>
                        <a:t>43</a:t>
                      </a:r>
                    </a:p>
                  </a:txBody>
                  <a:tcPr marL="45720" marR="45720" marT="18288" marB="18288">
                    <a:solidFill>
                      <a:srgbClr val="FFFFFF"/>
                    </a:solidFill>
                  </a:tcPr>
                </a:tc>
                <a:tc>
                  <a:txBody>
                    <a:bodyPr/>
                    <a:lstStyle/>
                    <a:p>
                      <a:pPr algn="ctr"/>
                      <a:r>
                        <a:rPr sz="1000" b="0" dirty="0">
                          <a:solidFill>
                            <a:srgbClr val="1A1A1A"/>
                          </a:solidFill>
                          <a:latin typeface="Calibri"/>
                        </a:rPr>
                        <a:t>317.6</a:t>
                      </a:r>
                    </a:p>
                  </a:txBody>
                  <a:tcPr marL="45720" marR="45720" marT="18288" marB="18288">
                    <a:solidFill>
                      <a:srgbClr val="FFFFFF"/>
                    </a:solidFill>
                  </a:tcPr>
                </a:tc>
                <a:tc>
                  <a:txBody>
                    <a:bodyPr/>
                    <a:lstStyle/>
                    <a:p>
                      <a:pPr algn="ctr"/>
                      <a:r>
                        <a:rPr sz="1000" b="0">
                          <a:solidFill>
                            <a:srgbClr val="1A1A1A"/>
                          </a:solidFill>
                          <a:latin typeface="Calibri"/>
                        </a:rPr>
                        <a:t>16.0 %</a:t>
                      </a:r>
                    </a:p>
                  </a:txBody>
                  <a:tcPr marL="45720" marR="45720" marT="18288" marB="18288">
                    <a:solidFill>
                      <a:srgbClr val="FFFFFF"/>
                    </a:solidFill>
                  </a:tcPr>
                </a:tc>
                <a:tc>
                  <a:txBody>
                    <a:bodyPr/>
                    <a:lstStyle/>
                    <a:p>
                      <a:pPr algn="ctr"/>
                      <a:r>
                        <a:rPr sz="1000" b="0">
                          <a:solidFill>
                            <a:srgbClr val="1A1A1A"/>
                          </a:solidFill>
                          <a:latin typeface="Calibri"/>
                        </a:rPr>
                        <a:t>0.696</a:t>
                      </a:r>
                    </a:p>
                  </a:txBody>
                  <a:tcPr marL="45720" marR="45720" marT="18288" marB="18288">
                    <a:solidFill>
                      <a:srgbClr val="FFFFFF"/>
                    </a:solidFill>
                  </a:tcPr>
                </a:tc>
                <a:extLst>
                  <a:ext uri="{0D108BD9-81ED-4DB2-BD59-A6C34878D82A}">
                    <a16:rowId xmlns:a16="http://schemas.microsoft.com/office/drawing/2014/main" val="10003"/>
                  </a:ext>
                </a:extLst>
              </a:tr>
              <a:tr h="533618">
                <a:tc>
                  <a:txBody>
                    <a:bodyPr/>
                    <a:lstStyle/>
                    <a:p>
                      <a:pPr algn="ctr"/>
                      <a:r>
                        <a:rPr sz="1000" b="1" dirty="0">
                          <a:solidFill>
                            <a:srgbClr val="000000"/>
                          </a:solidFill>
                          <a:latin typeface="Calibri"/>
                        </a:rPr>
                        <a:t>3</a:t>
                      </a:r>
                    </a:p>
                  </a:txBody>
                  <a:tcPr marL="45720" marR="45720" marT="18288" marB="18288">
                    <a:solidFill>
                      <a:srgbClr val="FFCD00"/>
                    </a:solidFill>
                  </a:tcPr>
                </a:tc>
                <a:tc>
                  <a:txBody>
                    <a:bodyPr/>
                    <a:lstStyle/>
                    <a:p>
                      <a:pPr algn="ctr"/>
                      <a:r>
                        <a:rPr sz="1000" b="1">
                          <a:solidFill>
                            <a:srgbClr val="1A1A1A"/>
                          </a:solidFill>
                          <a:latin typeface="Calibri"/>
                        </a:rPr>
                        <a:t>[0.990, 1.000)</a:t>
                      </a:r>
                    </a:p>
                  </a:txBody>
                  <a:tcPr marL="45720" marR="45720" marT="18288" marB="18288">
                    <a:solidFill>
                      <a:srgbClr val="FFFFFF"/>
                    </a:solidFill>
                  </a:tcPr>
                </a:tc>
                <a:tc>
                  <a:txBody>
                    <a:bodyPr/>
                    <a:lstStyle/>
                    <a:p>
                      <a:pPr algn="ctr"/>
                      <a:r>
                        <a:rPr sz="1000" b="0">
                          <a:solidFill>
                            <a:srgbClr val="1A1A1A"/>
                          </a:solidFill>
                          <a:latin typeface="Calibri"/>
                        </a:rPr>
                        <a:t>0.010</a:t>
                      </a:r>
                    </a:p>
                  </a:txBody>
                  <a:tcPr marL="45720" marR="45720" marT="18288" marB="18288">
                    <a:solidFill>
                      <a:srgbClr val="FFFFFF"/>
                    </a:solidFill>
                  </a:tcPr>
                </a:tc>
                <a:tc>
                  <a:txBody>
                    <a:bodyPr/>
                    <a:lstStyle/>
                    <a:p>
                      <a:pPr algn="ctr"/>
                      <a:r>
                        <a:rPr sz="1000" b="1">
                          <a:solidFill>
                            <a:srgbClr val="1A1A1A"/>
                          </a:solidFill>
                          <a:latin typeface="Calibri"/>
                        </a:rPr>
                        <a:t>22</a:t>
                      </a:r>
                    </a:p>
                  </a:txBody>
                  <a:tcPr marL="45720" marR="45720" marT="18288" marB="18288">
                    <a:solidFill>
                      <a:srgbClr val="FFFFFF"/>
                    </a:solidFill>
                  </a:tcPr>
                </a:tc>
                <a:tc>
                  <a:txBody>
                    <a:bodyPr/>
                    <a:lstStyle/>
                    <a:p>
                      <a:pPr algn="ctr"/>
                      <a:r>
                        <a:rPr sz="1000" b="1">
                          <a:solidFill>
                            <a:srgbClr val="1A1A1A"/>
                          </a:solidFill>
                          <a:latin typeface="Calibri"/>
                        </a:rPr>
                        <a:t>214.1</a:t>
                      </a:r>
                    </a:p>
                  </a:txBody>
                  <a:tcPr marL="45720" marR="45720" marT="18288" marB="18288">
                    <a:solidFill>
                      <a:srgbClr val="FFFFFF"/>
                    </a:solidFill>
                  </a:tcPr>
                </a:tc>
                <a:tc>
                  <a:txBody>
                    <a:bodyPr/>
                    <a:lstStyle/>
                    <a:p>
                      <a:pPr algn="ctr"/>
                      <a:r>
                        <a:rPr sz="1000" b="1">
                          <a:solidFill>
                            <a:srgbClr val="1A1A1A"/>
                          </a:solidFill>
                          <a:latin typeface="Calibri"/>
                        </a:rPr>
                        <a:t>27.9 %</a:t>
                      </a:r>
                    </a:p>
                  </a:txBody>
                  <a:tcPr marL="45720" marR="45720" marT="18288" marB="18288">
                    <a:solidFill>
                      <a:srgbClr val="F4E07F"/>
                    </a:solidFill>
                  </a:tcPr>
                </a:tc>
                <a:tc>
                  <a:txBody>
                    <a:bodyPr/>
                    <a:lstStyle/>
                    <a:p>
                      <a:pPr algn="ctr"/>
                      <a:r>
                        <a:rPr sz="1000" b="1" dirty="0">
                          <a:solidFill>
                            <a:srgbClr val="1A1A1A"/>
                          </a:solidFill>
                          <a:latin typeface="Calibri"/>
                        </a:rPr>
                        <a:t>1.167</a:t>
                      </a:r>
                    </a:p>
                  </a:txBody>
                  <a:tcPr marL="45720" marR="45720" marT="18288" marB="18288">
                    <a:solidFill>
                      <a:srgbClr val="F4E07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4860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rPr sz="3200"/>
              <a:t>Per-era boundaries</a:t>
            </a:r>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Boundaries are re-optimised per era — 2025 collapses to 3 categories</a:t>
            </a:r>
            <a:endParaRPr lang="en-US" dirty="0"/>
          </a:p>
        </p:txBody>
      </p:sp>
      <p:graphicFrame>
        <p:nvGraphicFramePr>
          <p:cNvPr id="6" name="Table 5"/>
          <p:cNvGraphicFramePr>
            <a:graphicFrameLocks noGrp="1"/>
          </p:cNvGraphicFramePr>
          <p:nvPr/>
        </p:nvGraphicFramePr>
        <p:xfrm>
          <a:off x="457200" y="1417320"/>
          <a:ext cx="7498080" cy="36576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457200">
                <a:tc>
                  <a:txBody>
                    <a:bodyPr/>
                    <a:lstStyle/>
                    <a:p>
                      <a:pPr algn="ctr"/>
                      <a:r>
                        <a:rPr sz="1000" b="1">
                          <a:solidFill>
                            <a:srgbClr val="FFFFFF"/>
                          </a:solidFill>
                          <a:latin typeface="Calibri"/>
                        </a:rPr>
                        <a:t>Era</a:t>
                      </a:r>
                    </a:p>
                  </a:txBody>
                  <a:tcPr marL="45720" marR="45720" marT="18288" marB="18288">
                    <a:solidFill>
                      <a:srgbClr val="000000"/>
                    </a:solidFill>
                  </a:tcPr>
                </a:tc>
                <a:tc>
                  <a:txBody>
                    <a:bodyPr/>
                    <a:lstStyle/>
                    <a:p>
                      <a:pPr algn="ctr"/>
                      <a:r>
                        <a:rPr sz="1000" b="1">
                          <a:solidFill>
                            <a:srgbClr val="FFFFFF"/>
                          </a:solidFill>
                          <a:latin typeface="Calibri"/>
                        </a:rPr>
                        <a:t>Cat 0</a:t>
                      </a:r>
                    </a:p>
                  </a:txBody>
                  <a:tcPr marL="45720" marR="45720" marT="18288" marB="18288">
                    <a:solidFill>
                      <a:srgbClr val="000000"/>
                    </a:solidFill>
                  </a:tcPr>
                </a:tc>
                <a:tc>
                  <a:txBody>
                    <a:bodyPr/>
                    <a:lstStyle/>
                    <a:p>
                      <a:pPr algn="ctr"/>
                      <a:r>
                        <a:rPr sz="1000" b="1">
                          <a:solidFill>
                            <a:srgbClr val="FFFFFF"/>
                          </a:solidFill>
                          <a:latin typeface="Calibri"/>
                        </a:rPr>
                        <a:t>Cat 1</a:t>
                      </a:r>
                    </a:p>
                  </a:txBody>
                  <a:tcPr marL="45720" marR="45720" marT="18288" marB="18288">
                    <a:solidFill>
                      <a:srgbClr val="000000"/>
                    </a:solidFill>
                  </a:tcPr>
                </a:tc>
                <a:tc>
                  <a:txBody>
                    <a:bodyPr/>
                    <a:lstStyle/>
                    <a:p>
                      <a:pPr algn="ctr"/>
                      <a:r>
                        <a:rPr sz="1000" b="1">
                          <a:solidFill>
                            <a:srgbClr val="FFFFFF"/>
                          </a:solidFill>
                          <a:latin typeface="Calibri"/>
                        </a:rPr>
                        <a:t>Cat 2</a:t>
                      </a:r>
                    </a:p>
                  </a:txBody>
                  <a:tcPr marL="45720" marR="45720" marT="18288" marB="18288">
                    <a:solidFill>
                      <a:srgbClr val="000000"/>
                    </a:solidFill>
                  </a:tcPr>
                </a:tc>
                <a:tc>
                  <a:txBody>
                    <a:bodyPr/>
                    <a:lstStyle/>
                    <a:p>
                      <a:pPr algn="ctr"/>
                      <a:r>
                        <a:rPr sz="1000" b="1">
                          <a:solidFill>
                            <a:srgbClr val="FFFFFF"/>
                          </a:solidFill>
                          <a:latin typeface="Calibri"/>
                        </a:rPr>
                        <a:t>Cat 3</a:t>
                      </a:r>
                    </a:p>
                  </a:txBody>
                  <a:tcPr marL="45720" marR="45720" marT="18288" marB="18288">
                    <a:solidFill>
                      <a:srgbClr val="000000"/>
                    </a:solidFill>
                  </a:tcPr>
                </a:tc>
                <a:tc>
                  <a:txBody>
                    <a:bodyPr/>
                    <a:lstStyle/>
                    <a:p>
                      <a:pPr algn="ctr"/>
                      <a:r>
                        <a:rPr sz="1000" b="1">
                          <a:solidFill>
                            <a:srgbClr val="FFFFFF"/>
                          </a:solidFill>
                          <a:latin typeface="Calibri"/>
                        </a:rPr>
                        <a:t>N</a:t>
                      </a:r>
                    </a:p>
                  </a:txBody>
                  <a:tcPr marL="45720" marR="45720" marT="18288" marB="18288">
                    <a:solidFill>
                      <a:srgbClr val="000000"/>
                    </a:solidFill>
                  </a:tcPr>
                </a:tc>
                <a:extLst>
                  <a:ext uri="{0D108BD9-81ED-4DB2-BD59-A6C34878D82A}">
                    <a16:rowId xmlns:a16="http://schemas.microsoft.com/office/drawing/2014/main" val="10000"/>
                  </a:ext>
                </a:extLst>
              </a:tr>
              <a:tr h="457200">
                <a:tc>
                  <a:txBody>
                    <a:bodyPr/>
                    <a:lstStyle/>
                    <a:p>
                      <a:pPr algn="ctr"/>
                      <a:r>
                        <a:rPr sz="1000" b="1">
                          <a:solidFill>
                            <a:srgbClr val="1A1A1A"/>
                          </a:solidFill>
                          <a:latin typeface="Calibri"/>
                        </a:rPr>
                        <a:t>12022</a:t>
                      </a:r>
                    </a:p>
                  </a:txBody>
                  <a:tcPr marL="45720" marR="45720" marT="18288" marB="18288">
                    <a:solidFill>
                      <a:srgbClr val="FFFFFF"/>
                    </a:solidFill>
                  </a:tcPr>
                </a:tc>
                <a:tc>
                  <a:txBody>
                    <a:bodyPr/>
                    <a:lstStyle/>
                    <a:p>
                      <a:pPr algn="ctr"/>
                      <a:r>
                        <a:rPr sz="1000" b="0">
                          <a:solidFill>
                            <a:srgbClr val="1A1A1A"/>
                          </a:solidFill>
                          <a:latin typeface="Calibri"/>
                        </a:rPr>
                        <a:t>[0.000, 0.938)</a:t>
                      </a:r>
                    </a:p>
                  </a:txBody>
                  <a:tcPr marL="45720" marR="45720" marT="18288" marB="18288">
                    <a:solidFill>
                      <a:srgbClr val="FFFFFF"/>
                    </a:solidFill>
                  </a:tcPr>
                </a:tc>
                <a:tc>
                  <a:txBody>
                    <a:bodyPr/>
                    <a:lstStyle/>
                    <a:p>
                      <a:pPr algn="ctr"/>
                      <a:r>
                        <a:rPr sz="1000" b="0">
                          <a:solidFill>
                            <a:srgbClr val="1A1A1A"/>
                          </a:solidFill>
                          <a:latin typeface="Calibri"/>
                        </a:rPr>
                        <a:t>[0.938, 0.985)</a:t>
                      </a:r>
                    </a:p>
                  </a:txBody>
                  <a:tcPr marL="45720" marR="45720" marT="18288" marB="18288">
                    <a:solidFill>
                      <a:srgbClr val="FFFFFF"/>
                    </a:solidFill>
                  </a:tcPr>
                </a:tc>
                <a:tc>
                  <a:txBody>
                    <a:bodyPr/>
                    <a:lstStyle/>
                    <a:p>
                      <a:pPr algn="ctr"/>
                      <a:r>
                        <a:rPr sz="1000" b="0">
                          <a:solidFill>
                            <a:srgbClr val="1A1A1A"/>
                          </a:solidFill>
                          <a:latin typeface="Calibri"/>
                        </a:rPr>
                        <a:t>[0.985, 0.991)</a:t>
                      </a:r>
                    </a:p>
                  </a:txBody>
                  <a:tcPr marL="45720" marR="45720" marT="18288" marB="18288">
                    <a:solidFill>
                      <a:srgbClr val="FFFFFF"/>
                    </a:solidFill>
                  </a:tcPr>
                </a:tc>
                <a:tc>
                  <a:txBody>
                    <a:bodyPr/>
                    <a:lstStyle/>
                    <a:p>
                      <a:pPr algn="ctr"/>
                      <a:r>
                        <a:rPr sz="1000" b="0">
                          <a:solidFill>
                            <a:srgbClr val="1A1A1A"/>
                          </a:solidFill>
                          <a:latin typeface="Calibri"/>
                        </a:rPr>
                        <a:t>[0.991, 1.000)</a:t>
                      </a:r>
                    </a:p>
                  </a:txBody>
                  <a:tcPr marL="45720" marR="45720" marT="18288" marB="18288">
                    <a:solidFill>
                      <a:srgbClr val="FFFFFF"/>
                    </a:solidFill>
                  </a:tcPr>
                </a:tc>
                <a:tc>
                  <a:txBody>
                    <a:bodyPr/>
                    <a:lstStyle/>
                    <a:p>
                      <a:pPr algn="ctr"/>
                      <a:r>
                        <a:rPr sz="1000" b="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1"/>
                  </a:ext>
                </a:extLst>
              </a:tr>
              <a:tr h="457200">
                <a:tc>
                  <a:txBody>
                    <a:bodyPr/>
                    <a:lstStyle/>
                    <a:p>
                      <a:pPr algn="ctr"/>
                      <a:r>
                        <a:rPr sz="1000" b="1">
                          <a:solidFill>
                            <a:srgbClr val="1A1A1A"/>
                          </a:solidFill>
                          <a:latin typeface="Calibri"/>
                        </a:rPr>
                        <a:t>12023</a:t>
                      </a:r>
                    </a:p>
                  </a:txBody>
                  <a:tcPr marL="45720" marR="45720" marT="18288" marB="18288">
                    <a:solidFill>
                      <a:srgbClr val="FFFFFF"/>
                    </a:solidFill>
                  </a:tcPr>
                </a:tc>
                <a:tc>
                  <a:txBody>
                    <a:bodyPr/>
                    <a:lstStyle/>
                    <a:p>
                      <a:pPr algn="ctr"/>
                      <a:r>
                        <a:rPr sz="1000" b="0">
                          <a:solidFill>
                            <a:srgbClr val="1A1A1A"/>
                          </a:solidFill>
                          <a:latin typeface="Calibri"/>
                        </a:rPr>
                        <a:t>[0.000, 0.928)</a:t>
                      </a:r>
                    </a:p>
                  </a:txBody>
                  <a:tcPr marL="45720" marR="45720" marT="18288" marB="18288">
                    <a:solidFill>
                      <a:srgbClr val="FFFFFF"/>
                    </a:solidFill>
                  </a:tcPr>
                </a:tc>
                <a:tc>
                  <a:txBody>
                    <a:bodyPr/>
                    <a:lstStyle/>
                    <a:p>
                      <a:pPr algn="ctr"/>
                      <a:r>
                        <a:rPr sz="1000" b="0">
                          <a:solidFill>
                            <a:srgbClr val="1A1A1A"/>
                          </a:solidFill>
                          <a:latin typeface="Calibri"/>
                        </a:rPr>
                        <a:t>[0.928, 0.964)</a:t>
                      </a:r>
                    </a:p>
                  </a:txBody>
                  <a:tcPr marL="45720" marR="45720" marT="18288" marB="18288">
                    <a:solidFill>
                      <a:srgbClr val="FFFFFF"/>
                    </a:solidFill>
                  </a:tcPr>
                </a:tc>
                <a:tc>
                  <a:txBody>
                    <a:bodyPr/>
                    <a:lstStyle/>
                    <a:p>
                      <a:pPr algn="ctr"/>
                      <a:r>
                        <a:rPr sz="1000" b="0">
                          <a:solidFill>
                            <a:srgbClr val="1A1A1A"/>
                          </a:solidFill>
                          <a:latin typeface="Calibri"/>
                        </a:rPr>
                        <a:t>[0.964, 0.984)</a:t>
                      </a:r>
                    </a:p>
                  </a:txBody>
                  <a:tcPr marL="45720" marR="45720" marT="18288" marB="18288">
                    <a:solidFill>
                      <a:srgbClr val="FFFFFF"/>
                    </a:solidFill>
                  </a:tcPr>
                </a:tc>
                <a:tc>
                  <a:txBody>
                    <a:bodyPr/>
                    <a:lstStyle/>
                    <a:p>
                      <a:pPr algn="ctr"/>
                      <a:r>
                        <a:rPr sz="1000" b="0">
                          <a:solidFill>
                            <a:srgbClr val="1A1A1A"/>
                          </a:solidFill>
                          <a:latin typeface="Calibri"/>
                        </a:rPr>
                        <a:t>[0.984, 1.000)</a:t>
                      </a:r>
                    </a:p>
                  </a:txBody>
                  <a:tcPr marL="45720" marR="45720" marT="18288" marB="18288">
                    <a:solidFill>
                      <a:srgbClr val="FFFFFF"/>
                    </a:solidFill>
                  </a:tcPr>
                </a:tc>
                <a:tc>
                  <a:txBody>
                    <a:bodyPr/>
                    <a:lstStyle/>
                    <a:p>
                      <a:pPr algn="ctr"/>
                      <a:r>
                        <a:rPr sz="1000" b="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2"/>
                  </a:ext>
                </a:extLst>
              </a:tr>
              <a:tr h="457200">
                <a:tc>
                  <a:txBody>
                    <a:bodyPr/>
                    <a:lstStyle/>
                    <a:p>
                      <a:pPr algn="ctr"/>
                      <a:r>
                        <a:rPr sz="1000" b="1">
                          <a:solidFill>
                            <a:srgbClr val="1A1A1A"/>
                          </a:solidFill>
                          <a:latin typeface="Calibri"/>
                        </a:rPr>
                        <a:t>22022</a:t>
                      </a:r>
                    </a:p>
                  </a:txBody>
                  <a:tcPr marL="45720" marR="45720" marT="18288" marB="18288">
                    <a:solidFill>
                      <a:srgbClr val="FFFFFF"/>
                    </a:solidFill>
                  </a:tcPr>
                </a:tc>
                <a:tc>
                  <a:txBody>
                    <a:bodyPr/>
                    <a:lstStyle/>
                    <a:p>
                      <a:pPr algn="ctr"/>
                      <a:r>
                        <a:rPr sz="1000" b="0">
                          <a:solidFill>
                            <a:srgbClr val="1A1A1A"/>
                          </a:solidFill>
                          <a:latin typeface="Calibri"/>
                        </a:rPr>
                        <a:t>[0.000, 0.842)</a:t>
                      </a:r>
                    </a:p>
                  </a:txBody>
                  <a:tcPr marL="45720" marR="45720" marT="18288" marB="18288">
                    <a:solidFill>
                      <a:srgbClr val="FFFFFF"/>
                    </a:solidFill>
                  </a:tcPr>
                </a:tc>
                <a:tc>
                  <a:txBody>
                    <a:bodyPr/>
                    <a:lstStyle/>
                    <a:p>
                      <a:pPr algn="ctr"/>
                      <a:r>
                        <a:rPr sz="1000" b="0">
                          <a:solidFill>
                            <a:srgbClr val="1A1A1A"/>
                          </a:solidFill>
                          <a:latin typeface="Calibri"/>
                        </a:rPr>
                        <a:t>[0.842, 0.971)</a:t>
                      </a:r>
                    </a:p>
                  </a:txBody>
                  <a:tcPr marL="45720" marR="45720" marT="18288" marB="18288">
                    <a:solidFill>
                      <a:srgbClr val="FFFFFF"/>
                    </a:solidFill>
                  </a:tcPr>
                </a:tc>
                <a:tc>
                  <a:txBody>
                    <a:bodyPr/>
                    <a:lstStyle/>
                    <a:p>
                      <a:pPr algn="ctr"/>
                      <a:r>
                        <a:rPr sz="1000" b="0">
                          <a:solidFill>
                            <a:srgbClr val="1A1A1A"/>
                          </a:solidFill>
                          <a:latin typeface="Calibri"/>
                        </a:rPr>
                        <a:t>[0.971, 0.990)</a:t>
                      </a:r>
                    </a:p>
                  </a:txBody>
                  <a:tcPr marL="45720" marR="45720" marT="18288" marB="18288">
                    <a:solidFill>
                      <a:srgbClr val="FFFFFF"/>
                    </a:solidFill>
                  </a:tcPr>
                </a:tc>
                <a:tc>
                  <a:txBody>
                    <a:bodyPr/>
                    <a:lstStyle/>
                    <a:p>
                      <a:pPr algn="ctr"/>
                      <a:r>
                        <a:rPr sz="1000" b="0">
                          <a:solidFill>
                            <a:srgbClr val="1A1A1A"/>
                          </a:solidFill>
                          <a:latin typeface="Calibri"/>
                        </a:rPr>
                        <a:t>[0.990, 1.000)</a:t>
                      </a:r>
                    </a:p>
                  </a:txBody>
                  <a:tcPr marL="45720" marR="45720" marT="18288" marB="18288">
                    <a:solidFill>
                      <a:srgbClr val="FFFFFF"/>
                    </a:solidFill>
                  </a:tcPr>
                </a:tc>
                <a:tc>
                  <a:txBody>
                    <a:bodyPr/>
                    <a:lstStyle/>
                    <a:p>
                      <a:pPr algn="ctr"/>
                      <a:r>
                        <a:rPr sz="1000" b="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3"/>
                  </a:ext>
                </a:extLst>
              </a:tr>
              <a:tr h="457200">
                <a:tc>
                  <a:txBody>
                    <a:bodyPr/>
                    <a:lstStyle/>
                    <a:p>
                      <a:pPr algn="ctr"/>
                      <a:r>
                        <a:rPr sz="1000" b="1">
                          <a:solidFill>
                            <a:srgbClr val="1A1A1A"/>
                          </a:solidFill>
                          <a:latin typeface="Calibri"/>
                        </a:rPr>
                        <a:t>22023</a:t>
                      </a:r>
                    </a:p>
                  </a:txBody>
                  <a:tcPr marL="45720" marR="45720" marT="18288" marB="18288">
                    <a:solidFill>
                      <a:srgbClr val="FFFFFF"/>
                    </a:solidFill>
                  </a:tcPr>
                </a:tc>
                <a:tc>
                  <a:txBody>
                    <a:bodyPr/>
                    <a:lstStyle/>
                    <a:p>
                      <a:pPr algn="ctr"/>
                      <a:r>
                        <a:rPr sz="1000" b="0">
                          <a:solidFill>
                            <a:srgbClr val="1A1A1A"/>
                          </a:solidFill>
                          <a:latin typeface="Calibri"/>
                        </a:rPr>
                        <a:t>[0.000, 0.792)</a:t>
                      </a:r>
                    </a:p>
                  </a:txBody>
                  <a:tcPr marL="45720" marR="45720" marT="18288" marB="18288">
                    <a:solidFill>
                      <a:srgbClr val="FFFFFF"/>
                    </a:solidFill>
                  </a:tcPr>
                </a:tc>
                <a:tc>
                  <a:txBody>
                    <a:bodyPr/>
                    <a:lstStyle/>
                    <a:p>
                      <a:pPr algn="ctr"/>
                      <a:r>
                        <a:rPr sz="1000" b="0">
                          <a:solidFill>
                            <a:srgbClr val="1A1A1A"/>
                          </a:solidFill>
                          <a:latin typeface="Calibri"/>
                        </a:rPr>
                        <a:t>[0.792, 0.937)</a:t>
                      </a:r>
                    </a:p>
                  </a:txBody>
                  <a:tcPr marL="45720" marR="45720" marT="18288" marB="18288">
                    <a:solidFill>
                      <a:srgbClr val="FFFFFF"/>
                    </a:solidFill>
                  </a:tcPr>
                </a:tc>
                <a:tc>
                  <a:txBody>
                    <a:bodyPr/>
                    <a:lstStyle/>
                    <a:p>
                      <a:pPr algn="ctr"/>
                      <a:r>
                        <a:rPr sz="1000" b="0">
                          <a:solidFill>
                            <a:srgbClr val="1A1A1A"/>
                          </a:solidFill>
                          <a:latin typeface="Calibri"/>
                        </a:rPr>
                        <a:t>[0.937, 0.971)</a:t>
                      </a:r>
                    </a:p>
                  </a:txBody>
                  <a:tcPr marL="45720" marR="45720" marT="18288" marB="18288">
                    <a:solidFill>
                      <a:srgbClr val="FFFFFF"/>
                    </a:solidFill>
                  </a:tcPr>
                </a:tc>
                <a:tc>
                  <a:txBody>
                    <a:bodyPr/>
                    <a:lstStyle/>
                    <a:p>
                      <a:pPr algn="ctr"/>
                      <a:r>
                        <a:rPr sz="1000" b="0">
                          <a:solidFill>
                            <a:srgbClr val="1A1A1A"/>
                          </a:solidFill>
                          <a:latin typeface="Calibri"/>
                        </a:rPr>
                        <a:t>[0.971, 1.000)</a:t>
                      </a:r>
                    </a:p>
                  </a:txBody>
                  <a:tcPr marL="45720" marR="45720" marT="18288" marB="18288">
                    <a:solidFill>
                      <a:srgbClr val="FFFFFF"/>
                    </a:solidFill>
                  </a:tcPr>
                </a:tc>
                <a:tc>
                  <a:txBody>
                    <a:bodyPr/>
                    <a:lstStyle/>
                    <a:p>
                      <a:pPr algn="ctr"/>
                      <a:r>
                        <a:rPr sz="1000" b="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4"/>
                  </a:ext>
                </a:extLst>
              </a:tr>
              <a:tr h="457200">
                <a:tc>
                  <a:txBody>
                    <a:bodyPr/>
                    <a:lstStyle/>
                    <a:p>
                      <a:pPr algn="ctr"/>
                      <a:r>
                        <a:rPr sz="1000" b="1">
                          <a:solidFill>
                            <a:srgbClr val="1A1A1A"/>
                          </a:solidFill>
                          <a:latin typeface="Calibri"/>
                        </a:rPr>
                        <a:t>2024</a:t>
                      </a:r>
                    </a:p>
                  </a:txBody>
                  <a:tcPr marL="45720" marR="45720" marT="18288" marB="18288">
                    <a:solidFill>
                      <a:srgbClr val="FFFFFF"/>
                    </a:solidFill>
                  </a:tcPr>
                </a:tc>
                <a:tc>
                  <a:txBody>
                    <a:bodyPr/>
                    <a:lstStyle/>
                    <a:p>
                      <a:pPr algn="ctr"/>
                      <a:r>
                        <a:rPr sz="1000" b="0">
                          <a:solidFill>
                            <a:srgbClr val="1A1A1A"/>
                          </a:solidFill>
                          <a:latin typeface="Calibri"/>
                        </a:rPr>
                        <a:t>[0.000, 0.908)</a:t>
                      </a:r>
                    </a:p>
                  </a:txBody>
                  <a:tcPr marL="45720" marR="45720" marT="18288" marB="18288">
                    <a:solidFill>
                      <a:srgbClr val="FFFFFF"/>
                    </a:solidFill>
                  </a:tcPr>
                </a:tc>
                <a:tc>
                  <a:txBody>
                    <a:bodyPr/>
                    <a:lstStyle/>
                    <a:p>
                      <a:pPr algn="ctr"/>
                      <a:r>
                        <a:rPr sz="1000" b="0">
                          <a:solidFill>
                            <a:srgbClr val="1A1A1A"/>
                          </a:solidFill>
                          <a:latin typeface="Calibri"/>
                        </a:rPr>
                        <a:t>[0.908, 0.984)</a:t>
                      </a:r>
                    </a:p>
                  </a:txBody>
                  <a:tcPr marL="45720" marR="45720" marT="18288" marB="18288">
                    <a:solidFill>
                      <a:srgbClr val="FFFFFF"/>
                    </a:solidFill>
                  </a:tcPr>
                </a:tc>
                <a:tc>
                  <a:txBody>
                    <a:bodyPr/>
                    <a:lstStyle/>
                    <a:p>
                      <a:pPr algn="ctr"/>
                      <a:r>
                        <a:rPr sz="1000" b="0">
                          <a:solidFill>
                            <a:srgbClr val="1A1A1A"/>
                          </a:solidFill>
                          <a:latin typeface="Calibri"/>
                        </a:rPr>
                        <a:t>[0.984, 0.991)</a:t>
                      </a:r>
                    </a:p>
                  </a:txBody>
                  <a:tcPr marL="45720" marR="45720" marT="18288" marB="18288">
                    <a:solidFill>
                      <a:srgbClr val="FFFFFF"/>
                    </a:solidFill>
                  </a:tcPr>
                </a:tc>
                <a:tc>
                  <a:txBody>
                    <a:bodyPr/>
                    <a:lstStyle/>
                    <a:p>
                      <a:pPr algn="ctr"/>
                      <a:r>
                        <a:rPr sz="1000" b="0">
                          <a:solidFill>
                            <a:srgbClr val="1A1A1A"/>
                          </a:solidFill>
                          <a:latin typeface="Calibri"/>
                        </a:rPr>
                        <a:t>[0.991, 1.000)</a:t>
                      </a:r>
                    </a:p>
                  </a:txBody>
                  <a:tcPr marL="45720" marR="45720" marT="18288" marB="18288">
                    <a:solidFill>
                      <a:srgbClr val="FFFFFF"/>
                    </a:solidFill>
                  </a:tcPr>
                </a:tc>
                <a:tc>
                  <a:txBody>
                    <a:bodyPr/>
                    <a:lstStyle/>
                    <a:p>
                      <a:pPr algn="ctr"/>
                      <a:r>
                        <a:rPr sz="1000" b="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5"/>
                  </a:ext>
                </a:extLst>
              </a:tr>
              <a:tr h="457200">
                <a:tc>
                  <a:txBody>
                    <a:bodyPr/>
                    <a:lstStyle/>
                    <a:p>
                      <a:pPr algn="ctr"/>
                      <a:r>
                        <a:rPr sz="1000" b="1" dirty="0">
                          <a:solidFill>
                            <a:srgbClr val="1A1A1A"/>
                          </a:solidFill>
                          <a:latin typeface="Calibri"/>
                        </a:rPr>
                        <a:t>2025</a:t>
                      </a:r>
                    </a:p>
                  </a:txBody>
                  <a:tcPr marL="45720" marR="45720" marT="18288" marB="18288">
                    <a:solidFill>
                      <a:srgbClr val="F4E07F"/>
                    </a:solidFill>
                  </a:tcPr>
                </a:tc>
                <a:tc>
                  <a:txBody>
                    <a:bodyPr/>
                    <a:lstStyle/>
                    <a:p>
                      <a:pPr algn="ctr"/>
                      <a:r>
                        <a:rPr sz="1000" b="0" dirty="0">
                          <a:solidFill>
                            <a:srgbClr val="1A1A1A"/>
                          </a:solidFill>
                          <a:latin typeface="Calibri"/>
                        </a:rPr>
                        <a:t>[0.000, 0.782)</a:t>
                      </a:r>
                    </a:p>
                  </a:txBody>
                  <a:tcPr marL="45720" marR="45720" marT="18288" marB="18288">
                    <a:solidFill>
                      <a:srgbClr val="F4E07F"/>
                    </a:solidFill>
                  </a:tcPr>
                </a:tc>
                <a:tc>
                  <a:txBody>
                    <a:bodyPr/>
                    <a:lstStyle/>
                    <a:p>
                      <a:pPr algn="ctr"/>
                      <a:r>
                        <a:rPr sz="1000" b="0">
                          <a:solidFill>
                            <a:srgbClr val="1A1A1A"/>
                          </a:solidFill>
                          <a:latin typeface="Calibri"/>
                        </a:rPr>
                        <a:t>[0.782, 0.919)</a:t>
                      </a:r>
                    </a:p>
                  </a:txBody>
                  <a:tcPr marL="45720" marR="45720" marT="18288" marB="18288">
                    <a:solidFill>
                      <a:srgbClr val="F4E07F"/>
                    </a:solidFill>
                  </a:tcPr>
                </a:tc>
                <a:tc>
                  <a:txBody>
                    <a:bodyPr/>
                    <a:lstStyle/>
                    <a:p>
                      <a:pPr algn="ctr"/>
                      <a:r>
                        <a:rPr sz="1000" b="0">
                          <a:solidFill>
                            <a:srgbClr val="1A1A1A"/>
                          </a:solidFill>
                          <a:latin typeface="Calibri"/>
                        </a:rPr>
                        <a:t>[0.919, 1.000)</a:t>
                      </a:r>
                    </a:p>
                  </a:txBody>
                  <a:tcPr marL="45720" marR="45720" marT="18288" marB="18288">
                    <a:solidFill>
                      <a:srgbClr val="F4E07F"/>
                    </a:solidFill>
                  </a:tcPr>
                </a:tc>
                <a:tc>
                  <a:txBody>
                    <a:bodyPr/>
                    <a:lstStyle/>
                    <a:p>
                      <a:pPr algn="ctr"/>
                      <a:r>
                        <a:rPr sz="1000" b="0">
                          <a:solidFill>
                            <a:srgbClr val="555555"/>
                          </a:solidFill>
                          <a:latin typeface="Calibri"/>
                        </a:rPr>
                        <a:t>—</a:t>
                      </a:r>
                    </a:p>
                  </a:txBody>
                  <a:tcPr marL="45720" marR="45720" marT="18288" marB="18288">
                    <a:solidFill>
                      <a:srgbClr val="F4E07F"/>
                    </a:solidFill>
                  </a:tcPr>
                </a:tc>
                <a:tc>
                  <a:txBody>
                    <a:bodyPr/>
                    <a:lstStyle/>
                    <a:p>
                      <a:pPr algn="ctr"/>
                      <a:r>
                        <a:rPr sz="1000" b="1">
                          <a:solidFill>
                            <a:srgbClr val="1A1A1A"/>
                          </a:solidFill>
                          <a:latin typeface="Calibri"/>
                        </a:rPr>
                        <a:t>3</a:t>
                      </a:r>
                    </a:p>
                  </a:txBody>
                  <a:tcPr marL="45720" marR="45720" marT="18288" marB="18288">
                    <a:solidFill>
                      <a:srgbClr val="F4E07F"/>
                    </a:solidFill>
                  </a:tcPr>
                </a:tc>
                <a:extLst>
                  <a:ext uri="{0D108BD9-81ED-4DB2-BD59-A6C34878D82A}">
                    <a16:rowId xmlns:a16="http://schemas.microsoft.com/office/drawing/2014/main" val="10006"/>
                  </a:ext>
                </a:extLst>
              </a:tr>
              <a:tr h="457200">
                <a:tc>
                  <a:txBody>
                    <a:bodyPr/>
                    <a:lstStyle/>
                    <a:p>
                      <a:pPr algn="ctr"/>
                      <a:r>
                        <a:rPr sz="1000" b="1">
                          <a:solidFill>
                            <a:srgbClr val="FFFFFF"/>
                          </a:solidFill>
                          <a:latin typeface="Calibri"/>
                        </a:rPr>
                        <a:t>Combined</a:t>
                      </a:r>
                    </a:p>
                  </a:txBody>
                  <a:tcPr marL="45720" marR="45720" marT="18288" marB="18288">
                    <a:solidFill>
                      <a:srgbClr val="000000"/>
                    </a:solidFill>
                  </a:tcPr>
                </a:tc>
                <a:tc>
                  <a:txBody>
                    <a:bodyPr/>
                    <a:lstStyle/>
                    <a:p>
                      <a:pPr algn="ctr"/>
                      <a:r>
                        <a:rPr sz="1000" b="1">
                          <a:solidFill>
                            <a:srgbClr val="1A1A1A"/>
                          </a:solidFill>
                          <a:latin typeface="Calibri"/>
                        </a:rPr>
                        <a:t>[0.000, 0.906)</a:t>
                      </a:r>
                    </a:p>
                  </a:txBody>
                  <a:tcPr marL="45720" marR="45720" marT="18288" marB="18288">
                    <a:solidFill>
                      <a:srgbClr val="FFFFFF"/>
                    </a:solidFill>
                  </a:tcPr>
                </a:tc>
                <a:tc>
                  <a:txBody>
                    <a:bodyPr/>
                    <a:lstStyle/>
                    <a:p>
                      <a:pPr algn="ctr"/>
                      <a:r>
                        <a:rPr sz="1000" b="1">
                          <a:solidFill>
                            <a:srgbClr val="1A1A1A"/>
                          </a:solidFill>
                          <a:latin typeface="Calibri"/>
                        </a:rPr>
                        <a:t>[0.906, 0.984)</a:t>
                      </a:r>
                    </a:p>
                  </a:txBody>
                  <a:tcPr marL="45720" marR="45720" marT="18288" marB="18288">
                    <a:solidFill>
                      <a:srgbClr val="FFFFFF"/>
                    </a:solidFill>
                  </a:tcPr>
                </a:tc>
                <a:tc>
                  <a:txBody>
                    <a:bodyPr/>
                    <a:lstStyle/>
                    <a:p>
                      <a:pPr algn="ctr"/>
                      <a:r>
                        <a:rPr sz="1000" b="1">
                          <a:solidFill>
                            <a:srgbClr val="1A1A1A"/>
                          </a:solidFill>
                          <a:latin typeface="Calibri"/>
                        </a:rPr>
                        <a:t>[0.984, 0.990)</a:t>
                      </a:r>
                    </a:p>
                  </a:txBody>
                  <a:tcPr marL="45720" marR="45720" marT="18288" marB="18288">
                    <a:solidFill>
                      <a:srgbClr val="FFFFFF"/>
                    </a:solidFill>
                  </a:tcPr>
                </a:tc>
                <a:tc>
                  <a:txBody>
                    <a:bodyPr/>
                    <a:lstStyle/>
                    <a:p>
                      <a:pPr algn="ctr"/>
                      <a:r>
                        <a:rPr sz="1000" b="1">
                          <a:solidFill>
                            <a:srgbClr val="1A1A1A"/>
                          </a:solidFill>
                          <a:latin typeface="Calibri"/>
                        </a:rPr>
                        <a:t>[0.990, 1.000)</a:t>
                      </a:r>
                    </a:p>
                  </a:txBody>
                  <a:tcPr marL="45720" marR="45720" marT="18288" marB="18288">
                    <a:solidFill>
                      <a:srgbClr val="FFFFFF"/>
                    </a:solidFill>
                  </a:tcPr>
                </a:tc>
                <a:tc>
                  <a:txBody>
                    <a:bodyPr/>
                    <a:lstStyle/>
                    <a:p>
                      <a:pPr algn="ctr"/>
                      <a:r>
                        <a:rPr sz="1000" b="1" dirty="0">
                          <a:solidFill>
                            <a:srgbClr val="1A1A1A"/>
                          </a:solidFill>
                          <a:latin typeface="Calibri"/>
                        </a:rPr>
                        <a:t>4</a:t>
                      </a:r>
                    </a:p>
                  </a:txBody>
                  <a:tcPr marL="45720" marR="45720" marT="18288" marB="18288">
                    <a:solidFill>
                      <a:srgbClr val="FFFFFF"/>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457200" y="5349240"/>
            <a:ext cx="8229600" cy="77724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349240"/>
            <a:ext cx="73152" cy="7772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5413248"/>
            <a:ext cx="7955279" cy="640080"/>
          </a:xfrm>
          <a:prstGeom prst="rect">
            <a:avLst/>
          </a:prstGeom>
          <a:noFill/>
        </p:spPr>
        <p:txBody>
          <a:bodyPr wrap="square" lIns="0" tIns="0" rIns="0" bIns="0" anchor="ctr">
            <a:spAutoFit/>
          </a:bodyPr>
          <a:lstStyle/>
          <a:p>
            <a:pPr algn="l"/>
            <a:r>
              <a:rPr sz="1000" b="1" i="0">
                <a:solidFill>
                  <a:srgbClr val="000000"/>
                </a:solidFill>
                <a:latin typeface="Calibri"/>
              </a:rPr>
              <a:t>Why 2025 collapses to 3 cats:  </a:t>
            </a:r>
            <a:r>
              <a:rPr sz="1000" b="0" i="0">
                <a:solidFill>
                  <a:srgbClr val="1A1A1A"/>
                </a:solidFill>
                <a:latin typeface="Calibri"/>
              </a:rPr>
              <a:t>the n=4 scan finds a third boundary with only marginal ΔZ over n=3, and the resulting Cat 3 has &lt; 5 expected B events — fits become unstable. </a:t>
            </a:r>
            <a:r>
              <a:rPr sz="1000" b="0" i="1">
                <a:solidFill>
                  <a:srgbClr val="555555"/>
                </a:solidFill>
                <a:latin typeface="Calibri"/>
              </a:rPr>
              <a:t>Combined row uses the joint scan across all eras.</a:t>
            </a:r>
          </a:p>
        </p:txBody>
      </p:sp>
    </p:spTree>
    <p:extLst>
      <p:ext uri="{BB962C8B-B14F-4D97-AF65-F5344CB8AC3E}">
        <p14:creationId xmlns:p14="http://schemas.microsoft.com/office/powerpoint/2010/main" val="864860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rPr sz="3200" dirty="0"/>
              <a:t>Per-era yields: 12022, </a:t>
            </a:r>
            <a:r>
              <a:rPr lang="en-US" sz="3200" dirty="0"/>
              <a:t>2</a:t>
            </a:r>
            <a:r>
              <a:rPr sz="3200" dirty="0"/>
              <a:t>202</a:t>
            </a:r>
            <a:r>
              <a:rPr lang="en-US" sz="3200" dirty="0"/>
              <a:t>2</a:t>
            </a:r>
            <a:endParaRPr sz="3200" dirty="0"/>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BDT range, S/B, S/√B, and Asimov Z per category — HWHM mass window</a:t>
            </a:r>
            <a:endParaRPr lang="en-US" dirty="0"/>
          </a:p>
        </p:txBody>
      </p:sp>
      <p:sp>
        <p:nvSpPr>
          <p:cNvPr id="6" name="Rectangle 5"/>
          <p:cNvSpPr/>
          <p:nvPr/>
        </p:nvSpPr>
        <p:spPr>
          <a:xfrm>
            <a:off x="325582" y="1417320"/>
            <a:ext cx="8361216" cy="320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5581" y="1417320"/>
            <a:ext cx="111483" cy="3200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8462" y="1485007"/>
            <a:ext cx="3716096" cy="184666"/>
          </a:xfrm>
          <a:prstGeom prst="rect">
            <a:avLst/>
          </a:prstGeom>
          <a:noFill/>
        </p:spPr>
        <p:txBody>
          <a:bodyPr wrap="square" lIns="0" tIns="0" rIns="0" bIns="0" anchor="ctr">
            <a:spAutoFit/>
          </a:bodyPr>
          <a:lstStyle/>
          <a:p>
            <a:pPr algn="l"/>
            <a:r>
              <a:rPr sz="1200" b="1" i="0" spc="300">
                <a:solidFill>
                  <a:srgbClr val="FFFFFF"/>
                </a:solidFill>
                <a:latin typeface="Calibri"/>
              </a:rPr>
              <a:t>ERA 12022</a:t>
            </a:r>
          </a:p>
        </p:txBody>
      </p:sp>
      <p:sp>
        <p:nvSpPr>
          <p:cNvPr id="9" name="TextBox 8"/>
          <p:cNvSpPr txBox="1"/>
          <p:nvPr/>
        </p:nvSpPr>
        <p:spPr>
          <a:xfrm>
            <a:off x="4440382" y="1485007"/>
            <a:ext cx="4087706" cy="184666"/>
          </a:xfrm>
          <a:prstGeom prst="rect">
            <a:avLst/>
          </a:prstGeom>
          <a:noFill/>
        </p:spPr>
        <p:txBody>
          <a:bodyPr wrap="square" lIns="0" tIns="0" rIns="0" bIns="0" anchor="ctr">
            <a:spAutoFit/>
          </a:bodyPr>
          <a:lstStyle/>
          <a:p>
            <a:pPr algn="r"/>
            <a:r>
              <a:rPr sz="1200" b="1" i="0">
                <a:solidFill>
                  <a:srgbClr val="FFCD00"/>
                </a:solidFill>
                <a:latin typeface="Calibri"/>
              </a:rPr>
              <a:t>Combined Z = 0.235</a:t>
            </a:r>
          </a:p>
        </p:txBody>
      </p:sp>
      <p:graphicFrame>
        <p:nvGraphicFramePr>
          <p:cNvPr id="10" name="Table 9"/>
          <p:cNvGraphicFramePr>
            <a:graphicFrameLocks noGrp="1"/>
          </p:cNvGraphicFramePr>
          <p:nvPr>
            <p:extLst>
              <p:ext uri="{D42A27DB-BD31-4B8C-83A1-F6EECF244321}">
                <p14:modId xmlns:p14="http://schemas.microsoft.com/office/powerpoint/2010/main" val="4158250364"/>
              </p:ext>
            </p:extLst>
          </p:nvPr>
        </p:nvGraphicFramePr>
        <p:xfrm>
          <a:off x="325582" y="1737360"/>
          <a:ext cx="8361217" cy="1862850"/>
        </p:xfrm>
        <a:graphic>
          <a:graphicData uri="http://schemas.openxmlformats.org/drawingml/2006/table">
            <a:tbl>
              <a:tblPr firstRow="1" bandRow="1">
                <a:tableStyleId>{5C22544A-7EE6-4342-B048-85BDC9FD1C3A}</a:tableStyleId>
              </a:tblPr>
              <a:tblGrid>
                <a:gridCol w="510963">
                  <a:extLst>
                    <a:ext uri="{9D8B030D-6E8A-4147-A177-3AD203B41FA5}">
                      <a16:colId xmlns:a16="http://schemas.microsoft.com/office/drawing/2014/main" val="20000"/>
                    </a:ext>
                  </a:extLst>
                </a:gridCol>
                <a:gridCol w="1486439">
                  <a:extLst>
                    <a:ext uri="{9D8B030D-6E8A-4147-A177-3AD203B41FA5}">
                      <a16:colId xmlns:a16="http://schemas.microsoft.com/office/drawing/2014/main" val="20001"/>
                    </a:ext>
                  </a:extLst>
                </a:gridCol>
                <a:gridCol w="882573">
                  <a:extLst>
                    <a:ext uri="{9D8B030D-6E8A-4147-A177-3AD203B41FA5}">
                      <a16:colId xmlns:a16="http://schemas.microsoft.com/office/drawing/2014/main" val="20002"/>
                    </a:ext>
                  </a:extLst>
                </a:gridCol>
                <a:gridCol w="1161280">
                  <a:extLst>
                    <a:ext uri="{9D8B030D-6E8A-4147-A177-3AD203B41FA5}">
                      <a16:colId xmlns:a16="http://schemas.microsoft.com/office/drawing/2014/main" val="20003"/>
                    </a:ext>
                  </a:extLst>
                </a:gridCol>
                <a:gridCol w="1021927">
                  <a:extLst>
                    <a:ext uri="{9D8B030D-6E8A-4147-A177-3AD203B41FA5}">
                      <a16:colId xmlns:a16="http://schemas.microsoft.com/office/drawing/2014/main" val="20004"/>
                    </a:ext>
                  </a:extLst>
                </a:gridCol>
                <a:gridCol w="1161280">
                  <a:extLst>
                    <a:ext uri="{9D8B030D-6E8A-4147-A177-3AD203B41FA5}">
                      <a16:colId xmlns:a16="http://schemas.microsoft.com/office/drawing/2014/main" val="20005"/>
                    </a:ext>
                  </a:extLst>
                </a:gridCol>
                <a:gridCol w="975475">
                  <a:extLst>
                    <a:ext uri="{9D8B030D-6E8A-4147-A177-3AD203B41FA5}">
                      <a16:colId xmlns:a16="http://schemas.microsoft.com/office/drawing/2014/main" val="20006"/>
                    </a:ext>
                  </a:extLst>
                </a:gridCol>
                <a:gridCol w="1161280">
                  <a:extLst>
                    <a:ext uri="{9D8B030D-6E8A-4147-A177-3AD203B41FA5}">
                      <a16:colId xmlns:a16="http://schemas.microsoft.com/office/drawing/2014/main" val="20007"/>
                    </a:ext>
                  </a:extLst>
                </a:gridCol>
              </a:tblGrid>
              <a:tr h="372570">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S_full</a:t>
                      </a: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72570">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0.938)</a:t>
                      </a:r>
                    </a:p>
                  </a:txBody>
                  <a:tcPr marL="45720" marR="45720" marT="18288" marB="18288">
                    <a:solidFill>
                      <a:srgbClr val="FFFFFF"/>
                    </a:solidFill>
                  </a:tcPr>
                </a:tc>
                <a:tc>
                  <a:txBody>
                    <a:bodyPr/>
                    <a:lstStyle/>
                    <a:p>
                      <a:pPr algn="ctr"/>
                      <a:r>
                        <a:rPr sz="1000" b="0">
                          <a:solidFill>
                            <a:srgbClr val="1A1A1A"/>
                          </a:solidFill>
                          <a:latin typeface="Calibri"/>
                        </a:rPr>
                        <a:t>1.39</a:t>
                      </a:r>
                    </a:p>
                  </a:txBody>
                  <a:tcPr marL="45720" marR="45720" marT="18288" marB="18288">
                    <a:solidFill>
                      <a:srgbClr val="FFFFFF"/>
                    </a:solidFill>
                  </a:tcPr>
                </a:tc>
                <a:tc>
                  <a:txBody>
                    <a:bodyPr/>
                    <a:lstStyle/>
                    <a:p>
                      <a:pPr algn="ctr"/>
                      <a:r>
                        <a:rPr sz="1000" b="0">
                          <a:solidFill>
                            <a:srgbClr val="1A1A1A"/>
                          </a:solidFill>
                          <a:latin typeface="Calibri"/>
                        </a:rPr>
                        <a:t>11,307.9</a:t>
                      </a:r>
                    </a:p>
                  </a:txBody>
                  <a:tcPr marL="45720" marR="45720" marT="18288" marB="18288">
                    <a:solidFill>
                      <a:srgbClr val="FFFFFF"/>
                    </a:solidFill>
                  </a:tcPr>
                </a:tc>
                <a:tc>
                  <a:txBody>
                    <a:bodyPr/>
                    <a:lstStyle/>
                    <a:p>
                      <a:pPr algn="ctr"/>
                      <a:r>
                        <a:rPr sz="1000" b="0">
                          <a:solidFill>
                            <a:srgbClr val="1A1A1A"/>
                          </a:solidFill>
                          <a:latin typeface="Calibri"/>
                        </a:rPr>
                        <a:t>0.94</a:t>
                      </a:r>
                    </a:p>
                  </a:txBody>
                  <a:tcPr marL="45720" marR="45720" marT="18288" marB="18288">
                    <a:solidFill>
                      <a:srgbClr val="FFFFFF"/>
                    </a:solidFill>
                  </a:tcPr>
                </a:tc>
                <a:tc>
                  <a:txBody>
                    <a:bodyPr/>
                    <a:lstStyle/>
                    <a:p>
                      <a:pPr algn="ctr"/>
                      <a:r>
                        <a:rPr sz="1000" b="0">
                          <a:solidFill>
                            <a:srgbClr val="1A1A1A"/>
                          </a:solidFill>
                          <a:latin typeface="Calibri"/>
                        </a:rPr>
                        <a:t>1,131.4</a:t>
                      </a:r>
                    </a:p>
                  </a:txBody>
                  <a:tcPr marL="45720" marR="45720" marT="18288" marB="18288">
                    <a:solidFill>
                      <a:srgbClr val="FFFFFF"/>
                    </a:solidFill>
                  </a:tcPr>
                </a:tc>
                <a:tc>
                  <a:txBody>
                    <a:bodyPr/>
                    <a:lstStyle/>
                    <a:p>
                      <a:pPr algn="ctr"/>
                      <a:r>
                        <a:rPr sz="1000" b="0">
                          <a:solidFill>
                            <a:srgbClr val="1A1A1A"/>
                          </a:solidFill>
                          <a:latin typeface="Calibri"/>
                        </a:rPr>
                        <a:t>0.028</a:t>
                      </a:r>
                    </a:p>
                  </a:txBody>
                  <a:tcPr marL="45720" marR="45720" marT="18288" marB="18288">
                    <a:solidFill>
                      <a:srgbClr val="FFFFFF"/>
                    </a:solidFill>
                  </a:tcPr>
                </a:tc>
                <a:tc>
                  <a:txBody>
                    <a:bodyPr/>
                    <a:lstStyle/>
                    <a:p>
                      <a:pPr algn="ctr"/>
                      <a:r>
                        <a:rPr sz="1000" b="1" dirty="0">
                          <a:solidFill>
                            <a:srgbClr val="1A1A1A"/>
                          </a:solidFill>
                          <a:latin typeface="Calibri"/>
                        </a:rPr>
                        <a:t>0.028</a:t>
                      </a:r>
                    </a:p>
                  </a:txBody>
                  <a:tcPr marL="45720" marR="45720" marT="18288" marB="18288">
                    <a:solidFill>
                      <a:srgbClr val="FFFFFF"/>
                    </a:solidFill>
                  </a:tcPr>
                </a:tc>
                <a:extLst>
                  <a:ext uri="{0D108BD9-81ED-4DB2-BD59-A6C34878D82A}">
                    <a16:rowId xmlns:a16="http://schemas.microsoft.com/office/drawing/2014/main" val="10001"/>
                  </a:ext>
                </a:extLst>
              </a:tr>
              <a:tr h="372570">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[0.938, 0.985)</a:t>
                      </a:r>
                    </a:p>
                  </a:txBody>
                  <a:tcPr marL="45720" marR="45720" marT="18288" marB="18288">
                    <a:solidFill>
                      <a:srgbClr val="FFFFFF"/>
                    </a:solidFill>
                  </a:tcPr>
                </a:tc>
                <a:tc>
                  <a:txBody>
                    <a:bodyPr/>
                    <a:lstStyle/>
                    <a:p>
                      <a:pPr algn="ctr"/>
                      <a:r>
                        <a:rPr sz="1000" b="0">
                          <a:solidFill>
                            <a:srgbClr val="1A1A1A"/>
                          </a:solidFill>
                          <a:latin typeface="Calibri"/>
                        </a:rPr>
                        <a:t>0.63</a:t>
                      </a:r>
                    </a:p>
                  </a:txBody>
                  <a:tcPr marL="45720" marR="45720" marT="18288" marB="18288">
                    <a:solidFill>
                      <a:srgbClr val="FFFFFF"/>
                    </a:solidFill>
                  </a:tcPr>
                </a:tc>
                <a:tc>
                  <a:txBody>
                    <a:bodyPr/>
                    <a:lstStyle/>
                    <a:p>
                      <a:pPr algn="ctr"/>
                      <a:r>
                        <a:rPr sz="1000" b="0">
                          <a:solidFill>
                            <a:srgbClr val="1A1A1A"/>
                          </a:solidFill>
                          <a:latin typeface="Calibri"/>
                        </a:rPr>
                        <a:t>154.9</a:t>
                      </a:r>
                    </a:p>
                  </a:txBody>
                  <a:tcPr marL="45720" marR="45720" marT="18288" marB="18288">
                    <a:solidFill>
                      <a:srgbClr val="FFFFFF"/>
                    </a:solidFill>
                  </a:tcPr>
                </a:tc>
                <a:tc>
                  <a:txBody>
                    <a:bodyPr/>
                    <a:lstStyle/>
                    <a:p>
                      <a:pPr algn="ctr"/>
                      <a:r>
                        <a:rPr sz="1000" b="0">
                          <a:solidFill>
                            <a:srgbClr val="1A1A1A"/>
                          </a:solidFill>
                          <a:latin typeface="Calibri"/>
                        </a:rPr>
                        <a:t>0.43</a:t>
                      </a:r>
                    </a:p>
                  </a:txBody>
                  <a:tcPr marL="45720" marR="45720" marT="18288" marB="18288">
                    <a:solidFill>
                      <a:srgbClr val="FFFFFF"/>
                    </a:solidFill>
                  </a:tcPr>
                </a:tc>
                <a:tc>
                  <a:txBody>
                    <a:bodyPr/>
                    <a:lstStyle/>
                    <a:p>
                      <a:pPr algn="ctr"/>
                      <a:r>
                        <a:rPr sz="1000" b="0" dirty="0">
                          <a:solidFill>
                            <a:srgbClr val="1A1A1A"/>
                          </a:solidFill>
                          <a:latin typeface="Calibri"/>
                        </a:rPr>
                        <a:t>17.9</a:t>
                      </a:r>
                    </a:p>
                  </a:txBody>
                  <a:tcPr marL="45720" marR="45720" marT="18288" marB="18288">
                    <a:solidFill>
                      <a:srgbClr val="FFFFFF"/>
                    </a:solidFill>
                  </a:tcPr>
                </a:tc>
                <a:tc>
                  <a:txBody>
                    <a:bodyPr/>
                    <a:lstStyle/>
                    <a:p>
                      <a:pPr algn="ctr"/>
                      <a:r>
                        <a:rPr sz="1000" b="0">
                          <a:solidFill>
                            <a:srgbClr val="1A1A1A"/>
                          </a:solidFill>
                          <a:latin typeface="Calibri"/>
                        </a:rPr>
                        <a:t>0.102</a:t>
                      </a:r>
                    </a:p>
                  </a:txBody>
                  <a:tcPr marL="45720" marR="45720" marT="18288" marB="18288">
                    <a:solidFill>
                      <a:srgbClr val="FFFFFF"/>
                    </a:solidFill>
                  </a:tcPr>
                </a:tc>
                <a:tc>
                  <a:txBody>
                    <a:bodyPr/>
                    <a:lstStyle/>
                    <a:p>
                      <a:pPr algn="ctr"/>
                      <a:r>
                        <a:rPr sz="1000" b="1">
                          <a:solidFill>
                            <a:srgbClr val="1A1A1A"/>
                          </a:solidFill>
                          <a:latin typeface="Calibri"/>
                        </a:rPr>
                        <a:t>0.102</a:t>
                      </a:r>
                    </a:p>
                  </a:txBody>
                  <a:tcPr marL="45720" marR="45720" marT="18288" marB="18288">
                    <a:solidFill>
                      <a:srgbClr val="FFFFFF"/>
                    </a:solidFill>
                  </a:tcPr>
                </a:tc>
                <a:extLst>
                  <a:ext uri="{0D108BD9-81ED-4DB2-BD59-A6C34878D82A}">
                    <a16:rowId xmlns:a16="http://schemas.microsoft.com/office/drawing/2014/main" val="10002"/>
                  </a:ext>
                </a:extLst>
              </a:tr>
              <a:tr h="372570">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[0.985, 0.991)</a:t>
                      </a:r>
                    </a:p>
                  </a:txBody>
                  <a:tcPr marL="45720" marR="45720" marT="18288" marB="18288">
                    <a:solidFill>
                      <a:srgbClr val="FFFFFF"/>
                    </a:solidFill>
                  </a:tcPr>
                </a:tc>
                <a:tc>
                  <a:txBody>
                    <a:bodyPr/>
                    <a:lstStyle/>
                    <a:p>
                      <a:pPr algn="ctr"/>
                      <a:r>
                        <a:rPr sz="1000" b="0">
                          <a:solidFill>
                            <a:srgbClr val="1A1A1A"/>
                          </a:solidFill>
                          <a:latin typeface="Calibri"/>
                        </a:rPr>
                        <a:t>0.14</a:t>
                      </a:r>
                    </a:p>
                  </a:txBody>
                  <a:tcPr marL="45720" marR="45720" marT="18288" marB="18288">
                    <a:solidFill>
                      <a:srgbClr val="FFFFFF"/>
                    </a:solidFill>
                  </a:tcPr>
                </a:tc>
                <a:tc>
                  <a:txBody>
                    <a:bodyPr/>
                    <a:lstStyle/>
                    <a:p>
                      <a:pPr algn="ctr"/>
                      <a:r>
                        <a:rPr sz="1000" b="0">
                          <a:solidFill>
                            <a:srgbClr val="1A1A1A"/>
                          </a:solidFill>
                          <a:latin typeface="Calibri"/>
                        </a:rPr>
                        <a:t>13.3</a:t>
                      </a:r>
                    </a:p>
                  </a:txBody>
                  <a:tcPr marL="45720" marR="45720" marT="18288" marB="18288">
                    <a:solidFill>
                      <a:srgbClr val="FFFFFF"/>
                    </a:solidFill>
                  </a:tcPr>
                </a:tc>
                <a:tc>
                  <a:txBody>
                    <a:bodyPr/>
                    <a:lstStyle/>
                    <a:p>
                      <a:pPr algn="ctr"/>
                      <a:r>
                        <a:rPr sz="1000" b="0">
                          <a:solidFill>
                            <a:srgbClr val="1A1A1A"/>
                          </a:solidFill>
                          <a:latin typeface="Calibri"/>
                        </a:rPr>
                        <a:t>0.10</a:t>
                      </a:r>
                    </a:p>
                  </a:txBody>
                  <a:tcPr marL="45720" marR="45720" marT="18288" marB="18288">
                    <a:solidFill>
                      <a:srgbClr val="FFFFFF"/>
                    </a:solidFill>
                  </a:tcPr>
                </a:tc>
                <a:tc>
                  <a:txBody>
                    <a:bodyPr/>
                    <a:lstStyle/>
                    <a:p>
                      <a:pPr algn="ctr"/>
                      <a:r>
                        <a:rPr sz="1000" b="0">
                          <a:solidFill>
                            <a:srgbClr val="1A1A1A"/>
                          </a:solidFill>
                          <a:latin typeface="Calibri"/>
                        </a:rPr>
                        <a:t>0.2</a:t>
                      </a:r>
                    </a:p>
                  </a:txBody>
                  <a:tcPr marL="45720" marR="45720" marT="18288" marB="18288">
                    <a:solidFill>
                      <a:srgbClr val="FFFFFF"/>
                    </a:solidFill>
                  </a:tcPr>
                </a:tc>
                <a:tc>
                  <a:txBody>
                    <a:bodyPr/>
                    <a:lstStyle/>
                    <a:p>
                      <a:pPr algn="ctr"/>
                      <a:r>
                        <a:rPr sz="1000" b="0">
                          <a:solidFill>
                            <a:srgbClr val="1A1A1A"/>
                          </a:solidFill>
                          <a:latin typeface="Calibri"/>
                        </a:rPr>
                        <a:t>0.207</a:t>
                      </a:r>
                    </a:p>
                  </a:txBody>
                  <a:tcPr marL="45720" marR="45720" marT="18288" marB="18288">
                    <a:solidFill>
                      <a:srgbClr val="FFFFFF"/>
                    </a:solidFill>
                  </a:tcPr>
                </a:tc>
                <a:tc>
                  <a:txBody>
                    <a:bodyPr/>
                    <a:lstStyle/>
                    <a:p>
                      <a:pPr algn="ctr"/>
                      <a:r>
                        <a:rPr sz="1000" b="1">
                          <a:solidFill>
                            <a:srgbClr val="1A1A1A"/>
                          </a:solidFill>
                          <a:latin typeface="Calibri"/>
                        </a:rPr>
                        <a:t>0.194</a:t>
                      </a:r>
                    </a:p>
                  </a:txBody>
                  <a:tcPr marL="45720" marR="45720" marT="18288" marB="18288">
                    <a:solidFill>
                      <a:srgbClr val="FFFFFF"/>
                    </a:solidFill>
                  </a:tcPr>
                </a:tc>
                <a:extLst>
                  <a:ext uri="{0D108BD9-81ED-4DB2-BD59-A6C34878D82A}">
                    <a16:rowId xmlns:a16="http://schemas.microsoft.com/office/drawing/2014/main" val="10003"/>
                  </a:ext>
                </a:extLst>
              </a:tr>
              <a:tr h="372570">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dirty="0">
                          <a:solidFill>
                            <a:srgbClr val="1A1A1A"/>
                          </a:solidFill>
                          <a:latin typeface="Calibri"/>
                        </a:rPr>
                        <a:t>[0.991, 1.000)</a:t>
                      </a:r>
                    </a:p>
                  </a:txBody>
                  <a:tcPr marL="45720" marR="45720" marT="18288" marB="18288">
                    <a:solidFill>
                      <a:srgbClr val="FFFFFF"/>
                    </a:solidFill>
                  </a:tcPr>
                </a:tc>
                <a:tc>
                  <a:txBody>
                    <a:bodyPr/>
                    <a:lstStyle/>
                    <a:p>
                      <a:pPr algn="ctr"/>
                      <a:r>
                        <a:rPr sz="1000" b="0" dirty="0">
                          <a:solidFill>
                            <a:srgbClr val="1A1A1A"/>
                          </a:solidFill>
                          <a:latin typeface="Calibri"/>
                        </a:rPr>
                        <a:t>0.14</a:t>
                      </a:r>
                    </a:p>
                  </a:txBody>
                  <a:tcPr marL="45720" marR="45720" marT="18288" marB="18288">
                    <a:solidFill>
                      <a:srgbClr val="FFFFFF"/>
                    </a:solidFill>
                  </a:tcPr>
                </a:tc>
                <a:tc>
                  <a:txBody>
                    <a:bodyPr/>
                    <a:lstStyle/>
                    <a:p>
                      <a:pPr algn="ctr"/>
                      <a:r>
                        <a:rPr sz="1000" b="0">
                          <a:solidFill>
                            <a:srgbClr val="1A1A1A"/>
                          </a:solidFill>
                          <a:latin typeface="Calibri"/>
                        </a:rPr>
                        <a:t>11.4</a:t>
                      </a:r>
                    </a:p>
                  </a:txBody>
                  <a:tcPr marL="45720" marR="45720" marT="18288" marB="18288">
                    <a:solidFill>
                      <a:srgbClr val="FFFFFF"/>
                    </a:solidFill>
                  </a:tcPr>
                </a:tc>
                <a:tc>
                  <a:txBody>
                    <a:bodyPr/>
                    <a:lstStyle/>
                    <a:p>
                      <a:pPr algn="ctr"/>
                      <a:r>
                        <a:rPr sz="1000" b="0">
                          <a:solidFill>
                            <a:srgbClr val="1A1A1A"/>
                          </a:solidFill>
                          <a:latin typeface="Calibri"/>
                        </a:rPr>
                        <a:t>0.10</a:t>
                      </a:r>
                    </a:p>
                  </a:txBody>
                  <a:tcPr marL="45720" marR="45720" marT="18288" marB="18288">
                    <a:solidFill>
                      <a:srgbClr val="FFFFFF"/>
                    </a:solidFill>
                  </a:tcPr>
                </a:tc>
                <a:tc>
                  <a:txBody>
                    <a:bodyPr/>
                    <a:lstStyle/>
                    <a:p>
                      <a:pPr algn="ctr"/>
                      <a:r>
                        <a:rPr sz="1000" b="0">
                          <a:solidFill>
                            <a:srgbClr val="1A1A1A"/>
                          </a:solidFill>
                          <a:latin typeface="Calibri"/>
                        </a:rPr>
                        <a:t>1.9</a:t>
                      </a:r>
                    </a:p>
                  </a:txBody>
                  <a:tcPr marL="45720" marR="45720" marT="18288" marB="18288">
                    <a:solidFill>
                      <a:srgbClr val="FFFFFF"/>
                    </a:solidFill>
                  </a:tcPr>
                </a:tc>
                <a:tc>
                  <a:txBody>
                    <a:bodyPr/>
                    <a:lstStyle/>
                    <a:p>
                      <a:pPr algn="ctr"/>
                      <a:r>
                        <a:rPr sz="1000" b="0">
                          <a:solidFill>
                            <a:srgbClr val="1A1A1A"/>
                          </a:solidFill>
                          <a:latin typeface="Calibri"/>
                        </a:rPr>
                        <a:t>0.071</a:t>
                      </a:r>
                    </a:p>
                  </a:txBody>
                  <a:tcPr marL="45720" marR="45720" marT="18288" marB="18288">
                    <a:solidFill>
                      <a:srgbClr val="FFFFFF"/>
                    </a:solidFill>
                  </a:tcPr>
                </a:tc>
                <a:tc>
                  <a:txBody>
                    <a:bodyPr/>
                    <a:lstStyle/>
                    <a:p>
                      <a:pPr algn="ctr"/>
                      <a:r>
                        <a:rPr sz="1000" b="1" dirty="0">
                          <a:solidFill>
                            <a:srgbClr val="1A1A1A"/>
                          </a:solidFill>
                          <a:latin typeface="Calibri"/>
                        </a:rPr>
                        <a:t>0.071</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3" name="Rectangle 2"/>
          <p:cNvSpPr/>
          <p:nvPr/>
        </p:nvSpPr>
        <p:spPr>
          <a:xfrm>
            <a:off x="435309" y="4148850"/>
            <a:ext cx="8249732" cy="33650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5580" y="4148850"/>
            <a:ext cx="111483" cy="336506"/>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8461" y="4224770"/>
            <a:ext cx="3716096" cy="184666"/>
          </a:xfrm>
          <a:prstGeom prst="rect">
            <a:avLst/>
          </a:prstGeom>
          <a:noFill/>
        </p:spPr>
        <p:txBody>
          <a:bodyPr wrap="square" lIns="0" tIns="0" rIns="0" bIns="0" anchor="ctr">
            <a:spAutoFit/>
          </a:bodyPr>
          <a:lstStyle/>
          <a:p>
            <a:pPr algn="l"/>
            <a:r>
              <a:rPr sz="1200" b="1" i="0" spc="300" dirty="0">
                <a:solidFill>
                  <a:srgbClr val="FFFFFF"/>
                </a:solidFill>
                <a:latin typeface="Calibri"/>
              </a:rPr>
              <a:t>ERA 22022</a:t>
            </a:r>
          </a:p>
        </p:txBody>
      </p:sp>
      <p:sp>
        <p:nvSpPr>
          <p:cNvPr id="17" name="TextBox 16"/>
          <p:cNvSpPr txBox="1"/>
          <p:nvPr/>
        </p:nvSpPr>
        <p:spPr>
          <a:xfrm>
            <a:off x="4440380" y="4224770"/>
            <a:ext cx="4087705" cy="184666"/>
          </a:xfrm>
          <a:prstGeom prst="rect">
            <a:avLst/>
          </a:prstGeom>
          <a:noFill/>
        </p:spPr>
        <p:txBody>
          <a:bodyPr wrap="square" lIns="0" tIns="0" rIns="0" bIns="0" anchor="ctr">
            <a:spAutoFit/>
          </a:bodyPr>
          <a:lstStyle/>
          <a:p>
            <a:pPr algn="r"/>
            <a:r>
              <a:rPr sz="1200" b="1" i="0">
                <a:solidFill>
                  <a:srgbClr val="FFCD00"/>
                </a:solidFill>
                <a:latin typeface="Calibri"/>
              </a:rPr>
              <a:t>Combined Z = 0.656</a:t>
            </a:r>
          </a:p>
        </p:txBody>
      </p:sp>
      <p:graphicFrame>
        <p:nvGraphicFramePr>
          <p:cNvPr id="18" name="Table 17"/>
          <p:cNvGraphicFramePr>
            <a:graphicFrameLocks noGrp="1"/>
          </p:cNvGraphicFramePr>
          <p:nvPr>
            <p:extLst>
              <p:ext uri="{D42A27DB-BD31-4B8C-83A1-F6EECF244321}">
                <p14:modId xmlns:p14="http://schemas.microsoft.com/office/powerpoint/2010/main" val="4282349223"/>
              </p:ext>
            </p:extLst>
          </p:nvPr>
        </p:nvGraphicFramePr>
        <p:xfrm>
          <a:off x="325580" y="4468890"/>
          <a:ext cx="8361215" cy="1682530"/>
        </p:xfrm>
        <a:graphic>
          <a:graphicData uri="http://schemas.openxmlformats.org/drawingml/2006/table">
            <a:tbl>
              <a:tblPr firstRow="1" bandRow="1">
                <a:tableStyleId>{5C22544A-7EE6-4342-B048-85BDC9FD1C3A}</a:tableStyleId>
              </a:tblPr>
              <a:tblGrid>
                <a:gridCol w="510963">
                  <a:extLst>
                    <a:ext uri="{9D8B030D-6E8A-4147-A177-3AD203B41FA5}">
                      <a16:colId xmlns:a16="http://schemas.microsoft.com/office/drawing/2014/main" val="20000"/>
                    </a:ext>
                  </a:extLst>
                </a:gridCol>
                <a:gridCol w="1486438">
                  <a:extLst>
                    <a:ext uri="{9D8B030D-6E8A-4147-A177-3AD203B41FA5}">
                      <a16:colId xmlns:a16="http://schemas.microsoft.com/office/drawing/2014/main" val="20001"/>
                    </a:ext>
                  </a:extLst>
                </a:gridCol>
                <a:gridCol w="882573">
                  <a:extLst>
                    <a:ext uri="{9D8B030D-6E8A-4147-A177-3AD203B41FA5}">
                      <a16:colId xmlns:a16="http://schemas.microsoft.com/office/drawing/2014/main" val="20002"/>
                    </a:ext>
                  </a:extLst>
                </a:gridCol>
                <a:gridCol w="1161280">
                  <a:extLst>
                    <a:ext uri="{9D8B030D-6E8A-4147-A177-3AD203B41FA5}">
                      <a16:colId xmlns:a16="http://schemas.microsoft.com/office/drawing/2014/main" val="20003"/>
                    </a:ext>
                  </a:extLst>
                </a:gridCol>
                <a:gridCol w="1021926">
                  <a:extLst>
                    <a:ext uri="{9D8B030D-6E8A-4147-A177-3AD203B41FA5}">
                      <a16:colId xmlns:a16="http://schemas.microsoft.com/office/drawing/2014/main" val="20004"/>
                    </a:ext>
                  </a:extLst>
                </a:gridCol>
                <a:gridCol w="1161280">
                  <a:extLst>
                    <a:ext uri="{9D8B030D-6E8A-4147-A177-3AD203B41FA5}">
                      <a16:colId xmlns:a16="http://schemas.microsoft.com/office/drawing/2014/main" val="20005"/>
                    </a:ext>
                  </a:extLst>
                </a:gridCol>
                <a:gridCol w="975475">
                  <a:extLst>
                    <a:ext uri="{9D8B030D-6E8A-4147-A177-3AD203B41FA5}">
                      <a16:colId xmlns:a16="http://schemas.microsoft.com/office/drawing/2014/main" val="20006"/>
                    </a:ext>
                  </a:extLst>
                </a:gridCol>
                <a:gridCol w="1161280">
                  <a:extLst>
                    <a:ext uri="{9D8B030D-6E8A-4147-A177-3AD203B41FA5}">
                      <a16:colId xmlns:a16="http://schemas.microsoft.com/office/drawing/2014/main" val="20007"/>
                    </a:ext>
                  </a:extLst>
                </a:gridCol>
              </a:tblGrid>
              <a:tr h="336506">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dirty="0" err="1">
                          <a:solidFill>
                            <a:srgbClr val="FFFFFF"/>
                          </a:solidFill>
                          <a:latin typeface="Calibri"/>
                        </a:rPr>
                        <a:t>S_full</a:t>
                      </a:r>
                      <a:endParaRPr sz="1000" b="1" dirty="0">
                        <a:solidFill>
                          <a:srgbClr val="FFFFFF"/>
                        </a:solidFill>
                        <a:latin typeface="Calibri"/>
                      </a:endParaRP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36506">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0.842)</a:t>
                      </a:r>
                    </a:p>
                  </a:txBody>
                  <a:tcPr marL="45720" marR="45720" marT="18288" marB="18288">
                    <a:solidFill>
                      <a:srgbClr val="FFFFFF"/>
                    </a:solidFill>
                  </a:tcPr>
                </a:tc>
                <a:tc>
                  <a:txBody>
                    <a:bodyPr/>
                    <a:lstStyle/>
                    <a:p>
                      <a:pPr algn="ctr"/>
                      <a:r>
                        <a:rPr sz="1000" b="0">
                          <a:solidFill>
                            <a:srgbClr val="1A1A1A"/>
                          </a:solidFill>
                          <a:latin typeface="Calibri"/>
                        </a:rPr>
                        <a:t>3.17</a:t>
                      </a:r>
                    </a:p>
                  </a:txBody>
                  <a:tcPr marL="45720" marR="45720" marT="18288" marB="18288">
                    <a:solidFill>
                      <a:srgbClr val="FFFFFF"/>
                    </a:solidFill>
                  </a:tcPr>
                </a:tc>
                <a:tc>
                  <a:txBody>
                    <a:bodyPr/>
                    <a:lstStyle/>
                    <a:p>
                      <a:pPr algn="ctr"/>
                      <a:r>
                        <a:rPr sz="1000" b="0">
                          <a:solidFill>
                            <a:srgbClr val="1A1A1A"/>
                          </a:solidFill>
                          <a:latin typeface="Calibri"/>
                        </a:rPr>
                        <a:t>29,462.6</a:t>
                      </a:r>
                    </a:p>
                  </a:txBody>
                  <a:tcPr marL="45720" marR="45720" marT="18288" marB="18288">
                    <a:solidFill>
                      <a:srgbClr val="FFFFFF"/>
                    </a:solidFill>
                  </a:tcPr>
                </a:tc>
                <a:tc>
                  <a:txBody>
                    <a:bodyPr/>
                    <a:lstStyle/>
                    <a:p>
                      <a:pPr algn="ctr"/>
                      <a:r>
                        <a:rPr sz="1000" b="0">
                          <a:solidFill>
                            <a:srgbClr val="1A1A1A"/>
                          </a:solidFill>
                          <a:latin typeface="Calibri"/>
                        </a:rPr>
                        <a:t>2.13</a:t>
                      </a:r>
                    </a:p>
                  </a:txBody>
                  <a:tcPr marL="45720" marR="45720" marT="18288" marB="18288">
                    <a:solidFill>
                      <a:srgbClr val="FFFFFF"/>
                    </a:solidFill>
                  </a:tcPr>
                </a:tc>
                <a:tc>
                  <a:txBody>
                    <a:bodyPr/>
                    <a:lstStyle/>
                    <a:p>
                      <a:pPr algn="ctr"/>
                      <a:r>
                        <a:rPr sz="1000" b="0">
                          <a:solidFill>
                            <a:srgbClr val="1A1A1A"/>
                          </a:solidFill>
                          <a:latin typeface="Calibri"/>
                        </a:rPr>
                        <a:t>2,923.8</a:t>
                      </a:r>
                    </a:p>
                  </a:txBody>
                  <a:tcPr marL="45720" marR="45720" marT="18288" marB="18288">
                    <a:solidFill>
                      <a:srgbClr val="FFFFFF"/>
                    </a:solidFill>
                  </a:tcPr>
                </a:tc>
                <a:tc>
                  <a:txBody>
                    <a:bodyPr/>
                    <a:lstStyle/>
                    <a:p>
                      <a:pPr algn="ctr"/>
                      <a:r>
                        <a:rPr sz="1000" b="0">
                          <a:solidFill>
                            <a:srgbClr val="1A1A1A"/>
                          </a:solidFill>
                          <a:latin typeface="Calibri"/>
                        </a:rPr>
                        <a:t>0.039</a:t>
                      </a:r>
                    </a:p>
                  </a:txBody>
                  <a:tcPr marL="45720" marR="45720" marT="18288" marB="18288">
                    <a:solidFill>
                      <a:srgbClr val="FFFFFF"/>
                    </a:solidFill>
                  </a:tcPr>
                </a:tc>
                <a:tc>
                  <a:txBody>
                    <a:bodyPr/>
                    <a:lstStyle/>
                    <a:p>
                      <a:pPr algn="ctr"/>
                      <a:r>
                        <a:rPr sz="1000" b="1">
                          <a:solidFill>
                            <a:srgbClr val="1A1A1A"/>
                          </a:solidFill>
                          <a:latin typeface="Calibri"/>
                        </a:rPr>
                        <a:t>0.039</a:t>
                      </a:r>
                    </a:p>
                  </a:txBody>
                  <a:tcPr marL="45720" marR="45720" marT="18288" marB="18288">
                    <a:solidFill>
                      <a:srgbClr val="FFFFFF"/>
                    </a:solidFill>
                  </a:tcPr>
                </a:tc>
                <a:extLst>
                  <a:ext uri="{0D108BD9-81ED-4DB2-BD59-A6C34878D82A}">
                    <a16:rowId xmlns:a16="http://schemas.microsoft.com/office/drawing/2014/main" val="10001"/>
                  </a:ext>
                </a:extLst>
              </a:tr>
              <a:tr h="336506">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[0.842, 0.971)</a:t>
                      </a:r>
                    </a:p>
                  </a:txBody>
                  <a:tcPr marL="45720" marR="45720" marT="18288" marB="18288">
                    <a:solidFill>
                      <a:srgbClr val="FFFFFF"/>
                    </a:solidFill>
                  </a:tcPr>
                </a:tc>
                <a:tc>
                  <a:txBody>
                    <a:bodyPr/>
                    <a:lstStyle/>
                    <a:p>
                      <a:pPr algn="ctr"/>
                      <a:r>
                        <a:rPr sz="1000" b="0">
                          <a:solidFill>
                            <a:srgbClr val="1A1A1A"/>
                          </a:solidFill>
                          <a:latin typeface="Calibri"/>
                        </a:rPr>
                        <a:t>2.56</a:t>
                      </a:r>
                    </a:p>
                  </a:txBody>
                  <a:tcPr marL="45720" marR="45720" marT="18288" marB="18288">
                    <a:solidFill>
                      <a:srgbClr val="FFFFFF"/>
                    </a:solidFill>
                  </a:tcPr>
                </a:tc>
                <a:tc>
                  <a:txBody>
                    <a:bodyPr/>
                    <a:lstStyle/>
                    <a:p>
                      <a:pPr algn="ctr"/>
                      <a:r>
                        <a:rPr sz="1000" b="0">
                          <a:solidFill>
                            <a:srgbClr val="1A1A1A"/>
                          </a:solidFill>
                          <a:latin typeface="Calibri"/>
                        </a:rPr>
                        <a:t>1,030.6</a:t>
                      </a:r>
                    </a:p>
                  </a:txBody>
                  <a:tcPr marL="45720" marR="45720" marT="18288" marB="18288">
                    <a:solidFill>
                      <a:srgbClr val="FFFFFF"/>
                    </a:solidFill>
                  </a:tcPr>
                </a:tc>
                <a:tc>
                  <a:txBody>
                    <a:bodyPr/>
                    <a:lstStyle/>
                    <a:p>
                      <a:pPr algn="ctr"/>
                      <a:r>
                        <a:rPr sz="1000" b="0">
                          <a:solidFill>
                            <a:srgbClr val="1A1A1A"/>
                          </a:solidFill>
                          <a:latin typeface="Calibri"/>
                        </a:rPr>
                        <a:t>1.75</a:t>
                      </a:r>
                    </a:p>
                  </a:txBody>
                  <a:tcPr marL="45720" marR="45720" marT="18288" marB="18288">
                    <a:solidFill>
                      <a:srgbClr val="FFFFFF"/>
                    </a:solidFill>
                  </a:tcPr>
                </a:tc>
                <a:tc>
                  <a:txBody>
                    <a:bodyPr/>
                    <a:lstStyle/>
                    <a:p>
                      <a:pPr algn="ctr"/>
                      <a:r>
                        <a:rPr sz="1000" b="0">
                          <a:solidFill>
                            <a:srgbClr val="1A1A1A"/>
                          </a:solidFill>
                          <a:latin typeface="Calibri"/>
                        </a:rPr>
                        <a:t>99.2</a:t>
                      </a:r>
                    </a:p>
                  </a:txBody>
                  <a:tcPr marL="45720" marR="45720" marT="18288" marB="18288">
                    <a:solidFill>
                      <a:srgbClr val="FFFFFF"/>
                    </a:solidFill>
                  </a:tcPr>
                </a:tc>
                <a:tc>
                  <a:txBody>
                    <a:bodyPr/>
                    <a:lstStyle/>
                    <a:p>
                      <a:pPr algn="ctr"/>
                      <a:r>
                        <a:rPr sz="1000" b="0">
                          <a:solidFill>
                            <a:srgbClr val="1A1A1A"/>
                          </a:solidFill>
                          <a:latin typeface="Calibri"/>
                        </a:rPr>
                        <a:t>0.175</a:t>
                      </a:r>
                    </a:p>
                  </a:txBody>
                  <a:tcPr marL="45720" marR="45720" marT="18288" marB="18288">
                    <a:solidFill>
                      <a:srgbClr val="FFFFFF"/>
                    </a:solidFill>
                  </a:tcPr>
                </a:tc>
                <a:tc>
                  <a:txBody>
                    <a:bodyPr/>
                    <a:lstStyle/>
                    <a:p>
                      <a:pPr algn="ctr"/>
                      <a:r>
                        <a:rPr sz="1000" b="1">
                          <a:solidFill>
                            <a:srgbClr val="1A1A1A"/>
                          </a:solidFill>
                          <a:latin typeface="Calibri"/>
                        </a:rPr>
                        <a:t>0.175</a:t>
                      </a:r>
                    </a:p>
                  </a:txBody>
                  <a:tcPr marL="45720" marR="45720" marT="18288" marB="18288">
                    <a:solidFill>
                      <a:srgbClr val="FFFFFF"/>
                    </a:solidFill>
                  </a:tcPr>
                </a:tc>
                <a:extLst>
                  <a:ext uri="{0D108BD9-81ED-4DB2-BD59-A6C34878D82A}">
                    <a16:rowId xmlns:a16="http://schemas.microsoft.com/office/drawing/2014/main" val="10002"/>
                  </a:ext>
                </a:extLst>
              </a:tr>
              <a:tr h="336506">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[0.971, 0.990)</a:t>
                      </a:r>
                    </a:p>
                  </a:txBody>
                  <a:tcPr marL="45720" marR="45720" marT="18288" marB="18288">
                    <a:solidFill>
                      <a:srgbClr val="FFFFFF"/>
                    </a:solidFill>
                  </a:tcPr>
                </a:tc>
                <a:tc>
                  <a:txBody>
                    <a:bodyPr/>
                    <a:lstStyle/>
                    <a:p>
                      <a:pPr algn="ctr"/>
                      <a:r>
                        <a:rPr sz="1000" b="0">
                          <a:solidFill>
                            <a:srgbClr val="1A1A1A"/>
                          </a:solidFill>
                          <a:latin typeface="Calibri"/>
                        </a:rPr>
                        <a:t>1.09</a:t>
                      </a:r>
                    </a:p>
                  </a:txBody>
                  <a:tcPr marL="45720" marR="45720" marT="18288" marB="18288">
                    <a:solidFill>
                      <a:srgbClr val="FFFFFF"/>
                    </a:solidFill>
                  </a:tcPr>
                </a:tc>
                <a:tc>
                  <a:txBody>
                    <a:bodyPr/>
                    <a:lstStyle/>
                    <a:p>
                      <a:pPr algn="ctr"/>
                      <a:r>
                        <a:rPr sz="1000" b="0">
                          <a:solidFill>
                            <a:srgbClr val="1A1A1A"/>
                          </a:solidFill>
                          <a:latin typeface="Calibri"/>
                        </a:rPr>
                        <a:t>75.1</a:t>
                      </a:r>
                    </a:p>
                  </a:txBody>
                  <a:tcPr marL="45720" marR="45720" marT="18288" marB="18288">
                    <a:solidFill>
                      <a:srgbClr val="FFFFFF"/>
                    </a:solidFill>
                  </a:tcPr>
                </a:tc>
                <a:tc>
                  <a:txBody>
                    <a:bodyPr/>
                    <a:lstStyle/>
                    <a:p>
                      <a:pPr algn="ctr"/>
                      <a:r>
                        <a:rPr sz="1000" b="0">
                          <a:solidFill>
                            <a:srgbClr val="1A1A1A"/>
                          </a:solidFill>
                          <a:latin typeface="Calibri"/>
                        </a:rPr>
                        <a:t>0.75</a:t>
                      </a:r>
                    </a:p>
                  </a:txBody>
                  <a:tcPr marL="45720" marR="45720" marT="18288" marB="18288">
                    <a:solidFill>
                      <a:srgbClr val="FFFFFF"/>
                    </a:solidFill>
                  </a:tcPr>
                </a:tc>
                <a:tc>
                  <a:txBody>
                    <a:bodyPr/>
                    <a:lstStyle/>
                    <a:p>
                      <a:pPr algn="ctr"/>
                      <a:r>
                        <a:rPr sz="1000" b="0" dirty="0">
                          <a:solidFill>
                            <a:srgbClr val="1A1A1A"/>
                          </a:solidFill>
                          <a:latin typeface="Calibri"/>
                        </a:rPr>
                        <a:t>5.3</a:t>
                      </a:r>
                    </a:p>
                  </a:txBody>
                  <a:tcPr marL="45720" marR="45720" marT="18288" marB="18288">
                    <a:solidFill>
                      <a:srgbClr val="FFFFFF"/>
                    </a:solidFill>
                  </a:tcPr>
                </a:tc>
                <a:tc>
                  <a:txBody>
                    <a:bodyPr/>
                    <a:lstStyle/>
                    <a:p>
                      <a:pPr algn="ctr"/>
                      <a:r>
                        <a:rPr sz="1000" b="0">
                          <a:solidFill>
                            <a:srgbClr val="1A1A1A"/>
                          </a:solidFill>
                          <a:latin typeface="Calibri"/>
                        </a:rPr>
                        <a:t>0.326</a:t>
                      </a:r>
                    </a:p>
                  </a:txBody>
                  <a:tcPr marL="45720" marR="45720" marT="18288" marB="18288">
                    <a:solidFill>
                      <a:srgbClr val="FFFFFF"/>
                    </a:solidFill>
                  </a:tcPr>
                </a:tc>
                <a:tc>
                  <a:txBody>
                    <a:bodyPr/>
                    <a:lstStyle/>
                    <a:p>
                      <a:pPr algn="ctr"/>
                      <a:r>
                        <a:rPr sz="1000" b="1">
                          <a:solidFill>
                            <a:srgbClr val="1A1A1A"/>
                          </a:solidFill>
                          <a:latin typeface="Calibri"/>
                        </a:rPr>
                        <a:t>0.319</a:t>
                      </a:r>
                    </a:p>
                  </a:txBody>
                  <a:tcPr marL="45720" marR="45720" marT="18288" marB="18288">
                    <a:solidFill>
                      <a:srgbClr val="FFFFFF"/>
                    </a:solidFill>
                  </a:tcPr>
                </a:tc>
                <a:extLst>
                  <a:ext uri="{0D108BD9-81ED-4DB2-BD59-A6C34878D82A}">
                    <a16:rowId xmlns:a16="http://schemas.microsoft.com/office/drawing/2014/main" val="10003"/>
                  </a:ext>
                </a:extLst>
              </a:tr>
              <a:tr h="336506">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a:solidFill>
                            <a:srgbClr val="1A1A1A"/>
                          </a:solidFill>
                          <a:latin typeface="Calibri"/>
                        </a:rPr>
                        <a:t>[0.990, 1.000)</a:t>
                      </a:r>
                    </a:p>
                  </a:txBody>
                  <a:tcPr marL="45720" marR="45720" marT="18288" marB="18288">
                    <a:solidFill>
                      <a:srgbClr val="FFFFFF"/>
                    </a:solidFill>
                  </a:tcPr>
                </a:tc>
                <a:tc>
                  <a:txBody>
                    <a:bodyPr/>
                    <a:lstStyle/>
                    <a:p>
                      <a:pPr algn="ctr"/>
                      <a:r>
                        <a:rPr sz="1000" b="0">
                          <a:solidFill>
                            <a:srgbClr val="1A1A1A"/>
                          </a:solidFill>
                          <a:latin typeface="Calibri"/>
                        </a:rPr>
                        <a:t>0.57</a:t>
                      </a:r>
                    </a:p>
                  </a:txBody>
                  <a:tcPr marL="45720" marR="45720" marT="18288" marB="18288">
                    <a:solidFill>
                      <a:srgbClr val="FFFFFF"/>
                    </a:solidFill>
                  </a:tcPr>
                </a:tc>
                <a:tc>
                  <a:txBody>
                    <a:bodyPr/>
                    <a:lstStyle/>
                    <a:p>
                      <a:pPr algn="ctr"/>
                      <a:r>
                        <a:rPr sz="1000" b="0">
                          <a:solidFill>
                            <a:srgbClr val="1A1A1A"/>
                          </a:solidFill>
                          <a:latin typeface="Calibri"/>
                        </a:rPr>
                        <a:t>15.7</a:t>
                      </a:r>
                    </a:p>
                  </a:txBody>
                  <a:tcPr marL="45720" marR="45720" marT="18288" marB="18288">
                    <a:solidFill>
                      <a:srgbClr val="FFFFFF"/>
                    </a:solidFill>
                  </a:tcPr>
                </a:tc>
                <a:tc>
                  <a:txBody>
                    <a:bodyPr/>
                    <a:lstStyle/>
                    <a:p>
                      <a:pPr algn="ctr"/>
                      <a:r>
                        <a:rPr sz="1000" b="0">
                          <a:solidFill>
                            <a:srgbClr val="1A1A1A"/>
                          </a:solidFill>
                          <a:latin typeface="Calibri"/>
                        </a:rPr>
                        <a:t>0.40</a:t>
                      </a:r>
                    </a:p>
                  </a:txBody>
                  <a:tcPr marL="45720" marR="45720" marT="18288" marB="18288">
                    <a:solidFill>
                      <a:srgbClr val="FFFFFF"/>
                    </a:solidFill>
                  </a:tcPr>
                </a:tc>
                <a:tc>
                  <a:txBody>
                    <a:bodyPr/>
                    <a:lstStyle/>
                    <a:p>
                      <a:pPr algn="ctr"/>
                      <a:r>
                        <a:rPr sz="1000" b="0">
                          <a:solidFill>
                            <a:srgbClr val="1A1A1A"/>
                          </a:solidFill>
                          <a:latin typeface="Calibri"/>
                        </a:rPr>
                        <a:t>1.1</a:t>
                      </a:r>
                    </a:p>
                  </a:txBody>
                  <a:tcPr marL="45720" marR="45720" marT="18288" marB="18288">
                    <a:solidFill>
                      <a:srgbClr val="FFFFFF"/>
                    </a:solidFill>
                  </a:tcPr>
                </a:tc>
                <a:tc>
                  <a:txBody>
                    <a:bodyPr/>
                    <a:lstStyle/>
                    <a:p>
                      <a:pPr algn="ctr"/>
                      <a:r>
                        <a:rPr sz="1000" b="0">
                          <a:solidFill>
                            <a:srgbClr val="1A1A1A"/>
                          </a:solidFill>
                          <a:latin typeface="Calibri"/>
                        </a:rPr>
                        <a:t>0.383</a:t>
                      </a:r>
                    </a:p>
                  </a:txBody>
                  <a:tcPr marL="45720" marR="45720" marT="18288" marB="18288">
                    <a:solidFill>
                      <a:srgbClr val="FFFFFF"/>
                    </a:solidFill>
                  </a:tcPr>
                </a:tc>
                <a:tc>
                  <a:txBody>
                    <a:bodyPr/>
                    <a:lstStyle/>
                    <a:p>
                      <a:pPr algn="ctr"/>
                      <a:r>
                        <a:rPr sz="1000" b="1" dirty="0">
                          <a:solidFill>
                            <a:srgbClr val="1A1A1A"/>
                          </a:solidFill>
                          <a:latin typeface="Calibri"/>
                        </a:rPr>
                        <a:t>0.362</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486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rPr sz="3200" dirty="0"/>
              <a:t>Per-era yields: </a:t>
            </a:r>
            <a:r>
              <a:rPr lang="en-US" sz="3200" dirty="0"/>
              <a:t>1</a:t>
            </a:r>
            <a:r>
              <a:rPr sz="3200" dirty="0"/>
              <a:t>202</a:t>
            </a:r>
            <a:r>
              <a:rPr lang="en-US" sz="3200" dirty="0"/>
              <a:t>3</a:t>
            </a:r>
            <a:r>
              <a:rPr sz="3200" dirty="0"/>
              <a:t>, 22023</a:t>
            </a:r>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BDT range, S/B, S/√B, and Asimov Z per category — HWHM mass window</a:t>
            </a:r>
            <a:endParaRPr lang="en-US" dirty="0"/>
          </a:p>
        </p:txBody>
      </p:sp>
      <p:sp>
        <p:nvSpPr>
          <p:cNvPr id="11" name="Rectangle 10"/>
          <p:cNvSpPr/>
          <p:nvPr/>
        </p:nvSpPr>
        <p:spPr>
          <a:xfrm>
            <a:off x="426719" y="4160520"/>
            <a:ext cx="8412481" cy="320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6718" y="4160520"/>
            <a:ext cx="112166" cy="32004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533" y="4228207"/>
            <a:ext cx="3738880" cy="184666"/>
          </a:xfrm>
          <a:prstGeom prst="rect">
            <a:avLst/>
          </a:prstGeom>
          <a:noFill/>
        </p:spPr>
        <p:txBody>
          <a:bodyPr wrap="square" lIns="0" tIns="0" rIns="0" bIns="0" anchor="ctr">
            <a:spAutoFit/>
          </a:bodyPr>
          <a:lstStyle/>
          <a:p>
            <a:pPr algn="l"/>
            <a:r>
              <a:rPr sz="1200" b="1" i="0" spc="300">
                <a:solidFill>
                  <a:srgbClr val="FFFFFF"/>
                </a:solidFill>
                <a:latin typeface="Calibri"/>
              </a:rPr>
              <a:t>ERA 22023</a:t>
            </a:r>
          </a:p>
        </p:txBody>
      </p:sp>
      <p:sp>
        <p:nvSpPr>
          <p:cNvPr id="14" name="TextBox 13"/>
          <p:cNvSpPr txBox="1"/>
          <p:nvPr/>
        </p:nvSpPr>
        <p:spPr>
          <a:xfrm>
            <a:off x="4557097" y="4228207"/>
            <a:ext cx="4112769" cy="184666"/>
          </a:xfrm>
          <a:prstGeom prst="rect">
            <a:avLst/>
          </a:prstGeom>
          <a:noFill/>
        </p:spPr>
        <p:txBody>
          <a:bodyPr wrap="square" lIns="0" tIns="0" rIns="0" bIns="0" anchor="ctr">
            <a:spAutoFit/>
          </a:bodyPr>
          <a:lstStyle/>
          <a:p>
            <a:pPr algn="r"/>
            <a:r>
              <a:rPr sz="1200" b="1" i="0">
                <a:solidFill>
                  <a:srgbClr val="FFCD00"/>
                </a:solidFill>
                <a:latin typeface="Calibri"/>
              </a:rPr>
              <a:t>Combined Z = 0.196</a:t>
            </a:r>
          </a:p>
        </p:txBody>
      </p:sp>
      <p:graphicFrame>
        <p:nvGraphicFramePr>
          <p:cNvPr id="15" name="Table 14"/>
          <p:cNvGraphicFramePr>
            <a:graphicFrameLocks noGrp="1"/>
          </p:cNvGraphicFramePr>
          <p:nvPr>
            <p:extLst>
              <p:ext uri="{D42A27DB-BD31-4B8C-83A1-F6EECF244321}">
                <p14:modId xmlns:p14="http://schemas.microsoft.com/office/powerpoint/2010/main" val="4002083001"/>
              </p:ext>
            </p:extLst>
          </p:nvPr>
        </p:nvGraphicFramePr>
        <p:xfrm>
          <a:off x="426720" y="4480559"/>
          <a:ext cx="8412480" cy="1600200"/>
        </p:xfrm>
        <a:graphic>
          <a:graphicData uri="http://schemas.openxmlformats.org/drawingml/2006/table">
            <a:tbl>
              <a:tblPr firstRow="1" bandRow="1">
                <a:tableStyleId>{5C22544A-7EE6-4342-B048-85BDC9FD1C3A}</a:tableStyleId>
              </a:tblPr>
              <a:tblGrid>
                <a:gridCol w="514096">
                  <a:extLst>
                    <a:ext uri="{9D8B030D-6E8A-4147-A177-3AD203B41FA5}">
                      <a16:colId xmlns:a16="http://schemas.microsoft.com/office/drawing/2014/main" val="20000"/>
                    </a:ext>
                  </a:extLst>
                </a:gridCol>
                <a:gridCol w="1495552">
                  <a:extLst>
                    <a:ext uri="{9D8B030D-6E8A-4147-A177-3AD203B41FA5}">
                      <a16:colId xmlns:a16="http://schemas.microsoft.com/office/drawing/2014/main" val="20001"/>
                    </a:ext>
                  </a:extLst>
                </a:gridCol>
                <a:gridCol w="887984">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gridCol w="1028192">
                  <a:extLst>
                    <a:ext uri="{9D8B030D-6E8A-4147-A177-3AD203B41FA5}">
                      <a16:colId xmlns:a16="http://schemas.microsoft.com/office/drawing/2014/main" val="20004"/>
                    </a:ext>
                  </a:extLst>
                </a:gridCol>
                <a:gridCol w="1168400">
                  <a:extLst>
                    <a:ext uri="{9D8B030D-6E8A-4147-A177-3AD203B41FA5}">
                      <a16:colId xmlns:a16="http://schemas.microsoft.com/office/drawing/2014/main" val="20005"/>
                    </a:ext>
                  </a:extLst>
                </a:gridCol>
                <a:gridCol w="981456">
                  <a:extLst>
                    <a:ext uri="{9D8B030D-6E8A-4147-A177-3AD203B41FA5}">
                      <a16:colId xmlns:a16="http://schemas.microsoft.com/office/drawing/2014/main" val="20006"/>
                    </a:ext>
                  </a:extLst>
                </a:gridCol>
                <a:gridCol w="1168400">
                  <a:extLst>
                    <a:ext uri="{9D8B030D-6E8A-4147-A177-3AD203B41FA5}">
                      <a16:colId xmlns:a16="http://schemas.microsoft.com/office/drawing/2014/main" val="20007"/>
                    </a:ext>
                  </a:extLst>
                </a:gridCol>
              </a:tblGrid>
              <a:tr h="320040">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S_full</a:t>
                      </a: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20040">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0.792)</a:t>
                      </a:r>
                    </a:p>
                  </a:txBody>
                  <a:tcPr marL="45720" marR="45720" marT="18288" marB="18288">
                    <a:solidFill>
                      <a:srgbClr val="FFFFFF"/>
                    </a:solidFill>
                  </a:tcPr>
                </a:tc>
                <a:tc>
                  <a:txBody>
                    <a:bodyPr/>
                    <a:lstStyle/>
                    <a:p>
                      <a:pPr algn="ctr"/>
                      <a:r>
                        <a:rPr sz="1000" b="0">
                          <a:solidFill>
                            <a:srgbClr val="1A1A1A"/>
                          </a:solidFill>
                          <a:latin typeface="Calibri"/>
                        </a:rPr>
                        <a:t>0.88</a:t>
                      </a:r>
                    </a:p>
                  </a:txBody>
                  <a:tcPr marL="45720" marR="45720" marT="18288" marB="18288">
                    <a:solidFill>
                      <a:srgbClr val="FFFFFF"/>
                    </a:solidFill>
                  </a:tcPr>
                </a:tc>
                <a:tc>
                  <a:txBody>
                    <a:bodyPr/>
                    <a:lstStyle/>
                    <a:p>
                      <a:pPr algn="ctr"/>
                      <a:r>
                        <a:rPr sz="1000" b="0">
                          <a:solidFill>
                            <a:srgbClr val="1A1A1A"/>
                          </a:solidFill>
                          <a:latin typeface="Calibri"/>
                        </a:rPr>
                        <a:t>11,298.6</a:t>
                      </a:r>
                    </a:p>
                  </a:txBody>
                  <a:tcPr marL="45720" marR="45720" marT="18288" marB="18288">
                    <a:solidFill>
                      <a:srgbClr val="FFFFFF"/>
                    </a:solidFill>
                  </a:tcPr>
                </a:tc>
                <a:tc>
                  <a:txBody>
                    <a:bodyPr/>
                    <a:lstStyle/>
                    <a:p>
                      <a:pPr algn="ctr"/>
                      <a:r>
                        <a:rPr sz="1000" b="0">
                          <a:solidFill>
                            <a:srgbClr val="1A1A1A"/>
                          </a:solidFill>
                          <a:latin typeface="Calibri"/>
                        </a:rPr>
                        <a:t>0.60</a:t>
                      </a:r>
                    </a:p>
                  </a:txBody>
                  <a:tcPr marL="45720" marR="45720" marT="18288" marB="18288">
                    <a:solidFill>
                      <a:srgbClr val="FFFFFF"/>
                    </a:solidFill>
                  </a:tcPr>
                </a:tc>
                <a:tc>
                  <a:txBody>
                    <a:bodyPr/>
                    <a:lstStyle/>
                    <a:p>
                      <a:pPr algn="ctr"/>
                      <a:r>
                        <a:rPr sz="1000" b="0">
                          <a:solidFill>
                            <a:srgbClr val="1A1A1A"/>
                          </a:solidFill>
                          <a:latin typeface="Calibri"/>
                        </a:rPr>
                        <a:t>1,218.0</a:t>
                      </a:r>
                    </a:p>
                  </a:txBody>
                  <a:tcPr marL="45720" marR="45720" marT="18288" marB="18288">
                    <a:solidFill>
                      <a:srgbClr val="FFFFFF"/>
                    </a:solidFill>
                  </a:tcPr>
                </a:tc>
                <a:tc>
                  <a:txBody>
                    <a:bodyPr/>
                    <a:lstStyle/>
                    <a:p>
                      <a:pPr algn="ctr"/>
                      <a:r>
                        <a:rPr sz="1000" b="0">
                          <a:solidFill>
                            <a:srgbClr val="1A1A1A"/>
                          </a:solidFill>
                          <a:latin typeface="Calibri"/>
                        </a:rPr>
                        <a:t>0.017</a:t>
                      </a:r>
                    </a:p>
                  </a:txBody>
                  <a:tcPr marL="45720" marR="45720" marT="18288" marB="18288">
                    <a:solidFill>
                      <a:srgbClr val="FFFFFF"/>
                    </a:solidFill>
                  </a:tcPr>
                </a:tc>
                <a:tc>
                  <a:txBody>
                    <a:bodyPr/>
                    <a:lstStyle/>
                    <a:p>
                      <a:pPr algn="ctr"/>
                      <a:r>
                        <a:rPr sz="1000" b="1">
                          <a:solidFill>
                            <a:srgbClr val="1A1A1A"/>
                          </a:solidFill>
                          <a:latin typeface="Calibri"/>
                        </a:rPr>
                        <a:t>0.017</a:t>
                      </a:r>
                    </a:p>
                  </a:txBody>
                  <a:tcPr marL="45720" marR="45720" marT="18288" marB="18288">
                    <a:solidFill>
                      <a:srgbClr val="FFFFFF"/>
                    </a:solidFill>
                  </a:tcPr>
                </a:tc>
                <a:extLst>
                  <a:ext uri="{0D108BD9-81ED-4DB2-BD59-A6C34878D82A}">
                    <a16:rowId xmlns:a16="http://schemas.microsoft.com/office/drawing/2014/main" val="10001"/>
                  </a:ext>
                </a:extLst>
              </a:tr>
              <a:tr h="320040">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[0.792, 0.937)</a:t>
                      </a:r>
                    </a:p>
                  </a:txBody>
                  <a:tcPr marL="45720" marR="45720" marT="18288" marB="18288">
                    <a:solidFill>
                      <a:srgbClr val="FFFFFF"/>
                    </a:solidFill>
                  </a:tcPr>
                </a:tc>
                <a:tc>
                  <a:txBody>
                    <a:bodyPr/>
                    <a:lstStyle/>
                    <a:p>
                      <a:pPr algn="ctr"/>
                      <a:r>
                        <a:rPr sz="1000" b="0">
                          <a:solidFill>
                            <a:srgbClr val="1A1A1A"/>
                          </a:solidFill>
                          <a:latin typeface="Calibri"/>
                        </a:rPr>
                        <a:t>0.68</a:t>
                      </a:r>
                    </a:p>
                  </a:txBody>
                  <a:tcPr marL="45720" marR="45720" marT="18288" marB="18288">
                    <a:solidFill>
                      <a:srgbClr val="FFFFFF"/>
                    </a:solidFill>
                  </a:tcPr>
                </a:tc>
                <a:tc>
                  <a:txBody>
                    <a:bodyPr/>
                    <a:lstStyle/>
                    <a:p>
                      <a:pPr algn="ctr"/>
                      <a:r>
                        <a:rPr sz="1000" b="0">
                          <a:solidFill>
                            <a:srgbClr val="1A1A1A"/>
                          </a:solidFill>
                          <a:latin typeface="Calibri"/>
                        </a:rPr>
                        <a:t>521.5</a:t>
                      </a:r>
                    </a:p>
                  </a:txBody>
                  <a:tcPr marL="45720" marR="45720" marT="18288" marB="18288">
                    <a:solidFill>
                      <a:srgbClr val="FFFFFF"/>
                    </a:solidFill>
                  </a:tcPr>
                </a:tc>
                <a:tc>
                  <a:txBody>
                    <a:bodyPr/>
                    <a:lstStyle/>
                    <a:p>
                      <a:pPr algn="ctr"/>
                      <a:r>
                        <a:rPr sz="1000" b="0">
                          <a:solidFill>
                            <a:srgbClr val="1A1A1A"/>
                          </a:solidFill>
                          <a:latin typeface="Calibri"/>
                        </a:rPr>
                        <a:t>0.47</a:t>
                      </a:r>
                    </a:p>
                  </a:txBody>
                  <a:tcPr marL="45720" marR="45720" marT="18288" marB="18288">
                    <a:solidFill>
                      <a:srgbClr val="FFFFFF"/>
                    </a:solidFill>
                  </a:tcPr>
                </a:tc>
                <a:tc>
                  <a:txBody>
                    <a:bodyPr/>
                    <a:lstStyle/>
                    <a:p>
                      <a:pPr algn="ctr"/>
                      <a:r>
                        <a:rPr sz="1000" b="0">
                          <a:solidFill>
                            <a:srgbClr val="1A1A1A"/>
                          </a:solidFill>
                          <a:latin typeface="Calibri"/>
                        </a:rPr>
                        <a:t>50.2</a:t>
                      </a:r>
                    </a:p>
                  </a:txBody>
                  <a:tcPr marL="45720" marR="45720" marT="18288" marB="18288">
                    <a:solidFill>
                      <a:srgbClr val="FFFFFF"/>
                    </a:solidFill>
                  </a:tcPr>
                </a:tc>
                <a:tc>
                  <a:txBody>
                    <a:bodyPr/>
                    <a:lstStyle/>
                    <a:p>
                      <a:pPr algn="ctr"/>
                      <a:r>
                        <a:rPr sz="1000" b="0">
                          <a:solidFill>
                            <a:srgbClr val="1A1A1A"/>
                          </a:solidFill>
                          <a:latin typeface="Calibri"/>
                        </a:rPr>
                        <a:t>0.066</a:t>
                      </a:r>
                    </a:p>
                  </a:txBody>
                  <a:tcPr marL="45720" marR="45720" marT="18288" marB="18288">
                    <a:solidFill>
                      <a:srgbClr val="FFFFFF"/>
                    </a:solidFill>
                  </a:tcPr>
                </a:tc>
                <a:tc>
                  <a:txBody>
                    <a:bodyPr/>
                    <a:lstStyle/>
                    <a:p>
                      <a:pPr algn="ctr"/>
                      <a:r>
                        <a:rPr sz="1000" b="1">
                          <a:solidFill>
                            <a:srgbClr val="1A1A1A"/>
                          </a:solidFill>
                          <a:latin typeface="Calibri"/>
                        </a:rPr>
                        <a:t>0.066</a:t>
                      </a:r>
                    </a:p>
                  </a:txBody>
                  <a:tcPr marL="45720" marR="45720" marT="18288" marB="18288">
                    <a:solidFill>
                      <a:srgbClr val="FFFFFF"/>
                    </a:solidFill>
                  </a:tcPr>
                </a:tc>
                <a:extLst>
                  <a:ext uri="{0D108BD9-81ED-4DB2-BD59-A6C34878D82A}">
                    <a16:rowId xmlns:a16="http://schemas.microsoft.com/office/drawing/2014/main" val="10002"/>
                  </a:ext>
                </a:extLst>
              </a:tr>
              <a:tr h="320040">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[0.937, 0.971)</a:t>
                      </a:r>
                    </a:p>
                  </a:txBody>
                  <a:tcPr marL="45720" marR="45720" marT="18288" marB="18288">
                    <a:solidFill>
                      <a:srgbClr val="FFFFFF"/>
                    </a:solidFill>
                  </a:tcPr>
                </a:tc>
                <a:tc>
                  <a:txBody>
                    <a:bodyPr/>
                    <a:lstStyle/>
                    <a:p>
                      <a:pPr algn="ctr"/>
                      <a:r>
                        <a:rPr sz="1000" b="0">
                          <a:solidFill>
                            <a:srgbClr val="1A1A1A"/>
                          </a:solidFill>
                          <a:latin typeface="Calibri"/>
                        </a:rPr>
                        <a:t>0.43</a:t>
                      </a:r>
                    </a:p>
                  </a:txBody>
                  <a:tcPr marL="45720" marR="45720" marT="18288" marB="18288">
                    <a:solidFill>
                      <a:srgbClr val="FFFFFF"/>
                    </a:solidFill>
                  </a:tcPr>
                </a:tc>
                <a:tc>
                  <a:txBody>
                    <a:bodyPr/>
                    <a:lstStyle/>
                    <a:p>
                      <a:pPr algn="ctr"/>
                      <a:r>
                        <a:rPr sz="1000" b="0">
                          <a:solidFill>
                            <a:srgbClr val="1A1A1A"/>
                          </a:solidFill>
                          <a:latin typeface="Calibri"/>
                        </a:rPr>
                        <a:t>100.1</a:t>
                      </a:r>
                    </a:p>
                  </a:txBody>
                  <a:tcPr marL="45720" marR="45720" marT="18288" marB="18288">
                    <a:solidFill>
                      <a:srgbClr val="FFFFFF"/>
                    </a:solidFill>
                  </a:tcPr>
                </a:tc>
                <a:tc>
                  <a:txBody>
                    <a:bodyPr/>
                    <a:lstStyle/>
                    <a:p>
                      <a:pPr algn="ctr"/>
                      <a:r>
                        <a:rPr sz="1000" b="0">
                          <a:solidFill>
                            <a:srgbClr val="1A1A1A"/>
                          </a:solidFill>
                          <a:latin typeface="Calibri"/>
                        </a:rPr>
                        <a:t>0.29</a:t>
                      </a:r>
                    </a:p>
                  </a:txBody>
                  <a:tcPr marL="45720" marR="45720" marT="18288" marB="18288">
                    <a:solidFill>
                      <a:srgbClr val="FFFFFF"/>
                    </a:solidFill>
                  </a:tcPr>
                </a:tc>
                <a:tc>
                  <a:txBody>
                    <a:bodyPr/>
                    <a:lstStyle/>
                    <a:p>
                      <a:pPr algn="ctr"/>
                      <a:r>
                        <a:rPr sz="1000" b="0">
                          <a:solidFill>
                            <a:srgbClr val="1A1A1A"/>
                          </a:solidFill>
                          <a:latin typeface="Calibri"/>
                        </a:rPr>
                        <a:t>5.2</a:t>
                      </a:r>
                    </a:p>
                  </a:txBody>
                  <a:tcPr marL="45720" marR="45720" marT="18288" marB="18288">
                    <a:solidFill>
                      <a:srgbClr val="FFFFFF"/>
                    </a:solidFill>
                  </a:tcPr>
                </a:tc>
                <a:tc>
                  <a:txBody>
                    <a:bodyPr/>
                    <a:lstStyle/>
                    <a:p>
                      <a:pPr algn="ctr"/>
                      <a:r>
                        <a:rPr sz="1000" b="0">
                          <a:solidFill>
                            <a:srgbClr val="1A1A1A"/>
                          </a:solidFill>
                          <a:latin typeface="Calibri"/>
                        </a:rPr>
                        <a:t>0.128</a:t>
                      </a:r>
                    </a:p>
                  </a:txBody>
                  <a:tcPr marL="45720" marR="45720" marT="18288" marB="18288">
                    <a:solidFill>
                      <a:srgbClr val="FFFFFF"/>
                    </a:solidFill>
                  </a:tcPr>
                </a:tc>
                <a:tc>
                  <a:txBody>
                    <a:bodyPr/>
                    <a:lstStyle/>
                    <a:p>
                      <a:pPr algn="ctr"/>
                      <a:r>
                        <a:rPr sz="1000" b="1">
                          <a:solidFill>
                            <a:srgbClr val="1A1A1A"/>
                          </a:solidFill>
                          <a:latin typeface="Calibri"/>
                        </a:rPr>
                        <a:t>0.126</a:t>
                      </a:r>
                    </a:p>
                  </a:txBody>
                  <a:tcPr marL="45720" marR="45720" marT="18288" marB="18288">
                    <a:solidFill>
                      <a:srgbClr val="FFFFFF"/>
                    </a:solidFill>
                  </a:tcPr>
                </a:tc>
                <a:extLst>
                  <a:ext uri="{0D108BD9-81ED-4DB2-BD59-A6C34878D82A}">
                    <a16:rowId xmlns:a16="http://schemas.microsoft.com/office/drawing/2014/main" val="10003"/>
                  </a:ext>
                </a:extLst>
              </a:tr>
              <a:tr h="320040">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a:solidFill>
                            <a:srgbClr val="1A1A1A"/>
                          </a:solidFill>
                          <a:latin typeface="Calibri"/>
                        </a:rPr>
                        <a:t>[0.971, 1.000)</a:t>
                      </a:r>
                    </a:p>
                  </a:txBody>
                  <a:tcPr marL="45720" marR="45720" marT="18288" marB="18288">
                    <a:solidFill>
                      <a:srgbClr val="FFFFFF"/>
                    </a:solidFill>
                  </a:tcPr>
                </a:tc>
                <a:tc>
                  <a:txBody>
                    <a:bodyPr/>
                    <a:lstStyle/>
                    <a:p>
                      <a:pPr algn="ctr"/>
                      <a:r>
                        <a:rPr sz="1000" b="0">
                          <a:solidFill>
                            <a:srgbClr val="1A1A1A"/>
                          </a:solidFill>
                          <a:latin typeface="Calibri"/>
                        </a:rPr>
                        <a:t>0.61</a:t>
                      </a:r>
                    </a:p>
                  </a:txBody>
                  <a:tcPr marL="45720" marR="45720" marT="18288" marB="18288">
                    <a:solidFill>
                      <a:srgbClr val="FFFFFF"/>
                    </a:solidFill>
                  </a:tcPr>
                </a:tc>
                <a:tc>
                  <a:txBody>
                    <a:bodyPr/>
                    <a:lstStyle/>
                    <a:p>
                      <a:pPr algn="ctr"/>
                      <a:r>
                        <a:rPr sz="1000" b="0">
                          <a:solidFill>
                            <a:srgbClr val="1A1A1A"/>
                          </a:solidFill>
                          <a:latin typeface="Calibri"/>
                        </a:rPr>
                        <a:t>76.2</a:t>
                      </a:r>
                    </a:p>
                  </a:txBody>
                  <a:tcPr marL="45720" marR="45720" marT="18288" marB="18288">
                    <a:solidFill>
                      <a:srgbClr val="FFFFFF"/>
                    </a:solidFill>
                  </a:tcPr>
                </a:tc>
                <a:tc>
                  <a:txBody>
                    <a:bodyPr/>
                    <a:lstStyle/>
                    <a:p>
                      <a:pPr algn="ctr"/>
                      <a:r>
                        <a:rPr sz="1000" b="0">
                          <a:solidFill>
                            <a:srgbClr val="1A1A1A"/>
                          </a:solidFill>
                          <a:latin typeface="Calibri"/>
                        </a:rPr>
                        <a:t>0.42</a:t>
                      </a:r>
                    </a:p>
                  </a:txBody>
                  <a:tcPr marL="45720" marR="45720" marT="18288" marB="18288">
                    <a:solidFill>
                      <a:srgbClr val="FFFFFF"/>
                    </a:solidFill>
                  </a:tcPr>
                </a:tc>
                <a:tc>
                  <a:txBody>
                    <a:bodyPr/>
                    <a:lstStyle/>
                    <a:p>
                      <a:pPr algn="ctr"/>
                      <a:r>
                        <a:rPr sz="1000" b="0">
                          <a:solidFill>
                            <a:srgbClr val="1A1A1A"/>
                          </a:solidFill>
                          <a:latin typeface="Calibri"/>
                        </a:rPr>
                        <a:t>10.9</a:t>
                      </a:r>
                    </a:p>
                  </a:txBody>
                  <a:tcPr marL="45720" marR="45720" marT="18288" marB="18288">
                    <a:solidFill>
                      <a:srgbClr val="FFFFFF"/>
                    </a:solidFill>
                  </a:tcPr>
                </a:tc>
                <a:tc>
                  <a:txBody>
                    <a:bodyPr/>
                    <a:lstStyle/>
                    <a:p>
                      <a:pPr algn="ctr"/>
                      <a:r>
                        <a:rPr sz="1000" b="0">
                          <a:solidFill>
                            <a:srgbClr val="1A1A1A"/>
                          </a:solidFill>
                          <a:latin typeface="Calibri"/>
                        </a:rPr>
                        <a:t>0.129</a:t>
                      </a:r>
                    </a:p>
                  </a:txBody>
                  <a:tcPr marL="45720" marR="45720" marT="18288" marB="18288">
                    <a:solidFill>
                      <a:srgbClr val="FFFFFF"/>
                    </a:solidFill>
                  </a:tcPr>
                </a:tc>
                <a:tc>
                  <a:txBody>
                    <a:bodyPr/>
                    <a:lstStyle/>
                    <a:p>
                      <a:pPr algn="ctr"/>
                      <a:r>
                        <a:rPr sz="1000" b="1">
                          <a:solidFill>
                            <a:srgbClr val="1A1A1A"/>
                          </a:solidFill>
                          <a:latin typeface="Calibri"/>
                        </a:rPr>
                        <a:t>0.128</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3" name="Rectangle 2"/>
          <p:cNvSpPr/>
          <p:nvPr/>
        </p:nvSpPr>
        <p:spPr>
          <a:xfrm>
            <a:off x="426719" y="1529110"/>
            <a:ext cx="8412481" cy="373839"/>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26719" y="1529110"/>
            <a:ext cx="112166" cy="373839"/>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9599" y="1612319"/>
            <a:ext cx="3738880" cy="184666"/>
          </a:xfrm>
          <a:prstGeom prst="rect">
            <a:avLst/>
          </a:prstGeom>
          <a:noFill/>
        </p:spPr>
        <p:txBody>
          <a:bodyPr wrap="square" lIns="0" tIns="0" rIns="0" bIns="0" anchor="ctr">
            <a:spAutoFit/>
          </a:bodyPr>
          <a:lstStyle/>
          <a:p>
            <a:pPr algn="l"/>
            <a:r>
              <a:rPr sz="1200" b="1" i="0" spc="300">
                <a:solidFill>
                  <a:srgbClr val="FFFFFF"/>
                </a:solidFill>
                <a:latin typeface="Calibri"/>
              </a:rPr>
              <a:t>ERA 12023</a:t>
            </a:r>
          </a:p>
        </p:txBody>
      </p:sp>
      <p:sp>
        <p:nvSpPr>
          <p:cNvPr id="17" name="TextBox 16"/>
          <p:cNvSpPr txBox="1"/>
          <p:nvPr/>
        </p:nvSpPr>
        <p:spPr>
          <a:xfrm>
            <a:off x="4541519" y="1612319"/>
            <a:ext cx="4112768" cy="184666"/>
          </a:xfrm>
          <a:prstGeom prst="rect">
            <a:avLst/>
          </a:prstGeom>
          <a:noFill/>
        </p:spPr>
        <p:txBody>
          <a:bodyPr wrap="square" lIns="0" tIns="0" rIns="0" bIns="0" anchor="ctr">
            <a:spAutoFit/>
          </a:bodyPr>
          <a:lstStyle/>
          <a:p>
            <a:pPr algn="r"/>
            <a:r>
              <a:rPr sz="1200" b="1" i="0">
                <a:solidFill>
                  <a:srgbClr val="FFCD00"/>
                </a:solidFill>
                <a:latin typeface="Calibri"/>
              </a:rPr>
              <a:t>Combined Z = 0.763</a:t>
            </a:r>
          </a:p>
        </p:txBody>
      </p:sp>
      <p:graphicFrame>
        <p:nvGraphicFramePr>
          <p:cNvPr id="18" name="Table 17"/>
          <p:cNvGraphicFramePr>
            <a:graphicFrameLocks noGrp="1"/>
          </p:cNvGraphicFramePr>
          <p:nvPr>
            <p:extLst>
              <p:ext uri="{D42A27DB-BD31-4B8C-83A1-F6EECF244321}">
                <p14:modId xmlns:p14="http://schemas.microsoft.com/office/powerpoint/2010/main" val="4117689698"/>
              </p:ext>
            </p:extLst>
          </p:nvPr>
        </p:nvGraphicFramePr>
        <p:xfrm>
          <a:off x="426719" y="1849150"/>
          <a:ext cx="8412482" cy="1869195"/>
        </p:xfrm>
        <a:graphic>
          <a:graphicData uri="http://schemas.openxmlformats.org/drawingml/2006/table">
            <a:tbl>
              <a:tblPr firstRow="1" bandRow="1">
                <a:tableStyleId>{5C22544A-7EE6-4342-B048-85BDC9FD1C3A}</a:tableStyleId>
              </a:tblPr>
              <a:tblGrid>
                <a:gridCol w="514096">
                  <a:extLst>
                    <a:ext uri="{9D8B030D-6E8A-4147-A177-3AD203B41FA5}">
                      <a16:colId xmlns:a16="http://schemas.microsoft.com/office/drawing/2014/main" val="20000"/>
                    </a:ext>
                  </a:extLst>
                </a:gridCol>
                <a:gridCol w="1495553">
                  <a:extLst>
                    <a:ext uri="{9D8B030D-6E8A-4147-A177-3AD203B41FA5}">
                      <a16:colId xmlns:a16="http://schemas.microsoft.com/office/drawing/2014/main" val="20001"/>
                    </a:ext>
                  </a:extLst>
                </a:gridCol>
                <a:gridCol w="887984">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gridCol w="1028192">
                  <a:extLst>
                    <a:ext uri="{9D8B030D-6E8A-4147-A177-3AD203B41FA5}">
                      <a16:colId xmlns:a16="http://schemas.microsoft.com/office/drawing/2014/main" val="20004"/>
                    </a:ext>
                  </a:extLst>
                </a:gridCol>
                <a:gridCol w="1168400">
                  <a:extLst>
                    <a:ext uri="{9D8B030D-6E8A-4147-A177-3AD203B41FA5}">
                      <a16:colId xmlns:a16="http://schemas.microsoft.com/office/drawing/2014/main" val="20005"/>
                    </a:ext>
                  </a:extLst>
                </a:gridCol>
                <a:gridCol w="981457">
                  <a:extLst>
                    <a:ext uri="{9D8B030D-6E8A-4147-A177-3AD203B41FA5}">
                      <a16:colId xmlns:a16="http://schemas.microsoft.com/office/drawing/2014/main" val="20006"/>
                    </a:ext>
                  </a:extLst>
                </a:gridCol>
                <a:gridCol w="1168400">
                  <a:extLst>
                    <a:ext uri="{9D8B030D-6E8A-4147-A177-3AD203B41FA5}">
                      <a16:colId xmlns:a16="http://schemas.microsoft.com/office/drawing/2014/main" val="20007"/>
                    </a:ext>
                  </a:extLst>
                </a:gridCol>
              </a:tblGrid>
              <a:tr h="373839">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S_full</a:t>
                      </a: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73839">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0.928)</a:t>
                      </a:r>
                    </a:p>
                  </a:txBody>
                  <a:tcPr marL="45720" marR="45720" marT="18288" marB="18288">
                    <a:solidFill>
                      <a:srgbClr val="FFFFFF"/>
                    </a:solidFill>
                  </a:tcPr>
                </a:tc>
                <a:tc>
                  <a:txBody>
                    <a:bodyPr/>
                    <a:lstStyle/>
                    <a:p>
                      <a:pPr algn="ctr"/>
                      <a:r>
                        <a:rPr sz="1000" b="0">
                          <a:solidFill>
                            <a:srgbClr val="1A1A1A"/>
                          </a:solidFill>
                          <a:latin typeface="Calibri"/>
                        </a:rPr>
                        <a:t>5.63</a:t>
                      </a:r>
                    </a:p>
                  </a:txBody>
                  <a:tcPr marL="45720" marR="45720" marT="18288" marB="18288">
                    <a:solidFill>
                      <a:srgbClr val="FFFFFF"/>
                    </a:solidFill>
                  </a:tcPr>
                </a:tc>
                <a:tc>
                  <a:txBody>
                    <a:bodyPr/>
                    <a:lstStyle/>
                    <a:p>
                      <a:pPr algn="ctr"/>
                      <a:r>
                        <a:rPr sz="1000" b="0">
                          <a:solidFill>
                            <a:srgbClr val="1A1A1A"/>
                          </a:solidFill>
                          <a:latin typeface="Calibri"/>
                        </a:rPr>
                        <a:t>47,770.2</a:t>
                      </a:r>
                    </a:p>
                  </a:txBody>
                  <a:tcPr marL="45720" marR="45720" marT="18288" marB="18288">
                    <a:solidFill>
                      <a:srgbClr val="FFFFFF"/>
                    </a:solidFill>
                  </a:tcPr>
                </a:tc>
                <a:tc>
                  <a:txBody>
                    <a:bodyPr/>
                    <a:lstStyle/>
                    <a:p>
                      <a:pPr algn="ctr"/>
                      <a:r>
                        <a:rPr sz="1000" b="0">
                          <a:solidFill>
                            <a:srgbClr val="1A1A1A"/>
                          </a:solidFill>
                          <a:latin typeface="Calibri"/>
                        </a:rPr>
                        <a:t>3.83</a:t>
                      </a:r>
                    </a:p>
                  </a:txBody>
                  <a:tcPr marL="45720" marR="45720" marT="18288" marB="18288">
                    <a:solidFill>
                      <a:srgbClr val="FFFFFF"/>
                    </a:solidFill>
                  </a:tcPr>
                </a:tc>
                <a:tc>
                  <a:txBody>
                    <a:bodyPr/>
                    <a:lstStyle/>
                    <a:p>
                      <a:pPr algn="ctr"/>
                      <a:r>
                        <a:rPr sz="1000" b="0">
                          <a:solidFill>
                            <a:srgbClr val="1A1A1A"/>
                          </a:solidFill>
                          <a:latin typeface="Calibri"/>
                        </a:rPr>
                        <a:t>4,885.2</a:t>
                      </a:r>
                    </a:p>
                  </a:txBody>
                  <a:tcPr marL="45720" marR="45720" marT="18288" marB="18288">
                    <a:solidFill>
                      <a:srgbClr val="FFFFFF"/>
                    </a:solidFill>
                  </a:tcPr>
                </a:tc>
                <a:tc>
                  <a:txBody>
                    <a:bodyPr/>
                    <a:lstStyle/>
                    <a:p>
                      <a:pPr algn="ctr"/>
                      <a:r>
                        <a:rPr sz="1000" b="0">
                          <a:solidFill>
                            <a:srgbClr val="1A1A1A"/>
                          </a:solidFill>
                          <a:latin typeface="Calibri"/>
                        </a:rPr>
                        <a:t>0.055</a:t>
                      </a:r>
                    </a:p>
                  </a:txBody>
                  <a:tcPr marL="45720" marR="45720" marT="18288" marB="18288">
                    <a:solidFill>
                      <a:srgbClr val="FFFFFF"/>
                    </a:solidFill>
                  </a:tcPr>
                </a:tc>
                <a:tc>
                  <a:txBody>
                    <a:bodyPr/>
                    <a:lstStyle/>
                    <a:p>
                      <a:pPr algn="ctr"/>
                      <a:r>
                        <a:rPr sz="1000" b="1">
                          <a:solidFill>
                            <a:srgbClr val="1A1A1A"/>
                          </a:solidFill>
                          <a:latin typeface="Calibri"/>
                        </a:rPr>
                        <a:t>0.055</a:t>
                      </a:r>
                    </a:p>
                  </a:txBody>
                  <a:tcPr marL="45720" marR="45720" marT="18288" marB="18288">
                    <a:solidFill>
                      <a:srgbClr val="FFFFFF"/>
                    </a:solidFill>
                  </a:tcPr>
                </a:tc>
                <a:extLst>
                  <a:ext uri="{0D108BD9-81ED-4DB2-BD59-A6C34878D82A}">
                    <a16:rowId xmlns:a16="http://schemas.microsoft.com/office/drawing/2014/main" val="10001"/>
                  </a:ext>
                </a:extLst>
              </a:tr>
              <a:tr h="373839">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[0.928, 0.964)</a:t>
                      </a:r>
                    </a:p>
                  </a:txBody>
                  <a:tcPr marL="45720" marR="45720" marT="18288" marB="18288">
                    <a:solidFill>
                      <a:srgbClr val="FFFFFF"/>
                    </a:solidFill>
                  </a:tcPr>
                </a:tc>
                <a:tc>
                  <a:txBody>
                    <a:bodyPr/>
                    <a:lstStyle/>
                    <a:p>
                      <a:pPr algn="ctr"/>
                      <a:r>
                        <a:rPr sz="1000" b="0">
                          <a:solidFill>
                            <a:srgbClr val="1A1A1A"/>
                          </a:solidFill>
                          <a:latin typeface="Calibri"/>
                        </a:rPr>
                        <a:t>1.30</a:t>
                      </a:r>
                    </a:p>
                  </a:txBody>
                  <a:tcPr marL="45720" marR="45720" marT="18288" marB="18288">
                    <a:solidFill>
                      <a:srgbClr val="FFFFFF"/>
                    </a:solidFill>
                  </a:tcPr>
                </a:tc>
                <a:tc>
                  <a:txBody>
                    <a:bodyPr/>
                    <a:lstStyle/>
                    <a:p>
                      <a:pPr algn="ctr"/>
                      <a:r>
                        <a:rPr sz="1000" b="0">
                          <a:solidFill>
                            <a:srgbClr val="1A1A1A"/>
                          </a:solidFill>
                          <a:latin typeface="Calibri"/>
                        </a:rPr>
                        <a:t>419.1</a:t>
                      </a:r>
                    </a:p>
                  </a:txBody>
                  <a:tcPr marL="45720" marR="45720" marT="18288" marB="18288">
                    <a:solidFill>
                      <a:srgbClr val="FFFFFF"/>
                    </a:solidFill>
                  </a:tcPr>
                </a:tc>
                <a:tc>
                  <a:txBody>
                    <a:bodyPr/>
                    <a:lstStyle/>
                    <a:p>
                      <a:pPr algn="ctr"/>
                      <a:r>
                        <a:rPr sz="1000" b="0">
                          <a:solidFill>
                            <a:srgbClr val="1A1A1A"/>
                          </a:solidFill>
                          <a:latin typeface="Calibri"/>
                        </a:rPr>
                        <a:t>0.89</a:t>
                      </a:r>
                    </a:p>
                  </a:txBody>
                  <a:tcPr marL="45720" marR="45720" marT="18288" marB="18288">
                    <a:solidFill>
                      <a:srgbClr val="FFFFFF"/>
                    </a:solidFill>
                  </a:tcPr>
                </a:tc>
                <a:tc>
                  <a:txBody>
                    <a:bodyPr/>
                    <a:lstStyle/>
                    <a:p>
                      <a:pPr algn="ctr"/>
                      <a:r>
                        <a:rPr sz="1000" b="0">
                          <a:solidFill>
                            <a:srgbClr val="1A1A1A"/>
                          </a:solidFill>
                          <a:latin typeface="Calibri"/>
                        </a:rPr>
                        <a:t>31.1</a:t>
                      </a:r>
                    </a:p>
                  </a:txBody>
                  <a:tcPr marL="45720" marR="45720" marT="18288" marB="18288">
                    <a:solidFill>
                      <a:srgbClr val="FFFFFF"/>
                    </a:solidFill>
                  </a:tcPr>
                </a:tc>
                <a:tc>
                  <a:txBody>
                    <a:bodyPr/>
                    <a:lstStyle/>
                    <a:p>
                      <a:pPr algn="ctr"/>
                      <a:r>
                        <a:rPr sz="1000" b="0">
                          <a:solidFill>
                            <a:srgbClr val="1A1A1A"/>
                          </a:solidFill>
                          <a:latin typeface="Calibri"/>
                        </a:rPr>
                        <a:t>0.159</a:t>
                      </a:r>
                    </a:p>
                  </a:txBody>
                  <a:tcPr marL="45720" marR="45720" marT="18288" marB="18288">
                    <a:solidFill>
                      <a:srgbClr val="FFFFFF"/>
                    </a:solidFill>
                  </a:tcPr>
                </a:tc>
                <a:tc>
                  <a:txBody>
                    <a:bodyPr/>
                    <a:lstStyle/>
                    <a:p>
                      <a:pPr algn="ctr"/>
                      <a:r>
                        <a:rPr sz="1000" b="1">
                          <a:solidFill>
                            <a:srgbClr val="1A1A1A"/>
                          </a:solidFill>
                          <a:latin typeface="Calibri"/>
                        </a:rPr>
                        <a:t>0.158</a:t>
                      </a:r>
                    </a:p>
                  </a:txBody>
                  <a:tcPr marL="45720" marR="45720" marT="18288" marB="18288">
                    <a:solidFill>
                      <a:srgbClr val="FFFFFF"/>
                    </a:solidFill>
                  </a:tcPr>
                </a:tc>
                <a:extLst>
                  <a:ext uri="{0D108BD9-81ED-4DB2-BD59-A6C34878D82A}">
                    <a16:rowId xmlns:a16="http://schemas.microsoft.com/office/drawing/2014/main" val="10002"/>
                  </a:ext>
                </a:extLst>
              </a:tr>
              <a:tr h="373839">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[0.964, 0.984)</a:t>
                      </a:r>
                    </a:p>
                  </a:txBody>
                  <a:tcPr marL="45720" marR="45720" marT="18288" marB="18288">
                    <a:solidFill>
                      <a:srgbClr val="FFFFFF"/>
                    </a:solidFill>
                  </a:tcPr>
                </a:tc>
                <a:tc>
                  <a:txBody>
                    <a:bodyPr/>
                    <a:lstStyle/>
                    <a:p>
                      <a:pPr algn="ctr"/>
                      <a:r>
                        <a:rPr sz="1000" b="0">
                          <a:solidFill>
                            <a:srgbClr val="1A1A1A"/>
                          </a:solidFill>
                          <a:latin typeface="Calibri"/>
                        </a:rPr>
                        <a:t>1.31</a:t>
                      </a:r>
                    </a:p>
                  </a:txBody>
                  <a:tcPr marL="45720" marR="45720" marT="18288" marB="18288">
                    <a:solidFill>
                      <a:srgbClr val="FFFFFF"/>
                    </a:solidFill>
                  </a:tcPr>
                </a:tc>
                <a:tc>
                  <a:txBody>
                    <a:bodyPr/>
                    <a:lstStyle/>
                    <a:p>
                      <a:pPr algn="ctr"/>
                      <a:r>
                        <a:rPr sz="1000" b="0">
                          <a:solidFill>
                            <a:srgbClr val="1A1A1A"/>
                          </a:solidFill>
                          <a:latin typeface="Calibri"/>
                        </a:rPr>
                        <a:t>185.1</a:t>
                      </a:r>
                    </a:p>
                  </a:txBody>
                  <a:tcPr marL="45720" marR="45720" marT="18288" marB="18288">
                    <a:solidFill>
                      <a:srgbClr val="FFFFFF"/>
                    </a:solidFill>
                  </a:tcPr>
                </a:tc>
                <a:tc>
                  <a:txBody>
                    <a:bodyPr/>
                    <a:lstStyle/>
                    <a:p>
                      <a:pPr algn="ctr"/>
                      <a:r>
                        <a:rPr sz="1000" b="0">
                          <a:solidFill>
                            <a:srgbClr val="1A1A1A"/>
                          </a:solidFill>
                          <a:latin typeface="Calibri"/>
                        </a:rPr>
                        <a:t>0.91</a:t>
                      </a:r>
                    </a:p>
                  </a:txBody>
                  <a:tcPr marL="45720" marR="45720" marT="18288" marB="18288">
                    <a:solidFill>
                      <a:srgbClr val="FFFFFF"/>
                    </a:solidFill>
                  </a:tcPr>
                </a:tc>
                <a:tc>
                  <a:txBody>
                    <a:bodyPr/>
                    <a:lstStyle/>
                    <a:p>
                      <a:pPr algn="ctr"/>
                      <a:r>
                        <a:rPr sz="1000" b="0">
                          <a:solidFill>
                            <a:srgbClr val="1A1A1A"/>
                          </a:solidFill>
                          <a:latin typeface="Calibri"/>
                        </a:rPr>
                        <a:t>12.4</a:t>
                      </a:r>
                    </a:p>
                  </a:txBody>
                  <a:tcPr marL="45720" marR="45720" marT="18288" marB="18288">
                    <a:solidFill>
                      <a:srgbClr val="FFFFFF"/>
                    </a:solidFill>
                  </a:tcPr>
                </a:tc>
                <a:tc>
                  <a:txBody>
                    <a:bodyPr/>
                    <a:lstStyle/>
                    <a:p>
                      <a:pPr algn="ctr"/>
                      <a:r>
                        <a:rPr sz="1000" b="0">
                          <a:solidFill>
                            <a:srgbClr val="1A1A1A"/>
                          </a:solidFill>
                          <a:latin typeface="Calibri"/>
                        </a:rPr>
                        <a:t>0.257</a:t>
                      </a:r>
                    </a:p>
                  </a:txBody>
                  <a:tcPr marL="45720" marR="45720" marT="18288" marB="18288">
                    <a:solidFill>
                      <a:srgbClr val="FFFFFF"/>
                    </a:solidFill>
                  </a:tcPr>
                </a:tc>
                <a:tc>
                  <a:txBody>
                    <a:bodyPr/>
                    <a:lstStyle/>
                    <a:p>
                      <a:pPr algn="ctr"/>
                      <a:r>
                        <a:rPr sz="1000" b="1">
                          <a:solidFill>
                            <a:srgbClr val="1A1A1A"/>
                          </a:solidFill>
                          <a:latin typeface="Calibri"/>
                        </a:rPr>
                        <a:t>0.254</a:t>
                      </a:r>
                    </a:p>
                  </a:txBody>
                  <a:tcPr marL="45720" marR="45720" marT="18288" marB="18288">
                    <a:solidFill>
                      <a:srgbClr val="FFFFFF"/>
                    </a:solidFill>
                  </a:tcPr>
                </a:tc>
                <a:extLst>
                  <a:ext uri="{0D108BD9-81ED-4DB2-BD59-A6C34878D82A}">
                    <a16:rowId xmlns:a16="http://schemas.microsoft.com/office/drawing/2014/main" val="10003"/>
                  </a:ext>
                </a:extLst>
              </a:tr>
              <a:tr h="373839">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a:solidFill>
                            <a:srgbClr val="1A1A1A"/>
                          </a:solidFill>
                          <a:latin typeface="Calibri"/>
                        </a:rPr>
                        <a:t>[0.984, 1.000)</a:t>
                      </a:r>
                    </a:p>
                  </a:txBody>
                  <a:tcPr marL="45720" marR="45720" marT="18288" marB="18288">
                    <a:solidFill>
                      <a:srgbClr val="FFFFFF"/>
                    </a:solidFill>
                  </a:tcPr>
                </a:tc>
                <a:tc>
                  <a:txBody>
                    <a:bodyPr/>
                    <a:lstStyle/>
                    <a:p>
                      <a:pPr algn="ctr"/>
                      <a:r>
                        <a:rPr sz="1000" b="0">
                          <a:solidFill>
                            <a:srgbClr val="1A1A1A"/>
                          </a:solidFill>
                          <a:latin typeface="Calibri"/>
                        </a:rPr>
                        <a:t>1.63</a:t>
                      </a:r>
                    </a:p>
                  </a:txBody>
                  <a:tcPr marL="45720" marR="45720" marT="18288" marB="18288">
                    <a:solidFill>
                      <a:srgbClr val="FFFFFF"/>
                    </a:solidFill>
                  </a:tcPr>
                </a:tc>
                <a:tc>
                  <a:txBody>
                    <a:bodyPr/>
                    <a:lstStyle/>
                    <a:p>
                      <a:pPr algn="ctr"/>
                      <a:r>
                        <a:rPr sz="1000" b="0">
                          <a:solidFill>
                            <a:srgbClr val="1A1A1A"/>
                          </a:solidFill>
                          <a:latin typeface="Calibri"/>
                        </a:rPr>
                        <a:t>67.6</a:t>
                      </a:r>
                    </a:p>
                  </a:txBody>
                  <a:tcPr marL="45720" marR="45720" marT="18288" marB="18288">
                    <a:solidFill>
                      <a:srgbClr val="FFFFFF"/>
                    </a:solidFill>
                  </a:tcPr>
                </a:tc>
                <a:tc>
                  <a:txBody>
                    <a:bodyPr/>
                    <a:lstStyle/>
                    <a:p>
                      <a:pPr algn="ctr"/>
                      <a:r>
                        <a:rPr sz="1000" b="0">
                          <a:solidFill>
                            <a:srgbClr val="1A1A1A"/>
                          </a:solidFill>
                          <a:latin typeface="Calibri"/>
                        </a:rPr>
                        <a:t>1.12</a:t>
                      </a:r>
                    </a:p>
                  </a:txBody>
                  <a:tcPr marL="45720" marR="45720" marT="18288" marB="18288">
                    <a:solidFill>
                      <a:srgbClr val="FFFFFF"/>
                    </a:solidFill>
                  </a:tcPr>
                </a:tc>
                <a:tc>
                  <a:txBody>
                    <a:bodyPr/>
                    <a:lstStyle/>
                    <a:p>
                      <a:pPr algn="ctr"/>
                      <a:r>
                        <a:rPr sz="1000" b="0">
                          <a:solidFill>
                            <a:srgbClr val="1A1A1A"/>
                          </a:solidFill>
                          <a:latin typeface="Calibri"/>
                        </a:rPr>
                        <a:t>2.2</a:t>
                      </a:r>
                    </a:p>
                  </a:txBody>
                  <a:tcPr marL="45720" marR="45720" marT="18288" marB="18288">
                    <a:solidFill>
                      <a:srgbClr val="FFFFFF"/>
                    </a:solidFill>
                  </a:tcPr>
                </a:tc>
                <a:tc>
                  <a:txBody>
                    <a:bodyPr/>
                    <a:lstStyle/>
                    <a:p>
                      <a:pPr algn="ctr"/>
                      <a:r>
                        <a:rPr sz="1000" b="0">
                          <a:solidFill>
                            <a:srgbClr val="1A1A1A"/>
                          </a:solidFill>
                          <a:latin typeface="Calibri"/>
                        </a:rPr>
                        <a:t>0.757</a:t>
                      </a:r>
                    </a:p>
                  </a:txBody>
                  <a:tcPr marL="45720" marR="45720" marT="18288" marB="18288">
                    <a:solidFill>
                      <a:srgbClr val="FFFFFF"/>
                    </a:solidFill>
                  </a:tcPr>
                </a:tc>
                <a:tc>
                  <a:txBody>
                    <a:bodyPr/>
                    <a:lstStyle/>
                    <a:p>
                      <a:pPr algn="ctr"/>
                      <a:r>
                        <a:rPr sz="1000" b="1" dirty="0">
                          <a:solidFill>
                            <a:srgbClr val="1A1A1A"/>
                          </a:solidFill>
                          <a:latin typeface="Calibri"/>
                        </a:rPr>
                        <a:t>0.703</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4860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rPr sz="3200"/>
              <a:t>Per-era yields: 2024, 2025</a:t>
            </a:r>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BDT range, S/B, S/√B, and Asimov Z per category — HWHM mass window</a:t>
            </a:r>
            <a:endParaRPr lang="en-US" dirty="0"/>
          </a:p>
        </p:txBody>
      </p:sp>
      <p:sp>
        <p:nvSpPr>
          <p:cNvPr id="6" name="Rectangle 5"/>
          <p:cNvSpPr/>
          <p:nvPr/>
        </p:nvSpPr>
        <p:spPr>
          <a:xfrm>
            <a:off x="321972" y="1417320"/>
            <a:ext cx="8596648" cy="34737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15864" y="1417320"/>
            <a:ext cx="111482" cy="34737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1625" y="1498676"/>
            <a:ext cx="3716055" cy="184666"/>
          </a:xfrm>
          <a:prstGeom prst="rect">
            <a:avLst/>
          </a:prstGeom>
          <a:noFill/>
        </p:spPr>
        <p:txBody>
          <a:bodyPr wrap="square" lIns="0" tIns="0" rIns="0" bIns="0" anchor="ctr">
            <a:spAutoFit/>
          </a:bodyPr>
          <a:lstStyle/>
          <a:p>
            <a:pPr algn="l"/>
            <a:r>
              <a:rPr sz="1200" b="1" i="0" spc="300">
                <a:solidFill>
                  <a:srgbClr val="FFFFFF"/>
                </a:solidFill>
                <a:latin typeface="Calibri"/>
              </a:rPr>
              <a:t>ERA 2024</a:t>
            </a:r>
          </a:p>
        </p:txBody>
      </p:sp>
      <p:sp>
        <p:nvSpPr>
          <p:cNvPr id="9" name="TextBox 8"/>
          <p:cNvSpPr txBox="1"/>
          <p:nvPr/>
        </p:nvSpPr>
        <p:spPr>
          <a:xfrm>
            <a:off x="4507700" y="1498676"/>
            <a:ext cx="4087660" cy="184666"/>
          </a:xfrm>
          <a:prstGeom prst="rect">
            <a:avLst/>
          </a:prstGeom>
          <a:noFill/>
        </p:spPr>
        <p:txBody>
          <a:bodyPr wrap="square" lIns="0" tIns="0" rIns="0" bIns="0" anchor="ctr">
            <a:spAutoFit/>
          </a:bodyPr>
          <a:lstStyle/>
          <a:p>
            <a:pPr algn="r"/>
            <a:r>
              <a:rPr sz="1200" b="1" i="0">
                <a:solidFill>
                  <a:srgbClr val="FFCD00"/>
                </a:solidFill>
                <a:latin typeface="Calibri"/>
              </a:rPr>
              <a:t>Combined Z = 1.025</a:t>
            </a:r>
          </a:p>
        </p:txBody>
      </p:sp>
      <p:graphicFrame>
        <p:nvGraphicFramePr>
          <p:cNvPr id="10" name="Table 9"/>
          <p:cNvGraphicFramePr>
            <a:graphicFrameLocks noGrp="1"/>
          </p:cNvGraphicFramePr>
          <p:nvPr>
            <p:extLst>
              <p:ext uri="{D42A27DB-BD31-4B8C-83A1-F6EECF244321}">
                <p14:modId xmlns:p14="http://schemas.microsoft.com/office/powerpoint/2010/main" val="2461961595"/>
              </p:ext>
            </p:extLst>
          </p:nvPr>
        </p:nvGraphicFramePr>
        <p:xfrm>
          <a:off x="321972" y="1737359"/>
          <a:ext cx="8596650" cy="1965020"/>
        </p:xfrm>
        <a:graphic>
          <a:graphicData uri="http://schemas.openxmlformats.org/drawingml/2006/table">
            <a:tbl>
              <a:tblPr firstRow="1" bandRow="1">
                <a:tableStyleId>{5C22544A-7EE6-4342-B048-85BDC9FD1C3A}</a:tableStyleId>
              </a:tblPr>
              <a:tblGrid>
                <a:gridCol w="525351">
                  <a:extLst>
                    <a:ext uri="{9D8B030D-6E8A-4147-A177-3AD203B41FA5}">
                      <a16:colId xmlns:a16="http://schemas.microsoft.com/office/drawing/2014/main" val="20000"/>
                    </a:ext>
                  </a:extLst>
                </a:gridCol>
                <a:gridCol w="1528293">
                  <a:extLst>
                    <a:ext uri="{9D8B030D-6E8A-4147-A177-3AD203B41FA5}">
                      <a16:colId xmlns:a16="http://schemas.microsoft.com/office/drawing/2014/main" val="20001"/>
                    </a:ext>
                  </a:extLst>
                </a:gridCol>
                <a:gridCol w="907424">
                  <a:extLst>
                    <a:ext uri="{9D8B030D-6E8A-4147-A177-3AD203B41FA5}">
                      <a16:colId xmlns:a16="http://schemas.microsoft.com/office/drawing/2014/main" val="20002"/>
                    </a:ext>
                  </a:extLst>
                </a:gridCol>
                <a:gridCol w="1193979">
                  <a:extLst>
                    <a:ext uri="{9D8B030D-6E8A-4147-A177-3AD203B41FA5}">
                      <a16:colId xmlns:a16="http://schemas.microsoft.com/office/drawing/2014/main" val="20003"/>
                    </a:ext>
                  </a:extLst>
                </a:gridCol>
                <a:gridCol w="1050702">
                  <a:extLst>
                    <a:ext uri="{9D8B030D-6E8A-4147-A177-3AD203B41FA5}">
                      <a16:colId xmlns:a16="http://schemas.microsoft.com/office/drawing/2014/main" val="20004"/>
                    </a:ext>
                  </a:extLst>
                </a:gridCol>
                <a:gridCol w="1193979">
                  <a:extLst>
                    <a:ext uri="{9D8B030D-6E8A-4147-A177-3AD203B41FA5}">
                      <a16:colId xmlns:a16="http://schemas.microsoft.com/office/drawing/2014/main" val="20005"/>
                    </a:ext>
                  </a:extLst>
                </a:gridCol>
                <a:gridCol w="1002943">
                  <a:extLst>
                    <a:ext uri="{9D8B030D-6E8A-4147-A177-3AD203B41FA5}">
                      <a16:colId xmlns:a16="http://schemas.microsoft.com/office/drawing/2014/main" val="20006"/>
                    </a:ext>
                  </a:extLst>
                </a:gridCol>
                <a:gridCol w="1193979">
                  <a:extLst>
                    <a:ext uri="{9D8B030D-6E8A-4147-A177-3AD203B41FA5}">
                      <a16:colId xmlns:a16="http://schemas.microsoft.com/office/drawing/2014/main" val="20007"/>
                    </a:ext>
                  </a:extLst>
                </a:gridCol>
              </a:tblGrid>
              <a:tr h="393004">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S_full</a:t>
                      </a: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93004">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0.908)</a:t>
                      </a:r>
                    </a:p>
                  </a:txBody>
                  <a:tcPr marL="45720" marR="45720" marT="18288" marB="18288">
                    <a:solidFill>
                      <a:srgbClr val="FFFFFF"/>
                    </a:solidFill>
                  </a:tcPr>
                </a:tc>
                <a:tc>
                  <a:txBody>
                    <a:bodyPr/>
                    <a:lstStyle/>
                    <a:p>
                      <a:pPr algn="ctr"/>
                      <a:r>
                        <a:rPr sz="1000" b="0">
                          <a:solidFill>
                            <a:srgbClr val="1A1A1A"/>
                          </a:solidFill>
                          <a:latin typeface="Calibri"/>
                        </a:rPr>
                        <a:t>20.33</a:t>
                      </a:r>
                    </a:p>
                  </a:txBody>
                  <a:tcPr marL="45720" marR="45720" marT="18288" marB="18288">
                    <a:solidFill>
                      <a:srgbClr val="FFFFFF"/>
                    </a:solidFill>
                  </a:tcPr>
                </a:tc>
                <a:tc>
                  <a:txBody>
                    <a:bodyPr/>
                    <a:lstStyle/>
                    <a:p>
                      <a:pPr algn="ctr"/>
                      <a:r>
                        <a:rPr sz="1000" b="0">
                          <a:solidFill>
                            <a:srgbClr val="1A1A1A"/>
                          </a:solidFill>
                          <a:latin typeface="Calibri"/>
                        </a:rPr>
                        <a:t>227,027.8</a:t>
                      </a:r>
                    </a:p>
                  </a:txBody>
                  <a:tcPr marL="45720" marR="45720" marT="18288" marB="18288">
                    <a:solidFill>
                      <a:srgbClr val="FFFFFF"/>
                    </a:solidFill>
                  </a:tcPr>
                </a:tc>
                <a:tc>
                  <a:txBody>
                    <a:bodyPr/>
                    <a:lstStyle/>
                    <a:p>
                      <a:pPr algn="ctr"/>
                      <a:r>
                        <a:rPr sz="1000" b="0">
                          <a:solidFill>
                            <a:srgbClr val="1A1A1A"/>
                          </a:solidFill>
                          <a:latin typeface="Calibri"/>
                        </a:rPr>
                        <a:t>13.74</a:t>
                      </a:r>
                    </a:p>
                  </a:txBody>
                  <a:tcPr marL="45720" marR="45720" marT="18288" marB="18288">
                    <a:solidFill>
                      <a:srgbClr val="FFFFFF"/>
                    </a:solidFill>
                  </a:tcPr>
                </a:tc>
                <a:tc>
                  <a:txBody>
                    <a:bodyPr/>
                    <a:lstStyle/>
                    <a:p>
                      <a:pPr algn="ctr"/>
                      <a:r>
                        <a:rPr sz="1000" b="0">
                          <a:solidFill>
                            <a:srgbClr val="1A1A1A"/>
                          </a:solidFill>
                          <a:latin typeface="Calibri"/>
                        </a:rPr>
                        <a:t>22,608.8</a:t>
                      </a:r>
                    </a:p>
                  </a:txBody>
                  <a:tcPr marL="45720" marR="45720" marT="18288" marB="18288">
                    <a:solidFill>
                      <a:srgbClr val="FFFFFF"/>
                    </a:solidFill>
                  </a:tcPr>
                </a:tc>
                <a:tc>
                  <a:txBody>
                    <a:bodyPr/>
                    <a:lstStyle/>
                    <a:p>
                      <a:pPr algn="ctr"/>
                      <a:r>
                        <a:rPr sz="1000" b="0">
                          <a:solidFill>
                            <a:srgbClr val="1A1A1A"/>
                          </a:solidFill>
                          <a:latin typeface="Calibri"/>
                        </a:rPr>
                        <a:t>0.091</a:t>
                      </a:r>
                    </a:p>
                  </a:txBody>
                  <a:tcPr marL="45720" marR="45720" marT="18288" marB="18288">
                    <a:solidFill>
                      <a:srgbClr val="FFFFFF"/>
                    </a:solidFill>
                  </a:tcPr>
                </a:tc>
                <a:tc>
                  <a:txBody>
                    <a:bodyPr/>
                    <a:lstStyle/>
                    <a:p>
                      <a:pPr algn="ctr"/>
                      <a:r>
                        <a:rPr sz="1000" b="1">
                          <a:solidFill>
                            <a:srgbClr val="1A1A1A"/>
                          </a:solidFill>
                          <a:latin typeface="Calibri"/>
                        </a:rPr>
                        <a:t>0.091</a:t>
                      </a:r>
                    </a:p>
                  </a:txBody>
                  <a:tcPr marL="45720" marR="45720" marT="18288" marB="18288">
                    <a:solidFill>
                      <a:srgbClr val="FFFFFF"/>
                    </a:solidFill>
                  </a:tcPr>
                </a:tc>
                <a:extLst>
                  <a:ext uri="{0D108BD9-81ED-4DB2-BD59-A6C34878D82A}">
                    <a16:rowId xmlns:a16="http://schemas.microsoft.com/office/drawing/2014/main" val="10001"/>
                  </a:ext>
                </a:extLst>
              </a:tr>
              <a:tr h="393004">
                <a:tc>
                  <a:txBody>
                    <a:bodyPr/>
                    <a:lstStyle/>
                    <a:p>
                      <a:pPr algn="ctr"/>
                      <a:r>
                        <a:rPr sz="1000" b="1" dirty="0">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[0.908, 0.984)</a:t>
                      </a:r>
                    </a:p>
                  </a:txBody>
                  <a:tcPr marL="45720" marR="45720" marT="18288" marB="18288">
                    <a:solidFill>
                      <a:srgbClr val="FFFFFF"/>
                    </a:solidFill>
                  </a:tcPr>
                </a:tc>
                <a:tc>
                  <a:txBody>
                    <a:bodyPr/>
                    <a:lstStyle/>
                    <a:p>
                      <a:pPr algn="ctr"/>
                      <a:r>
                        <a:rPr sz="1000" b="0">
                          <a:solidFill>
                            <a:srgbClr val="1A1A1A"/>
                          </a:solidFill>
                          <a:latin typeface="Calibri"/>
                        </a:rPr>
                        <a:t>12.36</a:t>
                      </a:r>
                    </a:p>
                  </a:txBody>
                  <a:tcPr marL="45720" marR="45720" marT="18288" marB="18288">
                    <a:solidFill>
                      <a:srgbClr val="FFFFFF"/>
                    </a:solidFill>
                  </a:tcPr>
                </a:tc>
                <a:tc>
                  <a:txBody>
                    <a:bodyPr/>
                    <a:lstStyle/>
                    <a:p>
                      <a:pPr algn="ctr"/>
                      <a:r>
                        <a:rPr sz="1000" b="0">
                          <a:solidFill>
                            <a:srgbClr val="1A1A1A"/>
                          </a:solidFill>
                          <a:latin typeface="Calibri"/>
                        </a:rPr>
                        <a:t>3,420.7</a:t>
                      </a:r>
                    </a:p>
                  </a:txBody>
                  <a:tcPr marL="45720" marR="45720" marT="18288" marB="18288">
                    <a:solidFill>
                      <a:srgbClr val="FFFFFF"/>
                    </a:solidFill>
                  </a:tcPr>
                </a:tc>
                <a:tc>
                  <a:txBody>
                    <a:bodyPr/>
                    <a:lstStyle/>
                    <a:p>
                      <a:pPr algn="ctr"/>
                      <a:r>
                        <a:rPr sz="1000" b="0">
                          <a:solidFill>
                            <a:srgbClr val="1A1A1A"/>
                          </a:solidFill>
                          <a:latin typeface="Calibri"/>
                        </a:rPr>
                        <a:t>8.43</a:t>
                      </a:r>
                    </a:p>
                  </a:txBody>
                  <a:tcPr marL="45720" marR="45720" marT="18288" marB="18288">
                    <a:solidFill>
                      <a:srgbClr val="FFFFFF"/>
                    </a:solidFill>
                  </a:tcPr>
                </a:tc>
                <a:tc>
                  <a:txBody>
                    <a:bodyPr/>
                    <a:lstStyle/>
                    <a:p>
                      <a:pPr algn="ctr"/>
                      <a:r>
                        <a:rPr sz="1000" b="0">
                          <a:solidFill>
                            <a:srgbClr val="1A1A1A"/>
                          </a:solidFill>
                          <a:latin typeface="Calibri"/>
                        </a:rPr>
                        <a:t>350.9</a:t>
                      </a:r>
                    </a:p>
                  </a:txBody>
                  <a:tcPr marL="45720" marR="45720" marT="18288" marB="18288">
                    <a:solidFill>
                      <a:srgbClr val="FFFFFF"/>
                    </a:solidFill>
                  </a:tcPr>
                </a:tc>
                <a:tc>
                  <a:txBody>
                    <a:bodyPr/>
                    <a:lstStyle/>
                    <a:p>
                      <a:pPr algn="ctr"/>
                      <a:r>
                        <a:rPr sz="1000" b="0">
                          <a:solidFill>
                            <a:srgbClr val="1A1A1A"/>
                          </a:solidFill>
                          <a:latin typeface="Calibri"/>
                        </a:rPr>
                        <a:t>0.450</a:t>
                      </a:r>
                    </a:p>
                  </a:txBody>
                  <a:tcPr marL="45720" marR="45720" marT="18288" marB="18288">
                    <a:solidFill>
                      <a:srgbClr val="FFFFFF"/>
                    </a:solidFill>
                  </a:tcPr>
                </a:tc>
                <a:tc>
                  <a:txBody>
                    <a:bodyPr/>
                    <a:lstStyle/>
                    <a:p>
                      <a:pPr algn="ctr"/>
                      <a:r>
                        <a:rPr sz="1000" b="1">
                          <a:solidFill>
                            <a:srgbClr val="1A1A1A"/>
                          </a:solidFill>
                          <a:latin typeface="Calibri"/>
                        </a:rPr>
                        <a:t>0.448</a:t>
                      </a:r>
                    </a:p>
                  </a:txBody>
                  <a:tcPr marL="45720" marR="45720" marT="18288" marB="18288">
                    <a:solidFill>
                      <a:srgbClr val="FFFFFF"/>
                    </a:solidFill>
                  </a:tcPr>
                </a:tc>
                <a:extLst>
                  <a:ext uri="{0D108BD9-81ED-4DB2-BD59-A6C34878D82A}">
                    <a16:rowId xmlns:a16="http://schemas.microsoft.com/office/drawing/2014/main" val="10002"/>
                  </a:ext>
                </a:extLst>
              </a:tr>
              <a:tr h="393004">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[0.984, 0.991)</a:t>
                      </a:r>
                    </a:p>
                  </a:txBody>
                  <a:tcPr marL="45720" marR="45720" marT="18288" marB="18288">
                    <a:solidFill>
                      <a:srgbClr val="FFFFFF"/>
                    </a:solidFill>
                  </a:tcPr>
                </a:tc>
                <a:tc>
                  <a:txBody>
                    <a:bodyPr/>
                    <a:lstStyle/>
                    <a:p>
                      <a:pPr algn="ctr"/>
                      <a:r>
                        <a:rPr sz="1000" b="0">
                          <a:solidFill>
                            <a:srgbClr val="1A1A1A"/>
                          </a:solidFill>
                          <a:latin typeface="Calibri"/>
                        </a:rPr>
                        <a:t>2.79</a:t>
                      </a:r>
                    </a:p>
                  </a:txBody>
                  <a:tcPr marL="45720" marR="45720" marT="18288" marB="18288">
                    <a:solidFill>
                      <a:srgbClr val="FFFFFF"/>
                    </a:solidFill>
                  </a:tcPr>
                </a:tc>
                <a:tc>
                  <a:txBody>
                    <a:bodyPr/>
                    <a:lstStyle/>
                    <a:p>
                      <a:pPr algn="ctr"/>
                      <a:r>
                        <a:rPr sz="1000" b="0">
                          <a:solidFill>
                            <a:srgbClr val="1A1A1A"/>
                          </a:solidFill>
                          <a:latin typeface="Calibri"/>
                        </a:rPr>
                        <a:t>190.8</a:t>
                      </a:r>
                    </a:p>
                  </a:txBody>
                  <a:tcPr marL="45720" marR="45720" marT="18288" marB="18288">
                    <a:solidFill>
                      <a:srgbClr val="FFFFFF"/>
                    </a:solidFill>
                  </a:tcPr>
                </a:tc>
                <a:tc>
                  <a:txBody>
                    <a:bodyPr/>
                    <a:lstStyle/>
                    <a:p>
                      <a:pPr algn="ctr"/>
                      <a:r>
                        <a:rPr sz="1000" b="0">
                          <a:solidFill>
                            <a:srgbClr val="1A1A1A"/>
                          </a:solidFill>
                          <a:latin typeface="Calibri"/>
                        </a:rPr>
                        <a:t>1.92</a:t>
                      </a:r>
                    </a:p>
                  </a:txBody>
                  <a:tcPr marL="45720" marR="45720" marT="18288" marB="18288">
                    <a:solidFill>
                      <a:srgbClr val="FFFFFF"/>
                    </a:solidFill>
                  </a:tcPr>
                </a:tc>
                <a:tc>
                  <a:txBody>
                    <a:bodyPr/>
                    <a:lstStyle/>
                    <a:p>
                      <a:pPr algn="ctr"/>
                      <a:r>
                        <a:rPr sz="1000" b="0">
                          <a:solidFill>
                            <a:srgbClr val="1A1A1A"/>
                          </a:solidFill>
                          <a:latin typeface="Calibri"/>
                        </a:rPr>
                        <a:t>19.8</a:t>
                      </a:r>
                    </a:p>
                  </a:txBody>
                  <a:tcPr marL="45720" marR="45720" marT="18288" marB="18288">
                    <a:solidFill>
                      <a:srgbClr val="FFFFFF"/>
                    </a:solidFill>
                  </a:tcPr>
                </a:tc>
                <a:tc>
                  <a:txBody>
                    <a:bodyPr/>
                    <a:lstStyle/>
                    <a:p>
                      <a:pPr algn="ctr"/>
                      <a:r>
                        <a:rPr sz="1000" b="0">
                          <a:solidFill>
                            <a:srgbClr val="1A1A1A"/>
                          </a:solidFill>
                          <a:latin typeface="Calibri"/>
                        </a:rPr>
                        <a:t>0.430</a:t>
                      </a:r>
                    </a:p>
                  </a:txBody>
                  <a:tcPr marL="45720" marR="45720" marT="18288" marB="18288">
                    <a:solidFill>
                      <a:srgbClr val="FFFFFF"/>
                    </a:solidFill>
                  </a:tcPr>
                </a:tc>
                <a:tc>
                  <a:txBody>
                    <a:bodyPr/>
                    <a:lstStyle/>
                    <a:p>
                      <a:pPr algn="ctr"/>
                      <a:r>
                        <a:rPr sz="1000" b="1">
                          <a:solidFill>
                            <a:srgbClr val="1A1A1A"/>
                          </a:solidFill>
                          <a:latin typeface="Calibri"/>
                        </a:rPr>
                        <a:t>0.423</a:t>
                      </a:r>
                    </a:p>
                  </a:txBody>
                  <a:tcPr marL="45720" marR="45720" marT="18288" marB="18288">
                    <a:solidFill>
                      <a:srgbClr val="FFFFFF"/>
                    </a:solidFill>
                  </a:tcPr>
                </a:tc>
                <a:extLst>
                  <a:ext uri="{0D108BD9-81ED-4DB2-BD59-A6C34878D82A}">
                    <a16:rowId xmlns:a16="http://schemas.microsoft.com/office/drawing/2014/main" val="10003"/>
                  </a:ext>
                </a:extLst>
              </a:tr>
              <a:tr h="393004">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dirty="0">
                          <a:solidFill>
                            <a:srgbClr val="1A1A1A"/>
                          </a:solidFill>
                          <a:latin typeface="Calibri"/>
                        </a:rPr>
                        <a:t>[0.991, 1.000)</a:t>
                      </a:r>
                    </a:p>
                  </a:txBody>
                  <a:tcPr marL="45720" marR="45720" marT="18288" marB="18288">
                    <a:solidFill>
                      <a:srgbClr val="FFFFFF"/>
                    </a:solidFill>
                  </a:tcPr>
                </a:tc>
                <a:tc>
                  <a:txBody>
                    <a:bodyPr/>
                    <a:lstStyle/>
                    <a:p>
                      <a:pPr algn="ctr"/>
                      <a:r>
                        <a:rPr sz="1000" b="0">
                          <a:solidFill>
                            <a:srgbClr val="1A1A1A"/>
                          </a:solidFill>
                          <a:latin typeface="Calibri"/>
                        </a:rPr>
                        <a:t>4.39</a:t>
                      </a:r>
                    </a:p>
                  </a:txBody>
                  <a:tcPr marL="45720" marR="45720" marT="18288" marB="18288">
                    <a:solidFill>
                      <a:srgbClr val="FFFFFF"/>
                    </a:solidFill>
                  </a:tcPr>
                </a:tc>
                <a:tc>
                  <a:txBody>
                    <a:bodyPr/>
                    <a:lstStyle/>
                    <a:p>
                      <a:pPr algn="ctr"/>
                      <a:r>
                        <a:rPr sz="1000" b="0">
                          <a:solidFill>
                            <a:srgbClr val="1A1A1A"/>
                          </a:solidFill>
                          <a:latin typeface="Calibri"/>
                        </a:rPr>
                        <a:t>122.7</a:t>
                      </a:r>
                    </a:p>
                  </a:txBody>
                  <a:tcPr marL="45720" marR="45720" marT="18288" marB="18288">
                    <a:solidFill>
                      <a:srgbClr val="FFFFFF"/>
                    </a:solidFill>
                  </a:tcPr>
                </a:tc>
                <a:tc>
                  <a:txBody>
                    <a:bodyPr/>
                    <a:lstStyle/>
                    <a:p>
                      <a:pPr algn="ctr"/>
                      <a:r>
                        <a:rPr sz="1000" b="0">
                          <a:solidFill>
                            <a:srgbClr val="1A1A1A"/>
                          </a:solidFill>
                          <a:latin typeface="Calibri"/>
                        </a:rPr>
                        <a:t>3.04</a:t>
                      </a:r>
                    </a:p>
                  </a:txBody>
                  <a:tcPr marL="45720" marR="45720" marT="18288" marB="18288">
                    <a:solidFill>
                      <a:srgbClr val="FFFFFF"/>
                    </a:solidFill>
                  </a:tcPr>
                </a:tc>
                <a:tc>
                  <a:txBody>
                    <a:bodyPr/>
                    <a:lstStyle/>
                    <a:p>
                      <a:pPr algn="ctr"/>
                      <a:r>
                        <a:rPr sz="1000" b="0">
                          <a:solidFill>
                            <a:srgbClr val="1A1A1A"/>
                          </a:solidFill>
                          <a:latin typeface="Calibri"/>
                        </a:rPr>
                        <a:t>12.7</a:t>
                      </a:r>
                    </a:p>
                  </a:txBody>
                  <a:tcPr marL="45720" marR="45720" marT="18288" marB="18288">
                    <a:solidFill>
                      <a:srgbClr val="FFFFFF"/>
                    </a:solidFill>
                  </a:tcPr>
                </a:tc>
                <a:tc>
                  <a:txBody>
                    <a:bodyPr/>
                    <a:lstStyle/>
                    <a:p>
                      <a:pPr algn="ctr"/>
                      <a:r>
                        <a:rPr sz="1000" b="0">
                          <a:solidFill>
                            <a:srgbClr val="1A1A1A"/>
                          </a:solidFill>
                          <a:latin typeface="Calibri"/>
                        </a:rPr>
                        <a:t>0.852</a:t>
                      </a:r>
                    </a:p>
                  </a:txBody>
                  <a:tcPr marL="45720" marR="45720" marT="18288" marB="18288">
                    <a:solidFill>
                      <a:srgbClr val="FFFFFF"/>
                    </a:solidFill>
                  </a:tcPr>
                </a:tc>
                <a:tc>
                  <a:txBody>
                    <a:bodyPr/>
                    <a:lstStyle/>
                    <a:p>
                      <a:pPr algn="ctr"/>
                      <a:r>
                        <a:rPr sz="1000" b="1" dirty="0">
                          <a:solidFill>
                            <a:srgbClr val="1A1A1A"/>
                          </a:solidFill>
                          <a:latin typeface="Calibri"/>
                        </a:rPr>
                        <a:t>0.821</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321972" y="4160519"/>
            <a:ext cx="8596648" cy="356101"/>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1972" y="4160519"/>
            <a:ext cx="114622" cy="356101"/>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9979" y="4238611"/>
            <a:ext cx="3820732" cy="184666"/>
          </a:xfrm>
          <a:prstGeom prst="rect">
            <a:avLst/>
          </a:prstGeom>
          <a:noFill/>
        </p:spPr>
        <p:txBody>
          <a:bodyPr wrap="square" lIns="0" tIns="0" rIns="0" bIns="0" anchor="ctr">
            <a:spAutoFit/>
          </a:bodyPr>
          <a:lstStyle/>
          <a:p>
            <a:pPr algn="l"/>
            <a:r>
              <a:rPr sz="1200" b="1" i="0" spc="300" dirty="0">
                <a:solidFill>
                  <a:srgbClr val="FFFFFF"/>
                </a:solidFill>
                <a:latin typeface="Calibri"/>
              </a:rPr>
              <a:t>ERA 2025</a:t>
            </a:r>
          </a:p>
        </p:txBody>
      </p:sp>
      <p:sp>
        <p:nvSpPr>
          <p:cNvPr id="14" name="TextBox 13"/>
          <p:cNvSpPr txBox="1"/>
          <p:nvPr/>
        </p:nvSpPr>
        <p:spPr>
          <a:xfrm>
            <a:off x="4505889" y="4240879"/>
            <a:ext cx="4202805" cy="184666"/>
          </a:xfrm>
          <a:prstGeom prst="rect">
            <a:avLst/>
          </a:prstGeom>
          <a:noFill/>
        </p:spPr>
        <p:txBody>
          <a:bodyPr wrap="square" lIns="0" tIns="0" rIns="0" bIns="0" anchor="ctr">
            <a:spAutoFit/>
          </a:bodyPr>
          <a:lstStyle/>
          <a:p>
            <a:pPr algn="r"/>
            <a:r>
              <a:rPr sz="1200" b="1" i="0">
                <a:solidFill>
                  <a:srgbClr val="FFCD00"/>
                </a:solidFill>
                <a:latin typeface="Calibri"/>
              </a:rPr>
              <a:t>Combined Z = 0.903</a:t>
            </a:r>
          </a:p>
        </p:txBody>
      </p:sp>
      <p:graphicFrame>
        <p:nvGraphicFramePr>
          <p:cNvPr id="15" name="Table 14"/>
          <p:cNvGraphicFramePr>
            <a:graphicFrameLocks noGrp="1"/>
          </p:cNvGraphicFramePr>
          <p:nvPr>
            <p:extLst>
              <p:ext uri="{D42A27DB-BD31-4B8C-83A1-F6EECF244321}">
                <p14:modId xmlns:p14="http://schemas.microsoft.com/office/powerpoint/2010/main" val="3238416949"/>
              </p:ext>
            </p:extLst>
          </p:nvPr>
        </p:nvGraphicFramePr>
        <p:xfrm>
          <a:off x="321972" y="4480557"/>
          <a:ext cx="8596650" cy="1424404"/>
        </p:xfrm>
        <a:graphic>
          <a:graphicData uri="http://schemas.openxmlformats.org/drawingml/2006/table">
            <a:tbl>
              <a:tblPr firstRow="1" bandRow="1">
                <a:tableStyleId>{5C22544A-7EE6-4342-B048-85BDC9FD1C3A}</a:tableStyleId>
              </a:tblPr>
              <a:tblGrid>
                <a:gridCol w="525351">
                  <a:extLst>
                    <a:ext uri="{9D8B030D-6E8A-4147-A177-3AD203B41FA5}">
                      <a16:colId xmlns:a16="http://schemas.microsoft.com/office/drawing/2014/main" val="20000"/>
                    </a:ext>
                  </a:extLst>
                </a:gridCol>
                <a:gridCol w="1528293">
                  <a:extLst>
                    <a:ext uri="{9D8B030D-6E8A-4147-A177-3AD203B41FA5}">
                      <a16:colId xmlns:a16="http://schemas.microsoft.com/office/drawing/2014/main" val="20001"/>
                    </a:ext>
                  </a:extLst>
                </a:gridCol>
                <a:gridCol w="907424">
                  <a:extLst>
                    <a:ext uri="{9D8B030D-6E8A-4147-A177-3AD203B41FA5}">
                      <a16:colId xmlns:a16="http://schemas.microsoft.com/office/drawing/2014/main" val="20002"/>
                    </a:ext>
                  </a:extLst>
                </a:gridCol>
                <a:gridCol w="1193979">
                  <a:extLst>
                    <a:ext uri="{9D8B030D-6E8A-4147-A177-3AD203B41FA5}">
                      <a16:colId xmlns:a16="http://schemas.microsoft.com/office/drawing/2014/main" val="20003"/>
                    </a:ext>
                  </a:extLst>
                </a:gridCol>
                <a:gridCol w="1050702">
                  <a:extLst>
                    <a:ext uri="{9D8B030D-6E8A-4147-A177-3AD203B41FA5}">
                      <a16:colId xmlns:a16="http://schemas.microsoft.com/office/drawing/2014/main" val="20004"/>
                    </a:ext>
                  </a:extLst>
                </a:gridCol>
                <a:gridCol w="1193979">
                  <a:extLst>
                    <a:ext uri="{9D8B030D-6E8A-4147-A177-3AD203B41FA5}">
                      <a16:colId xmlns:a16="http://schemas.microsoft.com/office/drawing/2014/main" val="20005"/>
                    </a:ext>
                  </a:extLst>
                </a:gridCol>
                <a:gridCol w="1002943">
                  <a:extLst>
                    <a:ext uri="{9D8B030D-6E8A-4147-A177-3AD203B41FA5}">
                      <a16:colId xmlns:a16="http://schemas.microsoft.com/office/drawing/2014/main" val="20006"/>
                    </a:ext>
                  </a:extLst>
                </a:gridCol>
                <a:gridCol w="1193979">
                  <a:extLst>
                    <a:ext uri="{9D8B030D-6E8A-4147-A177-3AD203B41FA5}">
                      <a16:colId xmlns:a16="http://schemas.microsoft.com/office/drawing/2014/main" val="20007"/>
                    </a:ext>
                  </a:extLst>
                </a:gridCol>
              </a:tblGrid>
              <a:tr h="356101">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S_full</a:t>
                      </a:r>
                    </a:p>
                  </a:txBody>
                  <a:tcPr marL="45720" marR="45720" marT="18288" marB="18288">
                    <a:solidFill>
                      <a:srgbClr val="000000"/>
                    </a:solidFill>
                  </a:tcPr>
                </a:tc>
                <a:tc>
                  <a:txBody>
                    <a:bodyPr/>
                    <a:lstStyle/>
                    <a:p>
                      <a:pPr algn="ctr"/>
                      <a:r>
                        <a:rPr sz="1000" b="1">
                          <a:solidFill>
                            <a:srgbClr val="FFFFFF"/>
                          </a:solidFill>
                          <a:latin typeface="Calibri"/>
                        </a:rPr>
                        <a:t>B_full</a:t>
                      </a:r>
                    </a:p>
                  </a:txBody>
                  <a:tcPr marL="45720" marR="45720" marT="18288" marB="18288">
                    <a:solidFill>
                      <a:srgbClr val="000000"/>
                    </a:solidFill>
                  </a:tcPr>
                </a:tc>
                <a:tc>
                  <a:txBody>
                    <a:bodyPr/>
                    <a:lstStyle/>
                    <a:p>
                      <a:pPr algn="ctr"/>
                      <a:r>
                        <a:rPr sz="1000" b="1">
                          <a:solidFill>
                            <a:srgbClr val="FFFFFF"/>
                          </a:solidFill>
                          <a:latin typeface="Calibri"/>
                        </a:rPr>
                        <a:t>S_HWHM</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Asimov Z</a:t>
                      </a:r>
                    </a:p>
                  </a:txBody>
                  <a:tcPr marL="45720" marR="45720" marT="18288" marB="18288">
                    <a:solidFill>
                      <a:srgbClr val="000000"/>
                    </a:solidFill>
                  </a:tcPr>
                </a:tc>
                <a:extLst>
                  <a:ext uri="{0D108BD9-81ED-4DB2-BD59-A6C34878D82A}">
                    <a16:rowId xmlns:a16="http://schemas.microsoft.com/office/drawing/2014/main" val="10000"/>
                  </a:ext>
                </a:extLst>
              </a:tr>
              <a:tr h="356101">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[0.000, 0.782)</a:t>
                      </a:r>
                    </a:p>
                  </a:txBody>
                  <a:tcPr marL="45720" marR="45720" marT="18288" marB="18288">
                    <a:solidFill>
                      <a:srgbClr val="FFFFFF"/>
                    </a:solidFill>
                  </a:tcPr>
                </a:tc>
                <a:tc>
                  <a:txBody>
                    <a:bodyPr/>
                    <a:lstStyle/>
                    <a:p>
                      <a:pPr algn="ctr"/>
                      <a:r>
                        <a:rPr sz="1000" b="0">
                          <a:solidFill>
                            <a:srgbClr val="1A1A1A"/>
                          </a:solidFill>
                          <a:latin typeface="Calibri"/>
                        </a:rPr>
                        <a:t>11.26</a:t>
                      </a:r>
                    </a:p>
                  </a:txBody>
                  <a:tcPr marL="45720" marR="45720" marT="18288" marB="18288">
                    <a:solidFill>
                      <a:srgbClr val="FFFFFF"/>
                    </a:solidFill>
                  </a:tcPr>
                </a:tc>
                <a:tc>
                  <a:txBody>
                    <a:bodyPr/>
                    <a:lstStyle/>
                    <a:p>
                      <a:pPr algn="ctr"/>
                      <a:r>
                        <a:rPr sz="1000" b="0">
                          <a:solidFill>
                            <a:srgbClr val="1A1A1A"/>
                          </a:solidFill>
                          <a:latin typeface="Calibri"/>
                        </a:rPr>
                        <a:t>59,784.1</a:t>
                      </a:r>
                    </a:p>
                  </a:txBody>
                  <a:tcPr marL="45720" marR="45720" marT="18288" marB="18288">
                    <a:solidFill>
                      <a:srgbClr val="FFFFFF"/>
                    </a:solidFill>
                  </a:tcPr>
                </a:tc>
                <a:tc>
                  <a:txBody>
                    <a:bodyPr/>
                    <a:lstStyle/>
                    <a:p>
                      <a:pPr algn="ctr"/>
                      <a:r>
                        <a:rPr sz="1000" b="0">
                          <a:solidFill>
                            <a:srgbClr val="1A1A1A"/>
                          </a:solidFill>
                          <a:latin typeface="Calibri"/>
                        </a:rPr>
                        <a:t>7.66</a:t>
                      </a:r>
                    </a:p>
                  </a:txBody>
                  <a:tcPr marL="45720" marR="45720" marT="18288" marB="18288">
                    <a:solidFill>
                      <a:srgbClr val="FFFFFF"/>
                    </a:solidFill>
                  </a:tcPr>
                </a:tc>
                <a:tc>
                  <a:txBody>
                    <a:bodyPr/>
                    <a:lstStyle/>
                    <a:p>
                      <a:pPr algn="ctr"/>
                      <a:r>
                        <a:rPr sz="1000" b="0">
                          <a:solidFill>
                            <a:srgbClr val="1A1A1A"/>
                          </a:solidFill>
                          <a:latin typeface="Calibri"/>
                        </a:rPr>
                        <a:t>5,853.0</a:t>
                      </a:r>
                    </a:p>
                  </a:txBody>
                  <a:tcPr marL="45720" marR="45720" marT="18288" marB="18288">
                    <a:solidFill>
                      <a:srgbClr val="FFFFFF"/>
                    </a:solidFill>
                  </a:tcPr>
                </a:tc>
                <a:tc>
                  <a:txBody>
                    <a:bodyPr/>
                    <a:lstStyle/>
                    <a:p>
                      <a:pPr algn="ctr"/>
                      <a:r>
                        <a:rPr sz="1000" b="0">
                          <a:solidFill>
                            <a:srgbClr val="1A1A1A"/>
                          </a:solidFill>
                          <a:latin typeface="Calibri"/>
                        </a:rPr>
                        <a:t>0.100</a:t>
                      </a:r>
                    </a:p>
                  </a:txBody>
                  <a:tcPr marL="45720" marR="45720" marT="18288" marB="18288">
                    <a:solidFill>
                      <a:srgbClr val="FFFFFF"/>
                    </a:solidFill>
                  </a:tcPr>
                </a:tc>
                <a:tc>
                  <a:txBody>
                    <a:bodyPr/>
                    <a:lstStyle/>
                    <a:p>
                      <a:pPr algn="ctr"/>
                      <a:r>
                        <a:rPr sz="1000" b="1">
                          <a:solidFill>
                            <a:srgbClr val="1A1A1A"/>
                          </a:solidFill>
                          <a:latin typeface="Calibri"/>
                        </a:rPr>
                        <a:t>0.100</a:t>
                      </a:r>
                    </a:p>
                  </a:txBody>
                  <a:tcPr marL="45720" marR="45720" marT="18288" marB="18288">
                    <a:solidFill>
                      <a:srgbClr val="FFFFFF"/>
                    </a:solidFill>
                  </a:tcPr>
                </a:tc>
                <a:extLst>
                  <a:ext uri="{0D108BD9-81ED-4DB2-BD59-A6C34878D82A}">
                    <a16:rowId xmlns:a16="http://schemas.microsoft.com/office/drawing/2014/main" val="10001"/>
                  </a:ext>
                </a:extLst>
              </a:tr>
              <a:tr h="356101">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[0.782, 0.919)</a:t>
                      </a:r>
                    </a:p>
                  </a:txBody>
                  <a:tcPr marL="45720" marR="45720" marT="18288" marB="18288">
                    <a:solidFill>
                      <a:srgbClr val="FFFFFF"/>
                    </a:solidFill>
                  </a:tcPr>
                </a:tc>
                <a:tc>
                  <a:txBody>
                    <a:bodyPr/>
                    <a:lstStyle/>
                    <a:p>
                      <a:pPr algn="ctr"/>
                      <a:r>
                        <a:rPr sz="1000" b="0">
                          <a:solidFill>
                            <a:srgbClr val="1A1A1A"/>
                          </a:solidFill>
                          <a:latin typeface="Calibri"/>
                        </a:rPr>
                        <a:t>6.80</a:t>
                      </a:r>
                    </a:p>
                  </a:txBody>
                  <a:tcPr marL="45720" marR="45720" marT="18288" marB="18288">
                    <a:solidFill>
                      <a:srgbClr val="FFFFFF"/>
                    </a:solidFill>
                  </a:tcPr>
                </a:tc>
                <a:tc>
                  <a:txBody>
                    <a:bodyPr/>
                    <a:lstStyle/>
                    <a:p>
                      <a:pPr algn="ctr"/>
                      <a:r>
                        <a:rPr sz="1000" b="0">
                          <a:solidFill>
                            <a:srgbClr val="1A1A1A"/>
                          </a:solidFill>
                          <a:latin typeface="Calibri"/>
                        </a:rPr>
                        <a:t>2,302.5</a:t>
                      </a:r>
                    </a:p>
                  </a:txBody>
                  <a:tcPr marL="45720" marR="45720" marT="18288" marB="18288">
                    <a:solidFill>
                      <a:srgbClr val="FFFFFF"/>
                    </a:solidFill>
                  </a:tcPr>
                </a:tc>
                <a:tc>
                  <a:txBody>
                    <a:bodyPr/>
                    <a:lstStyle/>
                    <a:p>
                      <a:pPr algn="ctr"/>
                      <a:r>
                        <a:rPr sz="1000" b="0">
                          <a:solidFill>
                            <a:srgbClr val="1A1A1A"/>
                          </a:solidFill>
                          <a:latin typeface="Calibri"/>
                        </a:rPr>
                        <a:t>4.68</a:t>
                      </a:r>
                    </a:p>
                  </a:txBody>
                  <a:tcPr marL="45720" marR="45720" marT="18288" marB="18288">
                    <a:solidFill>
                      <a:srgbClr val="FFFFFF"/>
                    </a:solidFill>
                  </a:tcPr>
                </a:tc>
                <a:tc>
                  <a:txBody>
                    <a:bodyPr/>
                    <a:lstStyle/>
                    <a:p>
                      <a:pPr algn="ctr"/>
                      <a:r>
                        <a:rPr sz="1000" b="0">
                          <a:solidFill>
                            <a:srgbClr val="1A1A1A"/>
                          </a:solidFill>
                          <a:latin typeface="Calibri"/>
                        </a:rPr>
                        <a:t>217.9</a:t>
                      </a:r>
                    </a:p>
                  </a:txBody>
                  <a:tcPr marL="45720" marR="45720" marT="18288" marB="18288">
                    <a:solidFill>
                      <a:srgbClr val="FFFFFF"/>
                    </a:solidFill>
                  </a:tcPr>
                </a:tc>
                <a:tc>
                  <a:txBody>
                    <a:bodyPr/>
                    <a:lstStyle/>
                    <a:p>
                      <a:pPr algn="ctr"/>
                      <a:r>
                        <a:rPr sz="1000" b="0">
                          <a:solidFill>
                            <a:srgbClr val="1A1A1A"/>
                          </a:solidFill>
                          <a:latin typeface="Calibri"/>
                        </a:rPr>
                        <a:t>0.317</a:t>
                      </a:r>
                    </a:p>
                  </a:txBody>
                  <a:tcPr marL="45720" marR="45720" marT="18288" marB="18288">
                    <a:solidFill>
                      <a:srgbClr val="FFFFFF"/>
                    </a:solidFill>
                  </a:tcPr>
                </a:tc>
                <a:tc>
                  <a:txBody>
                    <a:bodyPr/>
                    <a:lstStyle/>
                    <a:p>
                      <a:pPr algn="ctr"/>
                      <a:r>
                        <a:rPr sz="1000" b="1">
                          <a:solidFill>
                            <a:srgbClr val="1A1A1A"/>
                          </a:solidFill>
                          <a:latin typeface="Calibri"/>
                        </a:rPr>
                        <a:t>0.316</a:t>
                      </a:r>
                    </a:p>
                  </a:txBody>
                  <a:tcPr marL="45720" marR="45720" marT="18288" marB="18288">
                    <a:solidFill>
                      <a:srgbClr val="FFFFFF"/>
                    </a:solidFill>
                  </a:tcPr>
                </a:tc>
                <a:extLst>
                  <a:ext uri="{0D108BD9-81ED-4DB2-BD59-A6C34878D82A}">
                    <a16:rowId xmlns:a16="http://schemas.microsoft.com/office/drawing/2014/main" val="10002"/>
                  </a:ext>
                </a:extLst>
              </a:tr>
              <a:tr h="356101">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dirty="0">
                          <a:solidFill>
                            <a:srgbClr val="1A1A1A"/>
                          </a:solidFill>
                          <a:latin typeface="Calibri"/>
                        </a:rPr>
                        <a:t>[0.919, 1.000)</a:t>
                      </a:r>
                    </a:p>
                  </a:txBody>
                  <a:tcPr marL="45720" marR="45720" marT="18288" marB="18288">
                    <a:solidFill>
                      <a:srgbClr val="FFFFFF"/>
                    </a:solidFill>
                  </a:tcPr>
                </a:tc>
                <a:tc>
                  <a:txBody>
                    <a:bodyPr/>
                    <a:lstStyle/>
                    <a:p>
                      <a:pPr algn="ctr"/>
                      <a:r>
                        <a:rPr sz="1000" b="0">
                          <a:solidFill>
                            <a:srgbClr val="1A1A1A"/>
                          </a:solidFill>
                          <a:latin typeface="Calibri"/>
                        </a:rPr>
                        <a:t>11.73</a:t>
                      </a:r>
                    </a:p>
                  </a:txBody>
                  <a:tcPr marL="45720" marR="45720" marT="18288" marB="18288">
                    <a:solidFill>
                      <a:srgbClr val="FFFFFF"/>
                    </a:solidFill>
                  </a:tcPr>
                </a:tc>
                <a:tc>
                  <a:txBody>
                    <a:bodyPr/>
                    <a:lstStyle/>
                    <a:p>
                      <a:pPr algn="ctr"/>
                      <a:r>
                        <a:rPr sz="1000" b="0">
                          <a:solidFill>
                            <a:srgbClr val="1A1A1A"/>
                          </a:solidFill>
                          <a:latin typeface="Calibri"/>
                        </a:rPr>
                        <a:t>875.1</a:t>
                      </a:r>
                    </a:p>
                  </a:txBody>
                  <a:tcPr marL="45720" marR="45720" marT="18288" marB="18288">
                    <a:solidFill>
                      <a:srgbClr val="FFFFFF"/>
                    </a:solidFill>
                  </a:tcPr>
                </a:tc>
                <a:tc>
                  <a:txBody>
                    <a:bodyPr/>
                    <a:lstStyle/>
                    <a:p>
                      <a:pPr algn="ctr"/>
                      <a:r>
                        <a:rPr sz="1000" b="0">
                          <a:solidFill>
                            <a:srgbClr val="1A1A1A"/>
                          </a:solidFill>
                          <a:latin typeface="Calibri"/>
                        </a:rPr>
                        <a:t>8.17</a:t>
                      </a:r>
                    </a:p>
                  </a:txBody>
                  <a:tcPr marL="45720" marR="45720" marT="18288" marB="18288">
                    <a:solidFill>
                      <a:srgbClr val="FFFFFF"/>
                    </a:solidFill>
                  </a:tcPr>
                </a:tc>
                <a:tc>
                  <a:txBody>
                    <a:bodyPr/>
                    <a:lstStyle/>
                    <a:p>
                      <a:pPr algn="ctr"/>
                      <a:r>
                        <a:rPr sz="1000" b="0">
                          <a:solidFill>
                            <a:srgbClr val="1A1A1A"/>
                          </a:solidFill>
                          <a:latin typeface="Calibri"/>
                        </a:rPr>
                        <a:t>92.0</a:t>
                      </a:r>
                    </a:p>
                  </a:txBody>
                  <a:tcPr marL="45720" marR="45720" marT="18288" marB="18288">
                    <a:solidFill>
                      <a:srgbClr val="FFFFFF"/>
                    </a:solidFill>
                  </a:tcPr>
                </a:tc>
                <a:tc>
                  <a:txBody>
                    <a:bodyPr/>
                    <a:lstStyle/>
                    <a:p>
                      <a:pPr algn="ctr"/>
                      <a:r>
                        <a:rPr sz="1000" b="0">
                          <a:solidFill>
                            <a:srgbClr val="1A1A1A"/>
                          </a:solidFill>
                          <a:latin typeface="Calibri"/>
                        </a:rPr>
                        <a:t>0.852</a:t>
                      </a:r>
                    </a:p>
                  </a:txBody>
                  <a:tcPr marL="45720" marR="45720" marT="18288" marB="18288">
                    <a:solidFill>
                      <a:srgbClr val="FFFFFF"/>
                    </a:solidFill>
                  </a:tcPr>
                </a:tc>
                <a:tc>
                  <a:txBody>
                    <a:bodyPr/>
                    <a:lstStyle/>
                    <a:p>
                      <a:pPr algn="ctr"/>
                      <a:r>
                        <a:rPr sz="1000" b="1" dirty="0">
                          <a:solidFill>
                            <a:srgbClr val="1A1A1A"/>
                          </a:solidFill>
                          <a:latin typeface="Calibri"/>
                        </a:rPr>
                        <a:t>0.840</a:t>
                      </a:r>
                    </a:p>
                  </a:txBody>
                  <a:tcPr marL="45720" marR="45720" marT="18288" marB="18288">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64860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Mass sculpting check</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t>Normalised background shapes per category — BDT does not sculpt m_μμ</a:t>
            </a:r>
            <a:endParaRPr lang="en-US" dirty="0"/>
          </a:p>
        </p:txBody>
      </p:sp>
      <p:pic>
        <p:nvPicPr>
          <p:cNvPr id="9" name="Picture 8" descr="c_mass_sculpt.jpg"/>
          <p:cNvPicPr>
            <a:picLocks noChangeAspect="1"/>
          </p:cNvPicPr>
          <p:nvPr/>
        </p:nvPicPr>
        <p:blipFill>
          <a:blip r:embed="rId3"/>
          <a:stretch>
            <a:fillRect/>
          </a:stretch>
        </p:blipFill>
        <p:spPr>
          <a:xfrm>
            <a:off x="411480" y="1554480"/>
            <a:ext cx="4799599" cy="4297680"/>
          </a:xfrm>
          <a:prstGeom prst="rect">
            <a:avLst/>
          </a:prstGeom>
        </p:spPr>
      </p:pic>
      <p:sp>
        <p:nvSpPr>
          <p:cNvPr id="10" name="TextBox 9"/>
          <p:cNvSpPr txBox="1"/>
          <p:nvPr/>
        </p:nvSpPr>
        <p:spPr>
          <a:xfrm>
            <a:off x="6035040" y="1554480"/>
            <a:ext cx="2834640" cy="246221"/>
          </a:xfrm>
          <a:prstGeom prst="rect">
            <a:avLst/>
          </a:prstGeom>
          <a:noFill/>
        </p:spPr>
        <p:txBody>
          <a:bodyPr wrap="square" lIns="0" tIns="0" rIns="0" bIns="0" anchor="t">
            <a:spAutoFit/>
          </a:bodyPr>
          <a:lstStyle/>
          <a:p>
            <a:pPr algn="l"/>
            <a:r>
              <a:rPr sz="1600" b="1" i="0" dirty="0">
                <a:solidFill>
                  <a:srgbClr val="000000"/>
                </a:solidFill>
                <a:latin typeface="Calibri"/>
              </a:rPr>
              <a:t>Why this matters</a:t>
            </a:r>
          </a:p>
        </p:txBody>
      </p:sp>
      <p:cxnSp>
        <p:nvCxnSpPr>
          <p:cNvPr id="11" name="Connector 10"/>
          <p:cNvCxnSpPr/>
          <p:nvPr/>
        </p:nvCxnSpPr>
        <p:spPr>
          <a:xfrm>
            <a:off x="6035040" y="1920240"/>
            <a:ext cx="548640" cy="0"/>
          </a:xfrm>
          <a:prstGeom prst="line">
            <a:avLst/>
          </a:prstGeom>
          <a:ln w="25400">
            <a:solidFill>
              <a:srgbClr val="FFCD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6035040" y="2057400"/>
                <a:ext cx="2834640" cy="2417328"/>
              </a:xfrm>
              <a:prstGeom prst="rect">
                <a:avLst/>
              </a:prstGeom>
              <a:noFill/>
            </p:spPr>
            <p:txBody>
              <a:bodyPr wrap="square" lIns="0" tIns="0" rIns="0" bIns="0" anchor="t">
                <a:spAutoFit/>
              </a:bodyPr>
              <a:lstStyle/>
              <a:p>
                <a:pPr algn="l"/>
                <a:r>
                  <a:rPr lang="en-US" sz="1400" b="0" i="0" dirty="0">
                    <a:solidFill>
                      <a:srgbClr val="1A1A1A"/>
                    </a:solidFill>
                    <a:latin typeface="Calibri"/>
                  </a:rPr>
                  <a:t>BDT uses kinematic information</a:t>
                </a:r>
              </a:p>
              <a:p>
                <a:r>
                  <a:rPr lang="en-US" sz="1400" dirty="0">
                    <a:solidFill>
                      <a:srgbClr val="1A1A1A"/>
                    </a:solidFill>
                    <a:latin typeface="Calibri"/>
                  </a:rPr>
                  <a:t>-I</a:t>
                </a:r>
                <a:r>
                  <a:rPr lang="en-US" sz="1400" b="0" i="0" dirty="0">
                    <a:solidFill>
                      <a:srgbClr val="1A1A1A"/>
                    </a:solidFill>
                    <a:latin typeface="Calibri"/>
                  </a:rPr>
                  <a:t>f it sculpted </a:t>
                </a:r>
                <a14:m>
                  <m:oMath xmlns:m="http://schemas.openxmlformats.org/officeDocument/2006/math">
                    <m:sSub>
                      <m:sSubPr>
                        <m:ctrlPr>
                          <a:rPr lang="ar-AE" sz="1400" b="0" i="1" smtClean="0">
                            <a:solidFill>
                              <a:srgbClr val="1A1A1A"/>
                            </a:solidFill>
                            <a:latin typeface="Cambria Math" panose="02040503050406030204" pitchFamily="18" charset="0"/>
                          </a:rPr>
                        </m:ctrlPr>
                      </m:sSubPr>
                      <m:e>
                        <m:r>
                          <a:rPr lang="ar-AE" sz="1400" b="0" i="1" smtClean="0">
                            <a:solidFill>
                              <a:srgbClr val="1A1A1A"/>
                            </a:solidFill>
                            <a:latin typeface="Cambria Math" panose="02040503050406030204" pitchFamily="18" charset="0"/>
                          </a:rPr>
                          <m:t>𝑚</m:t>
                        </m:r>
                      </m:e>
                      <m:sub>
                        <m:r>
                          <m:rPr>
                            <m:nor/>
                          </m:rPr>
                          <a:rPr lang="el-GR" sz="1400" dirty="0">
                            <a:solidFill>
                              <a:srgbClr val="1A1A1A"/>
                            </a:solidFill>
                            <a:latin typeface="Calibri"/>
                          </a:rPr>
                          <m:t>μμ</m:t>
                        </m:r>
                      </m:sub>
                    </m:sSub>
                  </m:oMath>
                </a14:m>
                <a:r>
                  <a:rPr lang="el-GR" sz="1400" b="0" i="0" dirty="0">
                    <a:solidFill>
                      <a:srgbClr val="1A1A1A"/>
                    </a:solidFill>
                    <a:latin typeface="Calibri"/>
                  </a:rPr>
                  <a:t>, </a:t>
                </a:r>
                <a:r>
                  <a:rPr lang="en-US" sz="1400" b="0" i="0" dirty="0">
                    <a:solidFill>
                      <a:srgbClr val="1A1A1A"/>
                    </a:solidFill>
                    <a:latin typeface="Calibri"/>
                  </a:rPr>
                  <a:t>a fake bump could appear after categorization.</a:t>
                </a:r>
              </a:p>
              <a:p>
                <a:pPr algn="l"/>
                <a:r>
                  <a:rPr lang="en-US" sz="1400" b="0" i="0" dirty="0">
                    <a:solidFill>
                      <a:srgbClr val="1A1A1A"/>
                    </a:solidFill>
                    <a:latin typeface="Calibri"/>
                  </a:rPr>
                  <a:t> </a:t>
                </a:r>
              </a:p>
              <a:p>
                <a:pPr algn="l"/>
                <a:r>
                  <a:rPr lang="en-US" sz="1400" b="0" i="0" dirty="0">
                    <a:solidFill>
                      <a:srgbClr val="1A1A1A"/>
                    </a:solidFill>
                    <a:latin typeface="Calibri"/>
                  </a:rPr>
                  <a:t>-All four normalized shapes overlay within statistics; bottom ratio panel is flat around unity (within ±50% in the very low-stat Cat 2/3 bins).</a:t>
                </a:r>
              </a:p>
              <a:p>
                <a:pPr algn="l"/>
                <a:r>
                  <a:rPr lang="en-US" sz="1400" b="0" i="0" dirty="0">
                    <a:solidFill>
                      <a:srgbClr val="1A1A1A"/>
                    </a:solidFill>
                    <a:latin typeface="Calibri"/>
                  </a:rPr>
                  <a:t> </a:t>
                </a:r>
              </a:p>
              <a:p>
                <a:r>
                  <a:rPr lang="en-US" sz="1400" b="1" i="0" dirty="0">
                    <a:solidFill>
                      <a:srgbClr val="000000"/>
                    </a:solidFill>
                    <a:latin typeface="Calibri"/>
                  </a:rPr>
                  <a:t>→  BDT score is decorrelated from </a:t>
                </a:r>
                <a14:m>
                  <m:oMath xmlns:m="http://schemas.openxmlformats.org/officeDocument/2006/math">
                    <m:sSub>
                      <m:sSubPr>
                        <m:ctrlPr>
                          <a:rPr lang="ar-AE" sz="1400" b="1" i="1">
                            <a:solidFill>
                              <a:srgbClr val="1A1A1A"/>
                            </a:solidFill>
                            <a:latin typeface="Cambria Math" panose="02040503050406030204" pitchFamily="18" charset="0"/>
                          </a:rPr>
                        </m:ctrlPr>
                      </m:sSubPr>
                      <m:e>
                        <m:r>
                          <a:rPr lang="ar-AE" sz="1400" b="1" i="1">
                            <a:solidFill>
                              <a:srgbClr val="1A1A1A"/>
                            </a:solidFill>
                            <a:latin typeface="Cambria Math" panose="02040503050406030204" pitchFamily="18" charset="0"/>
                          </a:rPr>
                          <m:t>𝒎</m:t>
                        </m:r>
                      </m:e>
                      <m:sub>
                        <m:r>
                          <m:rPr>
                            <m:nor/>
                          </m:rPr>
                          <a:rPr lang="el-GR" sz="1400" b="1" dirty="0">
                            <a:solidFill>
                              <a:srgbClr val="1A1A1A"/>
                            </a:solidFill>
                            <a:latin typeface="Calibri"/>
                          </a:rPr>
                          <m:t>μμ</m:t>
                        </m:r>
                      </m:sub>
                    </m:sSub>
                  </m:oMath>
                </a14:m>
                <a:r>
                  <a:rPr lang="el-GR" sz="1400" b="1" i="0" dirty="0">
                    <a:solidFill>
                      <a:srgbClr val="000000"/>
                    </a:solidFill>
                    <a:latin typeface="Calibri"/>
                  </a:rPr>
                  <a:t>, </a:t>
                </a:r>
                <a:r>
                  <a:rPr lang="en-US" sz="1400" b="1" i="0" dirty="0">
                    <a:solidFill>
                      <a:srgbClr val="000000"/>
                    </a:solidFill>
                    <a:latin typeface="Calibri"/>
                  </a:rPr>
                  <a:t>as required.</a:t>
                </a:r>
                <a:endParaRPr sz="1400" b="1" i="0" dirty="0">
                  <a:solidFill>
                    <a:srgbClr val="000000"/>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6035040" y="2057400"/>
                <a:ext cx="2834640" cy="2417328"/>
              </a:xfrm>
              <a:prstGeom prst="rect">
                <a:avLst/>
              </a:prstGeom>
              <a:blipFill>
                <a:blip r:embed="rId4"/>
                <a:stretch>
                  <a:fillRect l="-3871" t="-2525" r="-2151" b="-2778"/>
                </a:stretch>
              </a:blipFill>
            </p:spPr>
            <p:txBody>
              <a:bodyPr/>
              <a:lstStyle/>
              <a:p>
                <a:r>
                  <a:rPr lang="en-US">
                    <a:noFill/>
                  </a:rPr>
                  <a:t> </a:t>
                </a:r>
              </a:p>
            </p:txBody>
          </p:sp>
        </mc:Fallback>
      </mc:AlternateContent>
    </p:spTree>
    <p:extLst>
      <p:ext uri="{BB962C8B-B14F-4D97-AF65-F5344CB8AC3E}">
        <p14:creationId xmlns:p14="http://schemas.microsoft.com/office/powerpoint/2010/main" val="1610178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rPr sz="3200"/>
              <a:t>Background fits per category</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rPr dirty="0"/>
              <a:t>Sideband-only fit, multiple PDF families per category</a:t>
            </a:r>
            <a:endParaRPr lang="en-US" dirty="0"/>
          </a:p>
        </p:txBody>
      </p:sp>
      <p:pic>
        <p:nvPicPr>
          <p:cNvPr id="9" name="Picture 8" descr="c_bg_fits.jpg"/>
          <p:cNvPicPr>
            <a:picLocks noChangeAspect="1"/>
          </p:cNvPicPr>
          <p:nvPr/>
        </p:nvPicPr>
        <p:blipFill>
          <a:blip r:embed="rId3"/>
          <a:stretch>
            <a:fillRect/>
          </a:stretch>
        </p:blipFill>
        <p:spPr>
          <a:xfrm>
            <a:off x="411478" y="1480144"/>
            <a:ext cx="5019689" cy="4675743"/>
          </a:xfrm>
          <a:prstGeom prst="rect">
            <a:avLst/>
          </a:prstGeom>
        </p:spPr>
      </p:pic>
      <p:sp>
        <p:nvSpPr>
          <p:cNvPr id="10" name="TextBox 9"/>
          <p:cNvSpPr txBox="1"/>
          <p:nvPr/>
        </p:nvSpPr>
        <p:spPr>
          <a:xfrm>
            <a:off x="5840361" y="1554480"/>
            <a:ext cx="2834640" cy="365760"/>
          </a:xfrm>
          <a:prstGeom prst="rect">
            <a:avLst/>
          </a:prstGeom>
          <a:noFill/>
        </p:spPr>
        <p:txBody>
          <a:bodyPr wrap="square" lIns="0" tIns="0" rIns="0" bIns="0" anchor="t">
            <a:spAutoFit/>
          </a:bodyPr>
          <a:lstStyle/>
          <a:p>
            <a:pPr algn="l"/>
            <a:r>
              <a:rPr sz="1300" b="1" i="0" dirty="0">
                <a:solidFill>
                  <a:srgbClr val="000000"/>
                </a:solidFill>
                <a:latin typeface="Calibri"/>
              </a:rPr>
              <a:t>Best PDF &amp; Baker–Cousins χ²/ndf</a:t>
            </a:r>
          </a:p>
        </p:txBody>
      </p:sp>
      <p:cxnSp>
        <p:nvCxnSpPr>
          <p:cNvPr id="11" name="Connector 10"/>
          <p:cNvCxnSpPr/>
          <p:nvPr/>
        </p:nvCxnSpPr>
        <p:spPr>
          <a:xfrm>
            <a:off x="5840361" y="1923190"/>
            <a:ext cx="548640" cy="0"/>
          </a:xfrm>
          <a:prstGeom prst="line">
            <a:avLst/>
          </a:prstGeom>
          <a:ln w="25400">
            <a:solidFill>
              <a:srgbClr val="FFCD00"/>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4054410512"/>
              </p:ext>
            </p:extLst>
          </p:nvPr>
        </p:nvGraphicFramePr>
        <p:xfrm>
          <a:off x="5840361" y="2011680"/>
          <a:ext cx="2834640" cy="182880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65760">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Best PDF</a:t>
                      </a:r>
                    </a:p>
                  </a:txBody>
                  <a:tcPr marL="45720" marR="45720" marT="18288" marB="18288">
                    <a:solidFill>
                      <a:srgbClr val="000000"/>
                    </a:solidFill>
                  </a:tcPr>
                </a:tc>
                <a:tc>
                  <a:txBody>
                    <a:bodyPr/>
                    <a:lstStyle/>
                    <a:p>
                      <a:pPr algn="ctr"/>
                      <a:r>
                        <a:rPr sz="1000" b="1">
                          <a:solidFill>
                            <a:srgbClr val="FFFFFF"/>
                          </a:solidFill>
                          <a:latin typeface="Calibri"/>
                        </a:rPr>
                        <a:t>χ²/ndf</a:t>
                      </a:r>
                    </a:p>
                  </a:txBody>
                  <a:tcPr marL="45720" marR="45720" marT="18288" marB="18288">
                    <a:solidFill>
                      <a:srgbClr val="000000"/>
                    </a:solidFill>
                  </a:tcPr>
                </a:tc>
                <a:extLst>
                  <a:ext uri="{0D108BD9-81ED-4DB2-BD59-A6C34878D82A}">
                    <a16:rowId xmlns:a16="http://schemas.microsoft.com/office/drawing/2014/main" val="10000"/>
                  </a:ext>
                </a:extLst>
              </a:tr>
              <a:tr h="365760">
                <a:tc>
                  <a:txBody>
                    <a:bodyPr/>
                    <a:lstStyle/>
                    <a:p>
                      <a:pPr algn="ctr"/>
                      <a:r>
                        <a:rPr sz="1000" b="1" dirty="0">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BWZRedux</a:t>
                      </a:r>
                    </a:p>
                  </a:txBody>
                  <a:tcPr marL="45720" marR="45720" marT="18288" marB="18288">
                    <a:solidFill>
                      <a:srgbClr val="FFFFFF"/>
                    </a:solidFill>
                  </a:tcPr>
                </a:tc>
                <a:tc>
                  <a:txBody>
                    <a:bodyPr/>
                    <a:lstStyle/>
                    <a:p>
                      <a:pPr algn="ctr"/>
                      <a:r>
                        <a:rPr sz="1000" b="0">
                          <a:solidFill>
                            <a:srgbClr val="1A1A1A"/>
                          </a:solidFill>
                          <a:latin typeface="Calibri"/>
                        </a:rPr>
                        <a:t>1.749</a:t>
                      </a:r>
                    </a:p>
                  </a:txBody>
                  <a:tcPr marL="45720" marR="45720" marT="18288" marB="18288">
                    <a:solidFill>
                      <a:srgbClr val="FFFFFF"/>
                    </a:solidFill>
                  </a:tcPr>
                </a:tc>
                <a:extLst>
                  <a:ext uri="{0D108BD9-81ED-4DB2-BD59-A6C34878D82A}">
                    <a16:rowId xmlns:a16="http://schemas.microsoft.com/office/drawing/2014/main" val="10001"/>
                  </a:ext>
                </a:extLst>
              </a:tr>
              <a:tr h="365760">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BWZGamma</a:t>
                      </a:r>
                    </a:p>
                  </a:txBody>
                  <a:tcPr marL="45720" marR="45720" marT="18288" marB="18288">
                    <a:solidFill>
                      <a:srgbClr val="FFFFFF"/>
                    </a:solidFill>
                  </a:tcPr>
                </a:tc>
                <a:tc>
                  <a:txBody>
                    <a:bodyPr/>
                    <a:lstStyle/>
                    <a:p>
                      <a:pPr algn="ctr"/>
                      <a:r>
                        <a:rPr sz="1000" b="0">
                          <a:solidFill>
                            <a:srgbClr val="1A1A1A"/>
                          </a:solidFill>
                          <a:latin typeface="Calibri"/>
                        </a:rPr>
                        <a:t>1.209</a:t>
                      </a:r>
                    </a:p>
                  </a:txBody>
                  <a:tcPr marL="45720" marR="45720" marT="18288" marB="18288">
                    <a:solidFill>
                      <a:srgbClr val="FFFFFF"/>
                    </a:solidFill>
                  </a:tcPr>
                </a:tc>
                <a:extLst>
                  <a:ext uri="{0D108BD9-81ED-4DB2-BD59-A6C34878D82A}">
                    <a16:rowId xmlns:a16="http://schemas.microsoft.com/office/drawing/2014/main" val="10002"/>
                  </a:ext>
                </a:extLst>
              </a:tr>
              <a:tr h="365760">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BWZRedux</a:t>
                      </a:r>
                    </a:p>
                  </a:txBody>
                  <a:tcPr marL="45720" marR="45720" marT="18288" marB="18288">
                    <a:solidFill>
                      <a:srgbClr val="FFFFFF"/>
                    </a:solidFill>
                  </a:tcPr>
                </a:tc>
                <a:tc>
                  <a:txBody>
                    <a:bodyPr/>
                    <a:lstStyle/>
                    <a:p>
                      <a:pPr algn="ctr"/>
                      <a:r>
                        <a:rPr sz="1000" b="0">
                          <a:solidFill>
                            <a:srgbClr val="1A1A1A"/>
                          </a:solidFill>
                          <a:latin typeface="Calibri"/>
                        </a:rPr>
                        <a:t>1.835</a:t>
                      </a:r>
                    </a:p>
                  </a:txBody>
                  <a:tcPr marL="45720" marR="45720" marT="18288" marB="18288">
                    <a:solidFill>
                      <a:srgbClr val="FFFFFF"/>
                    </a:solidFill>
                  </a:tcPr>
                </a:tc>
                <a:extLst>
                  <a:ext uri="{0D108BD9-81ED-4DB2-BD59-A6C34878D82A}">
                    <a16:rowId xmlns:a16="http://schemas.microsoft.com/office/drawing/2014/main" val="10003"/>
                  </a:ext>
                </a:extLst>
              </a:tr>
              <a:tr h="365760">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a:solidFill>
                            <a:srgbClr val="1A1A1A"/>
                          </a:solidFill>
                          <a:latin typeface="Calibri"/>
                        </a:rPr>
                        <a:t>Bernstein</a:t>
                      </a:r>
                    </a:p>
                  </a:txBody>
                  <a:tcPr marL="45720" marR="45720" marT="18288" marB="18288">
                    <a:solidFill>
                      <a:srgbClr val="FFFFFF"/>
                    </a:solidFill>
                  </a:tcPr>
                </a:tc>
                <a:tc>
                  <a:txBody>
                    <a:bodyPr/>
                    <a:lstStyle/>
                    <a:p>
                      <a:pPr algn="ctr"/>
                      <a:r>
                        <a:rPr sz="1000" b="0" dirty="0">
                          <a:solidFill>
                            <a:srgbClr val="1A1A1A"/>
                          </a:solidFill>
                          <a:latin typeface="Calibri"/>
                        </a:rPr>
                        <a:t>1.397</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5840361" y="3931920"/>
            <a:ext cx="3029319" cy="1015663"/>
          </a:xfrm>
          <a:prstGeom prst="rect">
            <a:avLst/>
          </a:prstGeom>
          <a:noFill/>
        </p:spPr>
        <p:txBody>
          <a:bodyPr wrap="square" lIns="0" tIns="0" rIns="0" bIns="0" anchor="t">
            <a:spAutoFit/>
          </a:bodyPr>
          <a:lstStyle/>
          <a:p>
            <a:pPr algn="l"/>
            <a:r>
              <a:rPr sz="1100" b="1" i="0" dirty="0">
                <a:solidFill>
                  <a:srgbClr val="000000"/>
                </a:solidFill>
                <a:latin typeface="Calibri"/>
              </a:rPr>
              <a:t>Candidate families</a:t>
            </a:r>
          </a:p>
          <a:p>
            <a:pPr algn="l"/>
            <a:r>
              <a:rPr sz="950" b="0" i="0" dirty="0" err="1">
                <a:solidFill>
                  <a:srgbClr val="1A1A1A"/>
                </a:solidFill>
                <a:latin typeface="Calibri"/>
              </a:rPr>
              <a:t>BWZRedux</a:t>
            </a:r>
            <a:r>
              <a:rPr sz="950" b="0" i="0" dirty="0">
                <a:solidFill>
                  <a:srgbClr val="1A1A1A"/>
                </a:solidFill>
                <a:latin typeface="Calibri"/>
              </a:rPr>
              <a:t>, </a:t>
            </a:r>
            <a:r>
              <a:rPr sz="950" b="0" i="0" dirty="0" err="1">
                <a:solidFill>
                  <a:srgbClr val="1A1A1A"/>
                </a:solidFill>
                <a:latin typeface="Calibri"/>
              </a:rPr>
              <a:t>BWZGamma</a:t>
            </a:r>
            <a:r>
              <a:rPr sz="950" b="0" i="0" dirty="0">
                <a:solidFill>
                  <a:srgbClr val="1A1A1A"/>
                </a:solidFill>
                <a:latin typeface="Calibri"/>
              </a:rPr>
              <a:t>, </a:t>
            </a:r>
            <a:r>
              <a:rPr sz="950" b="0" i="0" dirty="0" err="1">
                <a:solidFill>
                  <a:srgbClr val="1A1A1A"/>
                </a:solidFill>
                <a:latin typeface="Calibri"/>
              </a:rPr>
              <a:t>BWZ×Bernstein</a:t>
            </a:r>
            <a:r>
              <a:rPr sz="950" b="0" i="0" dirty="0">
                <a:solidFill>
                  <a:srgbClr val="1A1A1A"/>
                </a:solidFill>
                <a:latin typeface="Calibri"/>
              </a:rPr>
              <a:t>, </a:t>
            </a:r>
            <a:r>
              <a:rPr sz="950" b="0" i="0" dirty="0" err="1">
                <a:solidFill>
                  <a:srgbClr val="1A1A1A"/>
                </a:solidFill>
                <a:latin typeface="Calibri"/>
              </a:rPr>
              <a:t>Landau×Bernstein</a:t>
            </a:r>
            <a:r>
              <a:rPr sz="950" b="0" i="0" dirty="0">
                <a:solidFill>
                  <a:srgbClr val="1A1A1A"/>
                </a:solidFill>
                <a:latin typeface="Calibri"/>
              </a:rPr>
              <a:t>, Bernstein, sum-power-law, sum-exponential</a:t>
            </a:r>
          </a:p>
          <a:p>
            <a:pPr algn="l"/>
            <a:r>
              <a:rPr sz="600" b="0" i="0" dirty="0">
                <a:solidFill>
                  <a:srgbClr val="1A1A1A"/>
                </a:solidFill>
                <a:latin typeface="Calibri"/>
              </a:rPr>
              <a:t> </a:t>
            </a:r>
          </a:p>
          <a:p>
            <a:pPr algn="l"/>
            <a:r>
              <a:rPr sz="1100" b="1" i="0" dirty="0">
                <a:solidFill>
                  <a:srgbClr val="000000"/>
                </a:solidFill>
                <a:latin typeface="Calibri"/>
              </a:rPr>
              <a:t>Spurious signal</a:t>
            </a:r>
          </a:p>
          <a:p>
            <a:pPr algn="l"/>
            <a:r>
              <a:rPr sz="950" b="0" i="1" dirty="0">
                <a:solidFill>
                  <a:srgbClr val="555555"/>
                </a:solidFill>
                <a:latin typeface="Calibri"/>
              </a:rPr>
              <a:t>Best PDF + alternates form the envelope used for the systematic.</a:t>
            </a:r>
          </a:p>
        </p:txBody>
      </p:sp>
    </p:spTree>
    <p:extLst>
      <p:ext uri="{BB962C8B-B14F-4D97-AF65-F5344CB8AC3E}">
        <p14:creationId xmlns:p14="http://schemas.microsoft.com/office/powerpoint/2010/main" val="1610178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Signal DCB fits per category</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rPr dirty="0"/>
              <a:t>VBF H(125) MC fit to double Crystal-Ball — signal PDF for the final fit</a:t>
            </a:r>
            <a:endParaRPr lang="en-US" dirty="0"/>
          </a:p>
        </p:txBody>
      </p:sp>
      <p:pic>
        <p:nvPicPr>
          <p:cNvPr id="9" name="Picture 8" descr="c_sig_dcb.jpg"/>
          <p:cNvPicPr>
            <a:picLocks noChangeAspect="1"/>
          </p:cNvPicPr>
          <p:nvPr/>
        </p:nvPicPr>
        <p:blipFill>
          <a:blip r:embed="rId3"/>
          <a:stretch>
            <a:fillRect/>
          </a:stretch>
        </p:blipFill>
        <p:spPr>
          <a:xfrm>
            <a:off x="411481" y="1554480"/>
            <a:ext cx="5525970" cy="4155187"/>
          </a:xfrm>
          <a:prstGeom prst="rect">
            <a:avLst/>
          </a:prstGeom>
        </p:spPr>
      </p:pic>
      <p:sp>
        <p:nvSpPr>
          <p:cNvPr id="10" name="TextBox 9"/>
          <p:cNvSpPr txBox="1"/>
          <p:nvPr/>
        </p:nvSpPr>
        <p:spPr>
          <a:xfrm>
            <a:off x="6035040" y="1554480"/>
            <a:ext cx="2834640" cy="365760"/>
          </a:xfrm>
          <a:prstGeom prst="rect">
            <a:avLst/>
          </a:prstGeom>
          <a:noFill/>
        </p:spPr>
        <p:txBody>
          <a:bodyPr wrap="square" lIns="0" tIns="0" rIns="0" bIns="0" anchor="t">
            <a:spAutoFit/>
          </a:bodyPr>
          <a:lstStyle/>
          <a:p>
            <a:pPr algn="l"/>
            <a:r>
              <a:rPr sz="1400" b="1" i="0">
                <a:solidFill>
                  <a:srgbClr val="000000"/>
                </a:solidFill>
                <a:latin typeface="Calibri"/>
              </a:rPr>
              <a:t>DCB parameters</a:t>
            </a:r>
          </a:p>
        </p:txBody>
      </p:sp>
      <p:cxnSp>
        <p:nvCxnSpPr>
          <p:cNvPr id="11" name="Connector 10"/>
          <p:cNvCxnSpPr/>
          <p:nvPr/>
        </p:nvCxnSpPr>
        <p:spPr>
          <a:xfrm>
            <a:off x="6035040" y="1920240"/>
            <a:ext cx="548640" cy="0"/>
          </a:xfrm>
          <a:prstGeom prst="line">
            <a:avLst/>
          </a:prstGeom>
          <a:ln w="25400">
            <a:solidFill>
              <a:srgbClr val="FFCD00"/>
            </a:solidFill>
          </a:ln>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6035040" y="2011680"/>
          <a:ext cx="2834640" cy="182880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365760">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μ [GeV]</a:t>
                      </a:r>
                    </a:p>
                  </a:txBody>
                  <a:tcPr marL="45720" marR="45720" marT="18288" marB="18288">
                    <a:solidFill>
                      <a:srgbClr val="000000"/>
                    </a:solidFill>
                  </a:tcPr>
                </a:tc>
                <a:tc>
                  <a:txBody>
                    <a:bodyPr/>
                    <a:lstStyle/>
                    <a:p>
                      <a:pPr algn="ctr"/>
                      <a:r>
                        <a:rPr sz="1000" b="1">
                          <a:solidFill>
                            <a:srgbClr val="FFFFFF"/>
                          </a:solidFill>
                          <a:latin typeface="Calibri"/>
                        </a:rPr>
                        <a:t>σ [GeV]</a:t>
                      </a:r>
                    </a:p>
                  </a:txBody>
                  <a:tcPr marL="45720" marR="45720" marT="18288" marB="18288">
                    <a:solidFill>
                      <a:srgbClr val="000000"/>
                    </a:solidFill>
                  </a:tcPr>
                </a:tc>
                <a:tc>
                  <a:txBody>
                    <a:bodyPr/>
                    <a:lstStyle/>
                    <a:p>
                      <a:pPr algn="ctr"/>
                      <a:r>
                        <a:rPr sz="1000" b="1">
                          <a:solidFill>
                            <a:srgbClr val="FFFFFF"/>
                          </a:solidFill>
                          <a:latin typeface="Calibri"/>
                        </a:rPr>
                        <a:t>FWHM</a:t>
                      </a:r>
                    </a:p>
                  </a:txBody>
                  <a:tcPr marL="45720" marR="45720" marT="18288" marB="18288">
                    <a:solidFill>
                      <a:srgbClr val="000000"/>
                    </a:solidFill>
                  </a:tcPr>
                </a:tc>
                <a:extLst>
                  <a:ext uri="{0D108BD9-81ED-4DB2-BD59-A6C34878D82A}">
                    <a16:rowId xmlns:a16="http://schemas.microsoft.com/office/drawing/2014/main" val="10000"/>
                  </a:ext>
                </a:extLst>
              </a:tr>
              <a:tr h="365760">
                <a:tc>
                  <a:txBody>
                    <a:bodyPr/>
                    <a:lstStyle/>
                    <a:p>
                      <a:pPr algn="ctr"/>
                      <a:r>
                        <a:rPr sz="1000" b="1">
                          <a:solidFill>
                            <a:srgbClr val="1A1A1A"/>
                          </a:solidFill>
                          <a:latin typeface="Calibri"/>
                        </a:rPr>
                        <a:t>0</a:t>
                      </a:r>
                    </a:p>
                  </a:txBody>
                  <a:tcPr marL="45720" marR="45720" marT="18288" marB="18288">
                    <a:solidFill>
                      <a:srgbClr val="FFFFFF"/>
                    </a:solidFill>
                  </a:tcPr>
                </a:tc>
                <a:tc>
                  <a:txBody>
                    <a:bodyPr/>
                    <a:lstStyle/>
                    <a:p>
                      <a:pPr algn="ctr"/>
                      <a:r>
                        <a:rPr sz="1000" b="0">
                          <a:solidFill>
                            <a:srgbClr val="1A1A1A"/>
                          </a:solidFill>
                          <a:latin typeface="Calibri"/>
                        </a:rPr>
                        <a:t>124.759</a:t>
                      </a:r>
                    </a:p>
                  </a:txBody>
                  <a:tcPr marL="45720" marR="45720" marT="18288" marB="18288">
                    <a:solidFill>
                      <a:srgbClr val="FFFFFF"/>
                    </a:solidFill>
                  </a:tcPr>
                </a:tc>
                <a:tc>
                  <a:txBody>
                    <a:bodyPr/>
                    <a:lstStyle/>
                    <a:p>
                      <a:pPr algn="ctr"/>
                      <a:r>
                        <a:rPr sz="1000" b="0">
                          <a:solidFill>
                            <a:srgbClr val="1A1A1A"/>
                          </a:solidFill>
                          <a:latin typeface="Calibri"/>
                        </a:rPr>
                        <a:t>1.660</a:t>
                      </a:r>
                    </a:p>
                  </a:txBody>
                  <a:tcPr marL="45720" marR="45720" marT="18288" marB="18288">
                    <a:solidFill>
                      <a:srgbClr val="FFFFFF"/>
                    </a:solidFill>
                  </a:tcPr>
                </a:tc>
                <a:tc>
                  <a:txBody>
                    <a:bodyPr/>
                    <a:lstStyle/>
                    <a:p>
                      <a:pPr algn="ctr"/>
                      <a:r>
                        <a:rPr sz="1000" b="0">
                          <a:solidFill>
                            <a:srgbClr val="1A1A1A"/>
                          </a:solidFill>
                          <a:latin typeface="Calibri"/>
                        </a:rPr>
                        <a:t>3.909</a:t>
                      </a:r>
                    </a:p>
                  </a:txBody>
                  <a:tcPr marL="45720" marR="45720" marT="18288" marB="18288">
                    <a:solidFill>
                      <a:srgbClr val="FFFFFF"/>
                    </a:solidFill>
                  </a:tcPr>
                </a:tc>
                <a:extLst>
                  <a:ext uri="{0D108BD9-81ED-4DB2-BD59-A6C34878D82A}">
                    <a16:rowId xmlns:a16="http://schemas.microsoft.com/office/drawing/2014/main" val="10001"/>
                  </a:ext>
                </a:extLst>
              </a:tr>
              <a:tr h="365760">
                <a:tc>
                  <a:txBody>
                    <a:bodyPr/>
                    <a:lstStyle/>
                    <a:p>
                      <a:pPr algn="ctr"/>
                      <a:r>
                        <a:rPr sz="1000" b="1">
                          <a:solidFill>
                            <a:srgbClr val="1A1A1A"/>
                          </a:solidFill>
                          <a:latin typeface="Calibri"/>
                        </a:rPr>
                        <a:t>1</a:t>
                      </a:r>
                    </a:p>
                  </a:txBody>
                  <a:tcPr marL="45720" marR="45720" marT="18288" marB="18288">
                    <a:solidFill>
                      <a:srgbClr val="FFFFFF"/>
                    </a:solidFill>
                  </a:tcPr>
                </a:tc>
                <a:tc>
                  <a:txBody>
                    <a:bodyPr/>
                    <a:lstStyle/>
                    <a:p>
                      <a:pPr algn="ctr"/>
                      <a:r>
                        <a:rPr sz="1000" b="0">
                          <a:solidFill>
                            <a:srgbClr val="1A1A1A"/>
                          </a:solidFill>
                          <a:latin typeface="Calibri"/>
                        </a:rPr>
                        <a:t>124.775</a:t>
                      </a:r>
                    </a:p>
                  </a:txBody>
                  <a:tcPr marL="45720" marR="45720" marT="18288" marB="18288">
                    <a:solidFill>
                      <a:srgbClr val="FFFFFF"/>
                    </a:solidFill>
                  </a:tcPr>
                </a:tc>
                <a:tc>
                  <a:txBody>
                    <a:bodyPr/>
                    <a:lstStyle/>
                    <a:p>
                      <a:pPr algn="ctr"/>
                      <a:r>
                        <a:rPr sz="1000" b="0">
                          <a:solidFill>
                            <a:srgbClr val="1A1A1A"/>
                          </a:solidFill>
                          <a:latin typeface="Calibri"/>
                        </a:rPr>
                        <a:t>1.667</a:t>
                      </a:r>
                    </a:p>
                  </a:txBody>
                  <a:tcPr marL="45720" marR="45720" marT="18288" marB="18288">
                    <a:solidFill>
                      <a:srgbClr val="FFFFFF"/>
                    </a:solidFill>
                  </a:tcPr>
                </a:tc>
                <a:tc>
                  <a:txBody>
                    <a:bodyPr/>
                    <a:lstStyle/>
                    <a:p>
                      <a:pPr algn="ctr"/>
                      <a:r>
                        <a:rPr sz="1000" b="0">
                          <a:solidFill>
                            <a:srgbClr val="1A1A1A"/>
                          </a:solidFill>
                          <a:latin typeface="Calibri"/>
                        </a:rPr>
                        <a:t>3.925</a:t>
                      </a:r>
                    </a:p>
                  </a:txBody>
                  <a:tcPr marL="45720" marR="45720" marT="18288" marB="18288">
                    <a:solidFill>
                      <a:srgbClr val="FFFFFF"/>
                    </a:solidFill>
                  </a:tcPr>
                </a:tc>
                <a:extLst>
                  <a:ext uri="{0D108BD9-81ED-4DB2-BD59-A6C34878D82A}">
                    <a16:rowId xmlns:a16="http://schemas.microsoft.com/office/drawing/2014/main" val="10002"/>
                  </a:ext>
                </a:extLst>
              </a:tr>
              <a:tr h="365760">
                <a:tc>
                  <a:txBody>
                    <a:bodyPr/>
                    <a:lstStyle/>
                    <a:p>
                      <a:pPr algn="ctr"/>
                      <a:r>
                        <a:rPr sz="1000" b="1">
                          <a:solidFill>
                            <a:srgbClr val="1A1A1A"/>
                          </a:solidFill>
                          <a:latin typeface="Calibri"/>
                        </a:rPr>
                        <a:t>2</a:t>
                      </a:r>
                    </a:p>
                  </a:txBody>
                  <a:tcPr marL="45720" marR="45720" marT="18288" marB="18288">
                    <a:solidFill>
                      <a:srgbClr val="FFFFFF"/>
                    </a:solidFill>
                  </a:tcPr>
                </a:tc>
                <a:tc>
                  <a:txBody>
                    <a:bodyPr/>
                    <a:lstStyle/>
                    <a:p>
                      <a:pPr algn="ctr"/>
                      <a:r>
                        <a:rPr sz="1000" b="0">
                          <a:solidFill>
                            <a:srgbClr val="1A1A1A"/>
                          </a:solidFill>
                          <a:latin typeface="Calibri"/>
                        </a:rPr>
                        <a:t>124.798</a:t>
                      </a:r>
                    </a:p>
                  </a:txBody>
                  <a:tcPr marL="45720" marR="45720" marT="18288" marB="18288">
                    <a:solidFill>
                      <a:srgbClr val="FFFFFF"/>
                    </a:solidFill>
                  </a:tcPr>
                </a:tc>
                <a:tc>
                  <a:txBody>
                    <a:bodyPr/>
                    <a:lstStyle/>
                    <a:p>
                      <a:pPr algn="ctr"/>
                      <a:r>
                        <a:rPr sz="1000" b="0">
                          <a:solidFill>
                            <a:srgbClr val="1A1A1A"/>
                          </a:solidFill>
                          <a:latin typeface="Calibri"/>
                        </a:rPr>
                        <a:t>1.682</a:t>
                      </a:r>
                    </a:p>
                  </a:txBody>
                  <a:tcPr marL="45720" marR="45720" marT="18288" marB="18288">
                    <a:solidFill>
                      <a:srgbClr val="FFFFFF"/>
                    </a:solidFill>
                  </a:tcPr>
                </a:tc>
                <a:tc>
                  <a:txBody>
                    <a:bodyPr/>
                    <a:lstStyle/>
                    <a:p>
                      <a:pPr algn="ctr"/>
                      <a:r>
                        <a:rPr sz="1000" b="0">
                          <a:solidFill>
                            <a:srgbClr val="1A1A1A"/>
                          </a:solidFill>
                          <a:latin typeface="Calibri"/>
                        </a:rPr>
                        <a:t>3.962</a:t>
                      </a:r>
                    </a:p>
                  </a:txBody>
                  <a:tcPr marL="45720" marR="45720" marT="18288" marB="18288">
                    <a:solidFill>
                      <a:srgbClr val="FFFFFF"/>
                    </a:solidFill>
                  </a:tcPr>
                </a:tc>
                <a:extLst>
                  <a:ext uri="{0D108BD9-81ED-4DB2-BD59-A6C34878D82A}">
                    <a16:rowId xmlns:a16="http://schemas.microsoft.com/office/drawing/2014/main" val="10003"/>
                  </a:ext>
                </a:extLst>
              </a:tr>
              <a:tr h="365760">
                <a:tc>
                  <a:txBody>
                    <a:bodyPr/>
                    <a:lstStyle/>
                    <a:p>
                      <a:pPr algn="ctr"/>
                      <a:r>
                        <a:rPr sz="1000" b="1">
                          <a:solidFill>
                            <a:srgbClr val="1A1A1A"/>
                          </a:solidFill>
                          <a:latin typeface="Calibri"/>
                        </a:rPr>
                        <a:t>3</a:t>
                      </a:r>
                    </a:p>
                  </a:txBody>
                  <a:tcPr marL="45720" marR="45720" marT="18288" marB="18288">
                    <a:solidFill>
                      <a:srgbClr val="FFFFFF"/>
                    </a:solidFill>
                  </a:tcPr>
                </a:tc>
                <a:tc>
                  <a:txBody>
                    <a:bodyPr/>
                    <a:lstStyle/>
                    <a:p>
                      <a:pPr algn="ctr"/>
                      <a:r>
                        <a:rPr sz="1000" b="0">
                          <a:solidFill>
                            <a:srgbClr val="1A1A1A"/>
                          </a:solidFill>
                          <a:latin typeface="Calibri"/>
                        </a:rPr>
                        <a:t>124.797</a:t>
                      </a:r>
                    </a:p>
                  </a:txBody>
                  <a:tcPr marL="45720" marR="45720" marT="18288" marB="18288">
                    <a:solidFill>
                      <a:srgbClr val="FFFFFF"/>
                    </a:solidFill>
                  </a:tcPr>
                </a:tc>
                <a:tc>
                  <a:txBody>
                    <a:bodyPr/>
                    <a:lstStyle/>
                    <a:p>
                      <a:pPr algn="ctr"/>
                      <a:r>
                        <a:rPr sz="1000" b="0">
                          <a:solidFill>
                            <a:srgbClr val="1A1A1A"/>
                          </a:solidFill>
                          <a:latin typeface="Calibri"/>
                        </a:rPr>
                        <a:t>1.690</a:t>
                      </a:r>
                    </a:p>
                  </a:txBody>
                  <a:tcPr marL="45720" marR="45720" marT="18288" marB="18288">
                    <a:solidFill>
                      <a:srgbClr val="FFFFFF"/>
                    </a:solidFill>
                  </a:tcPr>
                </a:tc>
                <a:tc>
                  <a:txBody>
                    <a:bodyPr/>
                    <a:lstStyle/>
                    <a:p>
                      <a:pPr algn="ctr"/>
                      <a:r>
                        <a:rPr sz="1000" b="0">
                          <a:solidFill>
                            <a:srgbClr val="1A1A1A"/>
                          </a:solidFill>
                          <a:latin typeface="Calibri"/>
                        </a:rPr>
                        <a:t>3.980</a:t>
                      </a:r>
                    </a:p>
                  </a:txBody>
                  <a:tcPr marL="45720" marR="45720" marT="18288" marB="18288">
                    <a:solidFill>
                      <a:srgbClr val="FFFFFF"/>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162260" y="3931920"/>
            <a:ext cx="2834640" cy="461665"/>
          </a:xfrm>
          <a:prstGeom prst="rect">
            <a:avLst/>
          </a:prstGeom>
          <a:noFill/>
        </p:spPr>
        <p:txBody>
          <a:bodyPr wrap="square" lIns="0" tIns="0" rIns="0" bIns="0" anchor="t">
            <a:spAutoFit/>
          </a:bodyPr>
          <a:lstStyle/>
          <a:p>
            <a:pPr algn="l"/>
            <a:r>
              <a:rPr sz="1000" b="0" i="0" dirty="0">
                <a:solidFill>
                  <a:srgbClr val="1A1A1A"/>
                </a:solidFill>
                <a:latin typeface="Calibri"/>
              </a:rPr>
              <a:t>•  μ stable at 124.78 GeV (within 40 MeV of m_H)
•  σ grows ≈1.8 % across cats
•  Baker–Cousins χ²/ndf ≪ 1 in every cat (smooth, high-stats MC)</a:t>
            </a:r>
          </a:p>
        </p:txBody>
      </p:sp>
    </p:spTree>
    <p:extLst>
      <p:ext uri="{BB962C8B-B14F-4D97-AF65-F5344CB8AC3E}">
        <p14:creationId xmlns:p14="http://schemas.microsoft.com/office/powerpoint/2010/main" val="1610178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70379-2B8A-42C0-8174-A22B7008B144}"/>
              </a:ext>
            </a:extLst>
          </p:cNvPr>
          <p:cNvSpPr>
            <a:spLocks noGrp="1"/>
          </p:cNvSpPr>
          <p:nvPr>
            <p:ph type="title"/>
          </p:nvPr>
        </p:nvSpPr>
        <p:spPr>
          <a:xfrm>
            <a:off x="457200" y="411480"/>
            <a:ext cx="8229600" cy="777240"/>
          </a:xfrm>
        </p:spPr>
        <p:txBody>
          <a:bodyPr wrap="square"/>
          <a:lstStyle/>
          <a:p>
            <a:r>
              <a:t>Combined category summary</a:t>
            </a:r>
          </a:p>
        </p:txBody>
      </p:sp>
      <p:sp>
        <p:nvSpPr>
          <p:cNvPr id="5" name="Footer Placeholder 3">
            <a:extLst>
              <a:ext uri="{FF2B5EF4-FFF2-40B4-BE49-F238E27FC236}">
                <a16:creationId xmlns:a16="http://schemas.microsoft.com/office/drawing/2014/main" id="{34B43021-2DD5-3F47-9AF4-FB33992AE66C}"/>
              </a:ext>
            </a:extLst>
          </p:cNvPr>
          <p:cNvSpPr>
            <a:spLocks noGrp="1"/>
          </p:cNvSpPr>
          <p:nvPr>
            <p:ph type="ftr" sz="quarter" idx="3"/>
          </p:nvPr>
        </p:nvSpPr>
        <p:spPr>
          <a:xfrm>
            <a:off x="2073821" y="6441193"/>
            <a:ext cx="6513130" cy="365125"/>
          </a:xfrm>
        </p:spPr>
        <p:txBody>
          <a:bodyPr/>
          <a:lstStyle/>
          <a:p>
            <a:r>
              <a:t>HWHM-windowed yields and the per-category contributions to combined Z</a:t>
            </a:r>
            <a:endParaRPr lang="en-US" dirty="0"/>
          </a:p>
        </p:txBody>
      </p:sp>
      <p:graphicFrame>
        <p:nvGraphicFramePr>
          <p:cNvPr id="6" name="Table 5"/>
          <p:cNvGraphicFramePr>
            <a:graphicFrameLocks noGrp="1"/>
          </p:cNvGraphicFramePr>
          <p:nvPr/>
        </p:nvGraphicFramePr>
        <p:xfrm>
          <a:off x="274320" y="1417320"/>
          <a:ext cx="8595360" cy="329184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1097280">
                  <a:extLst>
                    <a:ext uri="{9D8B030D-6E8A-4147-A177-3AD203B41FA5}">
                      <a16:colId xmlns:a16="http://schemas.microsoft.com/office/drawing/2014/main" val="20008"/>
                    </a:ext>
                  </a:extLst>
                </a:gridCol>
              </a:tblGrid>
              <a:tr h="548640">
                <a:tc>
                  <a:txBody>
                    <a:bodyPr/>
                    <a:lstStyle/>
                    <a:p>
                      <a:pPr algn="ctr"/>
                      <a:r>
                        <a:rPr sz="1000" b="1">
                          <a:solidFill>
                            <a:srgbClr val="FFFFFF"/>
                          </a:solidFill>
                          <a:latin typeface="Calibri"/>
                        </a:rPr>
                        <a:t>Cat</a:t>
                      </a:r>
                    </a:p>
                  </a:txBody>
                  <a:tcPr marL="45720" marR="45720" marT="18288" marB="18288">
                    <a:solidFill>
                      <a:srgbClr val="000000"/>
                    </a:solidFill>
                  </a:tcPr>
                </a:tc>
                <a:tc>
                  <a:txBody>
                    <a:bodyPr/>
                    <a:lstStyle/>
                    <a:p>
                      <a:pPr algn="ctr"/>
                      <a:r>
                        <a:rPr sz="1000" b="1">
                          <a:solidFill>
                            <a:srgbClr val="FFFFFF"/>
                          </a:solidFill>
                          <a:latin typeface="Calibri"/>
                        </a:rPr>
                        <a:t>BDT range</a:t>
                      </a:r>
                    </a:p>
                  </a:txBody>
                  <a:tcPr marL="45720" marR="45720" marT="18288" marB="18288">
                    <a:solidFill>
                      <a:srgbClr val="000000"/>
                    </a:solidFill>
                  </a:tcPr>
                </a:tc>
                <a:tc>
                  <a:txBody>
                    <a:bodyPr/>
                    <a:lstStyle/>
                    <a:p>
                      <a:pPr algn="ctr"/>
                      <a:r>
                        <a:rPr sz="1000" b="1">
                          <a:solidFill>
                            <a:srgbClr val="FFFFFF"/>
                          </a:solidFill>
                          <a:latin typeface="Calibri"/>
                        </a:rPr>
                        <a:t>Data SB</a:t>
                      </a:r>
                    </a:p>
                  </a:txBody>
                  <a:tcPr marL="45720" marR="45720" marT="18288" marB="18288">
                    <a:solidFill>
                      <a:srgbClr val="000000"/>
                    </a:solidFill>
                  </a:tcPr>
                </a:tc>
                <a:tc>
                  <a:txBody>
                    <a:bodyPr/>
                    <a:lstStyle/>
                    <a:p>
                      <a:pPr algn="ctr"/>
                      <a:r>
                        <a:rPr sz="1000" b="1">
                          <a:solidFill>
                            <a:srgbClr val="FFFFFF"/>
                          </a:solidFill>
                          <a:latin typeface="Calibri"/>
                        </a:rPr>
                        <a:t>MC SB</a:t>
                      </a:r>
                    </a:p>
                  </a:txBody>
                  <a:tcPr marL="45720" marR="45720" marT="18288" marB="18288">
                    <a:solidFill>
                      <a:srgbClr val="000000"/>
                    </a:solidFill>
                  </a:tcPr>
                </a:tc>
                <a:tc>
                  <a:txBody>
                    <a:bodyPr/>
                    <a:lstStyle/>
                    <a:p>
                      <a:pPr algn="ctr"/>
                      <a:r>
                        <a:rPr sz="1000" b="1">
                          <a:solidFill>
                            <a:srgbClr val="FFFFFF"/>
                          </a:solidFill>
                          <a:latin typeface="Calibri"/>
                        </a:rPr>
                        <a:t>Data/MC</a:t>
                      </a:r>
                    </a:p>
                  </a:txBody>
                  <a:tcPr marL="45720" marR="45720" marT="18288" marB="18288">
                    <a:solidFill>
                      <a:srgbClr val="000000"/>
                    </a:solidFill>
                  </a:tcPr>
                </a:tc>
                <a:tc>
                  <a:txBody>
                    <a:bodyPr/>
                    <a:lstStyle/>
                    <a:p>
                      <a:pPr algn="ctr"/>
                      <a:r>
                        <a:rPr sz="1000" b="1">
                          <a:solidFill>
                            <a:srgbClr val="FFFFFF"/>
                          </a:solidFill>
                          <a:latin typeface="Calibri"/>
                        </a:rPr>
                        <a:t>MC full</a:t>
                      </a:r>
                    </a:p>
                  </a:txBody>
                  <a:tcPr marL="45720" marR="45720" marT="18288" marB="18288">
                    <a:solidFill>
                      <a:srgbClr val="000000"/>
                    </a:solidFill>
                  </a:tcPr>
                </a:tc>
                <a:tc>
                  <a:txBody>
                    <a:bodyPr/>
                    <a:lstStyle/>
                    <a:p>
                      <a:pPr algn="ctr"/>
                      <a:r>
                        <a:rPr sz="1000" b="1">
                          <a:solidFill>
                            <a:srgbClr val="FFFFFF"/>
                          </a:solidFill>
                          <a:latin typeface="Calibri"/>
                        </a:rPr>
                        <a:t>S/√B</a:t>
                      </a:r>
                    </a:p>
                  </a:txBody>
                  <a:tcPr marL="45720" marR="45720" marT="18288" marB="18288">
                    <a:solidFill>
                      <a:srgbClr val="000000"/>
                    </a:solidFill>
                  </a:tcPr>
                </a:tc>
                <a:tc>
                  <a:txBody>
                    <a:bodyPr/>
                    <a:lstStyle/>
                    <a:p>
                      <a:pPr algn="ctr"/>
                      <a:r>
                        <a:rPr sz="1000" b="1">
                          <a:solidFill>
                            <a:srgbClr val="FFFFFF"/>
                          </a:solidFill>
                          <a:latin typeface="Calibri"/>
                        </a:rPr>
                        <a:t>B_HWHM</a:t>
                      </a:r>
                    </a:p>
                  </a:txBody>
                  <a:tcPr marL="45720" marR="45720" marT="18288" marB="18288">
                    <a:solidFill>
                      <a:srgbClr val="000000"/>
                    </a:solidFill>
                  </a:tcPr>
                </a:tc>
                <a:tc>
                  <a:txBody>
                    <a:bodyPr/>
                    <a:lstStyle/>
                    <a:p>
                      <a:pPr algn="ctr"/>
                      <a:r>
                        <a:rPr sz="1000" b="1">
                          <a:solidFill>
                            <a:srgbClr val="FFFFFF"/>
                          </a:solidFill>
                          <a:latin typeface="Calibri"/>
                        </a:rPr>
                        <a:t>Z</a:t>
                      </a:r>
                    </a:p>
                  </a:txBody>
                  <a:tcPr marL="45720" marR="45720" marT="18288" marB="18288">
                    <a:solidFill>
                      <a:srgbClr val="000000"/>
                    </a:solidFill>
                  </a:tcPr>
                </a:tc>
                <a:extLst>
                  <a:ext uri="{0D108BD9-81ED-4DB2-BD59-A6C34878D82A}">
                    <a16:rowId xmlns:a16="http://schemas.microsoft.com/office/drawing/2014/main" val="10000"/>
                  </a:ext>
                </a:extLst>
              </a:tr>
              <a:tr h="548640">
                <a:tc>
                  <a:txBody>
                    <a:bodyPr/>
                    <a:lstStyle/>
                    <a:p>
                      <a:pPr algn="ctr"/>
                      <a:r>
                        <a:rPr sz="1000" b="1">
                          <a:solidFill>
                            <a:srgbClr val="FFFFFF"/>
                          </a:solidFill>
                          <a:latin typeface="Calibri"/>
                        </a:rPr>
                        <a:t>0</a:t>
                      </a:r>
                    </a:p>
                  </a:txBody>
                  <a:tcPr marL="45720" marR="45720" marT="18288" marB="18288">
                    <a:solidFill>
                      <a:srgbClr val="1A1A1A"/>
                    </a:solidFill>
                  </a:tcPr>
                </a:tc>
                <a:tc>
                  <a:txBody>
                    <a:bodyPr/>
                    <a:lstStyle/>
                    <a:p>
                      <a:pPr algn="ctr"/>
                      <a:r>
                        <a:rPr sz="1000" b="0">
                          <a:solidFill>
                            <a:srgbClr val="1A1A1A"/>
                          </a:solidFill>
                          <a:latin typeface="Calibri"/>
                        </a:rPr>
                        <a:t>[0.000, 0.906)</a:t>
                      </a:r>
                    </a:p>
                  </a:txBody>
                  <a:tcPr marL="45720" marR="45720" marT="18288" marB="18288">
                    <a:solidFill>
                      <a:srgbClr val="FFFFFF"/>
                    </a:solidFill>
                  </a:tcPr>
                </a:tc>
                <a:tc>
                  <a:txBody>
                    <a:bodyPr/>
                    <a:lstStyle/>
                    <a:p>
                      <a:pPr algn="ctr"/>
                      <a:r>
                        <a:rPr sz="1000" b="0">
                          <a:solidFill>
                            <a:srgbClr val="1A1A1A"/>
                          </a:solidFill>
                          <a:latin typeface="Calibri"/>
                        </a:rPr>
                        <a:t>24,134</a:t>
                      </a:r>
                    </a:p>
                  </a:txBody>
                  <a:tcPr marL="45720" marR="45720" marT="18288" marB="18288">
                    <a:solidFill>
                      <a:srgbClr val="FFFFFF"/>
                    </a:solidFill>
                  </a:tcPr>
                </a:tc>
                <a:tc>
                  <a:txBody>
                    <a:bodyPr/>
                    <a:lstStyle/>
                    <a:p>
                      <a:pPr algn="ctr"/>
                      <a:r>
                        <a:rPr sz="1000" b="0">
                          <a:solidFill>
                            <a:srgbClr val="1A1A1A"/>
                          </a:solidFill>
                          <a:latin typeface="Calibri"/>
                        </a:rPr>
                        <a:t>180,813 ± 390</a:t>
                      </a:r>
                    </a:p>
                  </a:txBody>
                  <a:tcPr marL="45720" marR="45720" marT="18288" marB="18288">
                    <a:solidFill>
                      <a:srgbClr val="FFFFFF"/>
                    </a:solidFill>
                  </a:tcPr>
                </a:tc>
                <a:tc>
                  <a:txBody>
                    <a:bodyPr/>
                    <a:lstStyle/>
                    <a:p>
                      <a:pPr algn="ctr"/>
                      <a:r>
                        <a:rPr sz="1000" b="0">
                          <a:solidFill>
                            <a:srgbClr val="1A1A1A"/>
                          </a:solidFill>
                          <a:latin typeface="Calibri"/>
                        </a:rPr>
                        <a:t>0.133</a:t>
                      </a:r>
                    </a:p>
                  </a:txBody>
                  <a:tcPr marL="45720" marR="45720" marT="18288" marB="18288">
                    <a:solidFill>
                      <a:srgbClr val="FFFFFF"/>
                    </a:solidFill>
                  </a:tcPr>
                </a:tc>
                <a:tc>
                  <a:txBody>
                    <a:bodyPr/>
                    <a:lstStyle/>
                    <a:p>
                      <a:pPr algn="ctr"/>
                      <a:r>
                        <a:rPr sz="1000" b="0">
                          <a:solidFill>
                            <a:srgbClr val="1A1A1A"/>
                          </a:solidFill>
                          <a:latin typeface="Calibri"/>
                        </a:rPr>
                        <a:t>389,226 ± 574</a:t>
                      </a:r>
                    </a:p>
                  </a:txBody>
                  <a:tcPr marL="45720" marR="45720" marT="18288" marB="18288">
                    <a:solidFill>
                      <a:srgbClr val="FFFFFF"/>
                    </a:solidFill>
                  </a:tcPr>
                </a:tc>
                <a:tc>
                  <a:txBody>
                    <a:bodyPr/>
                    <a:lstStyle/>
                    <a:p>
                      <a:pPr algn="ctr"/>
                      <a:r>
                        <a:rPr sz="1000" b="0">
                          <a:solidFill>
                            <a:srgbClr val="1A1A1A"/>
                          </a:solidFill>
                          <a:latin typeface="Calibri"/>
                        </a:rPr>
                        <a:t>0.169</a:t>
                      </a:r>
                    </a:p>
                  </a:txBody>
                  <a:tcPr marL="45720" marR="45720" marT="18288" marB="18288">
                    <a:solidFill>
                      <a:srgbClr val="FFFFFF"/>
                    </a:solidFill>
                  </a:tcPr>
                </a:tc>
                <a:tc>
                  <a:txBody>
                    <a:bodyPr/>
                    <a:lstStyle/>
                    <a:p>
                      <a:pPr algn="ctr"/>
                      <a:r>
                        <a:rPr sz="1000" b="0">
                          <a:solidFill>
                            <a:srgbClr val="1A1A1A"/>
                          </a:solidFill>
                          <a:latin typeface="Calibri"/>
                        </a:rPr>
                        <a:t>38,615.7</a:t>
                      </a:r>
                    </a:p>
                  </a:txBody>
                  <a:tcPr marL="45720" marR="45720" marT="18288" marB="18288">
                    <a:solidFill>
                      <a:srgbClr val="FFFFFF"/>
                    </a:solidFill>
                  </a:tcPr>
                </a:tc>
                <a:tc>
                  <a:txBody>
                    <a:bodyPr/>
                    <a:lstStyle/>
                    <a:p>
                      <a:pPr algn="ctr"/>
                      <a:r>
                        <a:rPr sz="1000" b="1">
                          <a:solidFill>
                            <a:srgbClr val="1A1A1A"/>
                          </a:solidFill>
                          <a:latin typeface="Calibri"/>
                        </a:rPr>
                        <a:t>0.169</a:t>
                      </a:r>
                    </a:p>
                  </a:txBody>
                  <a:tcPr marL="45720" marR="45720" marT="18288" marB="18288">
                    <a:solidFill>
                      <a:srgbClr val="FFFFFF"/>
                    </a:solidFill>
                  </a:tcPr>
                </a:tc>
                <a:extLst>
                  <a:ext uri="{0D108BD9-81ED-4DB2-BD59-A6C34878D82A}">
                    <a16:rowId xmlns:a16="http://schemas.microsoft.com/office/drawing/2014/main" val="10001"/>
                  </a:ext>
                </a:extLst>
              </a:tr>
              <a:tr h="548640">
                <a:tc>
                  <a:txBody>
                    <a:bodyPr/>
                    <a:lstStyle/>
                    <a:p>
                      <a:pPr algn="ctr"/>
                      <a:r>
                        <a:rPr sz="1000" b="1">
                          <a:solidFill>
                            <a:srgbClr val="FFFFFF"/>
                          </a:solidFill>
                          <a:latin typeface="Calibri"/>
                        </a:rPr>
                        <a:t>1</a:t>
                      </a:r>
                    </a:p>
                  </a:txBody>
                  <a:tcPr marL="45720" marR="45720" marT="18288" marB="18288">
                    <a:solidFill>
                      <a:srgbClr val="1B365D"/>
                    </a:solidFill>
                  </a:tcPr>
                </a:tc>
                <a:tc>
                  <a:txBody>
                    <a:bodyPr/>
                    <a:lstStyle/>
                    <a:p>
                      <a:pPr algn="ctr"/>
                      <a:r>
                        <a:rPr sz="1000" b="0">
                          <a:solidFill>
                            <a:srgbClr val="1A1A1A"/>
                          </a:solidFill>
                          <a:latin typeface="Calibri"/>
                        </a:rPr>
                        <a:t>[0.906, 0.984)</a:t>
                      </a:r>
                    </a:p>
                  </a:txBody>
                  <a:tcPr marL="45720" marR="45720" marT="18288" marB="18288">
                    <a:solidFill>
                      <a:srgbClr val="FFFFFF"/>
                    </a:solidFill>
                  </a:tcPr>
                </a:tc>
                <a:tc>
                  <a:txBody>
                    <a:bodyPr/>
                    <a:lstStyle/>
                    <a:p>
                      <a:pPr algn="ctr"/>
                      <a:r>
                        <a:rPr sz="1000" b="0">
                          <a:solidFill>
                            <a:srgbClr val="1A1A1A"/>
                          </a:solidFill>
                          <a:latin typeface="Calibri"/>
                        </a:rPr>
                        <a:t>639</a:t>
                      </a:r>
                    </a:p>
                  </a:txBody>
                  <a:tcPr marL="45720" marR="45720" marT="18288" marB="18288">
                    <a:solidFill>
                      <a:srgbClr val="FFFFFF"/>
                    </a:solidFill>
                  </a:tcPr>
                </a:tc>
                <a:tc>
                  <a:txBody>
                    <a:bodyPr/>
                    <a:lstStyle/>
                    <a:p>
                      <a:pPr algn="ctr"/>
                      <a:r>
                        <a:rPr sz="1000" b="0">
                          <a:solidFill>
                            <a:srgbClr val="1A1A1A"/>
                          </a:solidFill>
                          <a:latin typeface="Calibri"/>
                        </a:rPr>
                        <a:t>2,930 ± 48</a:t>
                      </a:r>
                    </a:p>
                  </a:txBody>
                  <a:tcPr marL="45720" marR="45720" marT="18288" marB="18288">
                    <a:solidFill>
                      <a:srgbClr val="FFFFFF"/>
                    </a:solidFill>
                  </a:tcPr>
                </a:tc>
                <a:tc>
                  <a:txBody>
                    <a:bodyPr/>
                    <a:lstStyle/>
                    <a:p>
                      <a:pPr algn="ctr"/>
                      <a:r>
                        <a:rPr sz="1000" b="0">
                          <a:solidFill>
                            <a:srgbClr val="1A1A1A"/>
                          </a:solidFill>
                          <a:latin typeface="Calibri"/>
                        </a:rPr>
                        <a:t>0.218</a:t>
                      </a:r>
                    </a:p>
                  </a:txBody>
                  <a:tcPr marL="45720" marR="45720" marT="18288" marB="18288">
                    <a:solidFill>
                      <a:srgbClr val="FFFFFF"/>
                    </a:solidFill>
                  </a:tcPr>
                </a:tc>
                <a:tc>
                  <a:txBody>
                    <a:bodyPr/>
                    <a:lstStyle/>
                    <a:p>
                      <a:pPr algn="ctr"/>
                      <a:r>
                        <a:rPr sz="1000" b="0">
                          <a:solidFill>
                            <a:srgbClr val="1A1A1A"/>
                          </a:solidFill>
                          <a:latin typeface="Calibri"/>
                        </a:rPr>
                        <a:t>6,477 ± 73</a:t>
                      </a:r>
                    </a:p>
                  </a:txBody>
                  <a:tcPr marL="45720" marR="45720" marT="18288" marB="18288">
                    <a:solidFill>
                      <a:srgbClr val="FFFFFF"/>
                    </a:solidFill>
                  </a:tcPr>
                </a:tc>
                <a:tc>
                  <a:txBody>
                    <a:bodyPr/>
                    <a:lstStyle/>
                    <a:p>
                      <a:pPr algn="ctr"/>
                      <a:r>
                        <a:rPr sz="1000" b="0">
                          <a:solidFill>
                            <a:srgbClr val="1A1A1A"/>
                          </a:solidFill>
                          <a:latin typeface="Calibri"/>
                        </a:rPr>
                        <a:t>0.800</a:t>
                      </a:r>
                    </a:p>
                  </a:txBody>
                  <a:tcPr marL="45720" marR="45720" marT="18288" marB="18288">
                    <a:solidFill>
                      <a:srgbClr val="FFFFFF"/>
                    </a:solidFill>
                  </a:tcPr>
                </a:tc>
                <a:tc>
                  <a:txBody>
                    <a:bodyPr/>
                    <a:lstStyle/>
                    <a:p>
                      <a:pPr algn="ctr"/>
                      <a:r>
                        <a:rPr sz="1000" b="0">
                          <a:solidFill>
                            <a:srgbClr val="1A1A1A"/>
                          </a:solidFill>
                          <a:latin typeface="Calibri"/>
                        </a:rPr>
                        <a:t>630.4</a:t>
                      </a:r>
                    </a:p>
                  </a:txBody>
                  <a:tcPr marL="45720" marR="45720" marT="18288" marB="18288">
                    <a:solidFill>
                      <a:srgbClr val="FFFFFF"/>
                    </a:solidFill>
                  </a:tcPr>
                </a:tc>
                <a:tc>
                  <a:txBody>
                    <a:bodyPr/>
                    <a:lstStyle/>
                    <a:p>
                      <a:pPr algn="ctr"/>
                      <a:r>
                        <a:rPr sz="1000" b="1">
                          <a:solidFill>
                            <a:srgbClr val="1A1A1A"/>
                          </a:solidFill>
                          <a:latin typeface="Calibri"/>
                        </a:rPr>
                        <a:t>0.796</a:t>
                      </a:r>
                    </a:p>
                  </a:txBody>
                  <a:tcPr marL="45720" marR="45720" marT="18288" marB="18288">
                    <a:solidFill>
                      <a:srgbClr val="FFFFFF"/>
                    </a:solidFill>
                  </a:tcPr>
                </a:tc>
                <a:extLst>
                  <a:ext uri="{0D108BD9-81ED-4DB2-BD59-A6C34878D82A}">
                    <a16:rowId xmlns:a16="http://schemas.microsoft.com/office/drawing/2014/main" val="10002"/>
                  </a:ext>
                </a:extLst>
              </a:tr>
              <a:tr h="548640">
                <a:tc>
                  <a:txBody>
                    <a:bodyPr/>
                    <a:lstStyle/>
                    <a:p>
                      <a:pPr algn="ctr"/>
                      <a:r>
                        <a:rPr sz="1000" b="1">
                          <a:solidFill>
                            <a:srgbClr val="FFFFFF"/>
                          </a:solidFill>
                          <a:latin typeface="Calibri"/>
                        </a:rPr>
                        <a:t>2</a:t>
                      </a:r>
                    </a:p>
                  </a:txBody>
                  <a:tcPr marL="45720" marR="45720" marT="18288" marB="18288">
                    <a:solidFill>
                      <a:srgbClr val="C18A2F"/>
                    </a:solidFill>
                  </a:tcPr>
                </a:tc>
                <a:tc>
                  <a:txBody>
                    <a:bodyPr/>
                    <a:lstStyle/>
                    <a:p>
                      <a:pPr algn="ctr"/>
                      <a:r>
                        <a:rPr sz="1000" b="0">
                          <a:solidFill>
                            <a:srgbClr val="1A1A1A"/>
                          </a:solidFill>
                          <a:latin typeface="Calibri"/>
                        </a:rPr>
                        <a:t>[0.984, 0.990)</a:t>
                      </a:r>
                    </a:p>
                  </a:txBody>
                  <a:tcPr marL="45720" marR="45720" marT="18288" marB="18288">
                    <a:solidFill>
                      <a:srgbClr val="FFFFFF"/>
                    </a:solidFill>
                  </a:tcPr>
                </a:tc>
                <a:tc>
                  <a:txBody>
                    <a:bodyPr/>
                    <a:lstStyle/>
                    <a:p>
                      <a:pPr algn="ctr"/>
                      <a:r>
                        <a:rPr sz="1000" b="0">
                          <a:solidFill>
                            <a:srgbClr val="1A1A1A"/>
                          </a:solidFill>
                          <a:latin typeface="Calibri"/>
                        </a:rPr>
                        <a:t>43</a:t>
                      </a:r>
                    </a:p>
                  </a:txBody>
                  <a:tcPr marL="45720" marR="45720" marT="18288" marB="18288">
                    <a:solidFill>
                      <a:srgbClr val="FFFFFF"/>
                    </a:solidFill>
                  </a:tcPr>
                </a:tc>
                <a:tc>
                  <a:txBody>
                    <a:bodyPr/>
                    <a:lstStyle/>
                    <a:p>
                      <a:pPr algn="ctr"/>
                      <a:r>
                        <a:rPr sz="1000" b="0">
                          <a:solidFill>
                            <a:srgbClr val="1A1A1A"/>
                          </a:solidFill>
                          <a:latin typeface="Calibri"/>
                        </a:rPr>
                        <a:t>153.7 ± 10.7</a:t>
                      </a:r>
                    </a:p>
                  </a:txBody>
                  <a:tcPr marL="45720" marR="45720" marT="18288" marB="18288">
                    <a:solidFill>
                      <a:srgbClr val="FFFFFF"/>
                    </a:solidFill>
                  </a:tcPr>
                </a:tc>
                <a:tc>
                  <a:txBody>
                    <a:bodyPr/>
                    <a:lstStyle/>
                    <a:p>
                      <a:pPr algn="ctr"/>
                      <a:r>
                        <a:rPr sz="1000" b="0">
                          <a:solidFill>
                            <a:srgbClr val="1A1A1A"/>
                          </a:solidFill>
                          <a:latin typeface="Calibri"/>
                        </a:rPr>
                        <a:t>0.280</a:t>
                      </a:r>
                    </a:p>
                  </a:txBody>
                  <a:tcPr marL="45720" marR="45720" marT="18288" marB="18288">
                    <a:solidFill>
                      <a:srgbClr val="FFFFFF"/>
                    </a:solidFill>
                  </a:tcPr>
                </a:tc>
                <a:tc>
                  <a:txBody>
                    <a:bodyPr/>
                    <a:lstStyle/>
                    <a:p>
                      <a:pPr algn="ctr"/>
                      <a:r>
                        <a:rPr sz="1000" b="0">
                          <a:solidFill>
                            <a:srgbClr val="1A1A1A"/>
                          </a:solidFill>
                          <a:latin typeface="Calibri"/>
                        </a:rPr>
                        <a:t>317.6 ± 15.2</a:t>
                      </a:r>
                    </a:p>
                  </a:txBody>
                  <a:tcPr marL="45720" marR="45720" marT="18288" marB="18288">
                    <a:solidFill>
                      <a:srgbClr val="FFFFFF"/>
                    </a:solidFill>
                  </a:tcPr>
                </a:tc>
                <a:tc>
                  <a:txBody>
                    <a:bodyPr/>
                    <a:lstStyle/>
                    <a:p>
                      <a:pPr algn="ctr"/>
                      <a:r>
                        <a:rPr sz="1000" b="0">
                          <a:solidFill>
                            <a:srgbClr val="1A1A1A"/>
                          </a:solidFill>
                          <a:latin typeface="Calibri"/>
                        </a:rPr>
                        <a:t>0.711</a:t>
                      </a:r>
                    </a:p>
                  </a:txBody>
                  <a:tcPr marL="45720" marR="45720" marT="18288" marB="18288">
                    <a:solidFill>
                      <a:srgbClr val="FFFFFF"/>
                    </a:solidFill>
                  </a:tcPr>
                </a:tc>
                <a:tc>
                  <a:txBody>
                    <a:bodyPr/>
                    <a:lstStyle/>
                    <a:p>
                      <a:pPr algn="ctr"/>
                      <a:r>
                        <a:rPr sz="1000" b="0">
                          <a:solidFill>
                            <a:srgbClr val="1A1A1A"/>
                          </a:solidFill>
                          <a:latin typeface="Calibri"/>
                        </a:rPr>
                        <a:t>28.2</a:t>
                      </a:r>
                    </a:p>
                  </a:txBody>
                  <a:tcPr marL="45720" marR="45720" marT="18288" marB="18288">
                    <a:solidFill>
                      <a:srgbClr val="FFFFFF"/>
                    </a:solidFill>
                  </a:tcPr>
                </a:tc>
                <a:tc>
                  <a:txBody>
                    <a:bodyPr/>
                    <a:lstStyle/>
                    <a:p>
                      <a:pPr algn="ctr"/>
                      <a:r>
                        <a:rPr sz="1000" b="1">
                          <a:solidFill>
                            <a:srgbClr val="1A1A1A"/>
                          </a:solidFill>
                          <a:latin typeface="Calibri"/>
                        </a:rPr>
                        <a:t>0.696</a:t>
                      </a:r>
                    </a:p>
                  </a:txBody>
                  <a:tcPr marL="45720" marR="45720" marT="18288" marB="18288">
                    <a:solidFill>
                      <a:srgbClr val="FFFFFF"/>
                    </a:solidFill>
                  </a:tcPr>
                </a:tc>
                <a:extLst>
                  <a:ext uri="{0D108BD9-81ED-4DB2-BD59-A6C34878D82A}">
                    <a16:rowId xmlns:a16="http://schemas.microsoft.com/office/drawing/2014/main" val="10003"/>
                  </a:ext>
                </a:extLst>
              </a:tr>
              <a:tr h="548640">
                <a:tc>
                  <a:txBody>
                    <a:bodyPr/>
                    <a:lstStyle/>
                    <a:p>
                      <a:pPr algn="ctr"/>
                      <a:r>
                        <a:rPr sz="1000" b="1">
                          <a:solidFill>
                            <a:srgbClr val="000000"/>
                          </a:solidFill>
                          <a:latin typeface="Calibri"/>
                        </a:rPr>
                        <a:t>3</a:t>
                      </a:r>
                    </a:p>
                  </a:txBody>
                  <a:tcPr marL="45720" marR="45720" marT="18288" marB="18288">
                    <a:solidFill>
                      <a:srgbClr val="FFCD00"/>
                    </a:solidFill>
                  </a:tcPr>
                </a:tc>
                <a:tc>
                  <a:txBody>
                    <a:bodyPr/>
                    <a:lstStyle/>
                    <a:p>
                      <a:pPr algn="ctr"/>
                      <a:r>
                        <a:rPr sz="1000" b="1">
                          <a:solidFill>
                            <a:srgbClr val="1A1A1A"/>
                          </a:solidFill>
                          <a:latin typeface="Calibri"/>
                        </a:rPr>
                        <a:t>[0.990, 1.000)</a:t>
                      </a:r>
                    </a:p>
                  </a:txBody>
                  <a:tcPr marL="45720" marR="45720" marT="18288" marB="18288">
                    <a:solidFill>
                      <a:srgbClr val="FFFFFF"/>
                    </a:solidFill>
                  </a:tcPr>
                </a:tc>
                <a:tc>
                  <a:txBody>
                    <a:bodyPr/>
                    <a:lstStyle/>
                    <a:p>
                      <a:pPr algn="ctr"/>
                      <a:r>
                        <a:rPr sz="1000" b="1">
                          <a:solidFill>
                            <a:srgbClr val="1A1A1A"/>
                          </a:solidFill>
                          <a:latin typeface="Calibri"/>
                        </a:rPr>
                        <a:t>22</a:t>
                      </a:r>
                    </a:p>
                  </a:txBody>
                  <a:tcPr marL="45720" marR="45720" marT="18288" marB="18288">
                    <a:solidFill>
                      <a:srgbClr val="FFFFFF"/>
                    </a:solidFill>
                  </a:tcPr>
                </a:tc>
                <a:tc>
                  <a:txBody>
                    <a:bodyPr/>
                    <a:lstStyle/>
                    <a:p>
                      <a:pPr algn="ctr"/>
                      <a:r>
                        <a:rPr sz="1000" b="0">
                          <a:solidFill>
                            <a:srgbClr val="1A1A1A"/>
                          </a:solidFill>
                          <a:latin typeface="Calibri"/>
                        </a:rPr>
                        <a:t>96.6 ± 7.3</a:t>
                      </a:r>
                    </a:p>
                  </a:txBody>
                  <a:tcPr marL="45720" marR="45720" marT="18288" marB="18288">
                    <a:solidFill>
                      <a:srgbClr val="FFFFFF"/>
                    </a:solidFill>
                  </a:tcPr>
                </a:tc>
                <a:tc>
                  <a:txBody>
                    <a:bodyPr/>
                    <a:lstStyle/>
                    <a:p>
                      <a:pPr algn="ctr"/>
                      <a:r>
                        <a:rPr sz="1000" b="0">
                          <a:solidFill>
                            <a:srgbClr val="1A1A1A"/>
                          </a:solidFill>
                          <a:latin typeface="Calibri"/>
                        </a:rPr>
                        <a:t>0.228</a:t>
                      </a:r>
                    </a:p>
                  </a:txBody>
                  <a:tcPr marL="45720" marR="45720" marT="18288" marB="18288">
                    <a:solidFill>
                      <a:srgbClr val="FFFFFF"/>
                    </a:solidFill>
                  </a:tcPr>
                </a:tc>
                <a:tc>
                  <a:txBody>
                    <a:bodyPr/>
                    <a:lstStyle/>
                    <a:p>
                      <a:pPr algn="ctr"/>
                      <a:r>
                        <a:rPr sz="1000" b="0">
                          <a:solidFill>
                            <a:srgbClr val="1A1A1A"/>
                          </a:solidFill>
                          <a:latin typeface="Calibri"/>
                        </a:rPr>
                        <a:t>214.1 ± 11.1</a:t>
                      </a:r>
                    </a:p>
                  </a:txBody>
                  <a:tcPr marL="45720" marR="45720" marT="18288" marB="18288">
                    <a:solidFill>
                      <a:srgbClr val="FFFFFF"/>
                    </a:solidFill>
                  </a:tcPr>
                </a:tc>
                <a:tc>
                  <a:txBody>
                    <a:bodyPr/>
                    <a:lstStyle/>
                    <a:p>
                      <a:pPr algn="ctr"/>
                      <a:r>
                        <a:rPr sz="1000" b="1">
                          <a:solidFill>
                            <a:srgbClr val="1A1A1A"/>
                          </a:solidFill>
                          <a:latin typeface="Calibri"/>
                        </a:rPr>
                        <a:t>1.215</a:t>
                      </a:r>
                    </a:p>
                  </a:txBody>
                  <a:tcPr marL="45720" marR="45720" marT="18288" marB="18288">
                    <a:solidFill>
                      <a:srgbClr val="FFFFFF"/>
                    </a:solidFill>
                  </a:tcPr>
                </a:tc>
                <a:tc>
                  <a:txBody>
                    <a:bodyPr/>
                    <a:lstStyle/>
                    <a:p>
                      <a:pPr algn="ctr"/>
                      <a:r>
                        <a:rPr sz="1000" b="0">
                          <a:solidFill>
                            <a:srgbClr val="1A1A1A"/>
                          </a:solidFill>
                          <a:latin typeface="Calibri"/>
                        </a:rPr>
                        <a:t>21.9</a:t>
                      </a:r>
                    </a:p>
                  </a:txBody>
                  <a:tcPr marL="45720" marR="45720" marT="18288" marB="18288">
                    <a:solidFill>
                      <a:srgbClr val="FFFFFF"/>
                    </a:solidFill>
                  </a:tcPr>
                </a:tc>
                <a:tc>
                  <a:txBody>
                    <a:bodyPr/>
                    <a:lstStyle/>
                    <a:p>
                      <a:pPr algn="ctr"/>
                      <a:r>
                        <a:rPr sz="1000" b="1">
                          <a:solidFill>
                            <a:srgbClr val="1A1A1A"/>
                          </a:solidFill>
                          <a:latin typeface="Calibri"/>
                        </a:rPr>
                        <a:t>1.167</a:t>
                      </a:r>
                    </a:p>
                  </a:txBody>
                  <a:tcPr marL="45720" marR="45720" marT="18288" marB="18288">
                    <a:solidFill>
                      <a:srgbClr val="F4E07F"/>
                    </a:solidFill>
                  </a:tcPr>
                </a:tc>
                <a:extLst>
                  <a:ext uri="{0D108BD9-81ED-4DB2-BD59-A6C34878D82A}">
                    <a16:rowId xmlns:a16="http://schemas.microsoft.com/office/drawing/2014/main" val="10004"/>
                  </a:ext>
                </a:extLst>
              </a:tr>
              <a:tr h="548640">
                <a:tc>
                  <a:txBody>
                    <a:bodyPr/>
                    <a:lstStyle/>
                    <a:p>
                      <a:pPr algn="ctr"/>
                      <a:r>
                        <a:rPr sz="1000" b="1">
                          <a:solidFill>
                            <a:srgbClr val="FFFFFF"/>
                          </a:solidFill>
                          <a:latin typeface="Calibri"/>
                        </a:rPr>
                        <a:t>All</a:t>
                      </a:r>
                    </a:p>
                  </a:txBody>
                  <a:tcPr marL="45720" marR="45720" marT="18288" marB="18288">
                    <a:solidFill>
                      <a:srgbClr val="000000"/>
                    </a:solidFill>
                  </a:tcPr>
                </a:tc>
                <a:tc>
                  <a:txBody>
                    <a:bodyPr/>
                    <a:lstStyle/>
                    <a:p>
                      <a:pPr algn="ctr"/>
                      <a:r>
                        <a:rPr sz="1000" b="1">
                          <a:solidFill>
                            <a:srgbClr val="1A1A1A"/>
                          </a:solidFill>
                          <a:latin typeface="Calibri"/>
                        </a:rPr>
                        <a:t>Combined</a:t>
                      </a:r>
                    </a:p>
                  </a:txBody>
                  <a:tcPr marL="45720" marR="45720" marT="18288" marB="18288">
                    <a:solidFill>
                      <a:srgbClr val="FFFFFF"/>
                    </a:solidFill>
                  </a:tcPr>
                </a:tc>
                <a:tc>
                  <a:txBody>
                    <a:bodyPr/>
                    <a:lstStyle/>
                    <a:p>
                      <a:pPr algn="ctr"/>
                      <a:r>
                        <a:rPr sz="1000" b="1">
                          <a:solidFill>
                            <a:srgbClr val="1A1A1A"/>
                          </a:solidFill>
                          <a:latin typeface="Calibri"/>
                        </a:rPr>
                        <a:t>24,838</a:t>
                      </a:r>
                    </a:p>
                  </a:txBody>
                  <a:tcPr marL="45720" marR="45720" marT="18288" marB="18288">
                    <a:solidFill>
                      <a:srgbClr val="FFFFFF"/>
                    </a:solidFill>
                  </a:tcPr>
                </a:tc>
                <a:tc>
                  <a:txBody>
                    <a:bodyPr/>
                    <a:lstStyle/>
                    <a:p>
                      <a:pPr algn="ctr"/>
                      <a:r>
                        <a:rPr sz="1000" b="1">
                          <a:solidFill>
                            <a:srgbClr val="1A1A1A"/>
                          </a:solidFill>
                          <a:latin typeface="Calibri"/>
                        </a:rPr>
                        <a:t>183,994</a:t>
                      </a:r>
                    </a:p>
                  </a:txBody>
                  <a:tcPr marL="45720" marR="45720" marT="18288" marB="18288">
                    <a:solidFill>
                      <a:srgbClr val="FFFFFF"/>
                    </a:solidFill>
                  </a:tcPr>
                </a:tc>
                <a:tc>
                  <a:txBody>
                    <a:bodyPr/>
                    <a:lstStyle/>
                    <a:p>
                      <a:pPr algn="ctr"/>
                      <a:r>
                        <a:rPr sz="1000" b="1">
                          <a:solidFill>
                            <a:srgbClr val="1A1A1A"/>
                          </a:solidFill>
                          <a:latin typeface="Calibri"/>
                        </a:rPr>
                        <a:t>0.135</a:t>
                      </a:r>
                    </a:p>
                  </a:txBody>
                  <a:tcPr marL="45720" marR="45720" marT="18288" marB="18288">
                    <a:solidFill>
                      <a:srgbClr val="FFFFFF"/>
                    </a:solidFill>
                  </a:tcPr>
                </a:tc>
                <a:tc>
                  <a:txBody>
                    <a:bodyPr/>
                    <a:lstStyle/>
                    <a:p>
                      <a:pPr algn="ctr"/>
                      <a:r>
                        <a:rPr sz="1000" b="1">
                          <a:solidFill>
                            <a:srgbClr val="1A1A1A"/>
                          </a:solidFill>
                          <a:latin typeface="Calibri"/>
                        </a:rPr>
                        <a:t>396,234</a:t>
                      </a:r>
                    </a:p>
                  </a:txBody>
                  <a:tcPr marL="45720" marR="45720" marT="18288" marB="18288">
                    <a:solidFill>
                      <a:srgbClr val="FFFFFF"/>
                    </a:solidFill>
                  </a:tcPr>
                </a:tc>
                <a:tc>
                  <a:txBody>
                    <a:bodyPr/>
                    <a:lstStyle/>
                    <a:p>
                      <a:pPr algn="ctr"/>
                      <a:r>
                        <a:rPr sz="1000" b="0">
                          <a:solidFill>
                            <a:srgbClr val="1A1A1A"/>
                          </a:solidFill>
                          <a:latin typeface="Calibri"/>
                        </a:rPr>
                        <a:t>—</a:t>
                      </a:r>
                    </a:p>
                  </a:txBody>
                  <a:tcPr marL="45720" marR="45720" marT="18288" marB="18288">
                    <a:solidFill>
                      <a:srgbClr val="FFFFFF"/>
                    </a:solidFill>
                  </a:tcPr>
                </a:tc>
                <a:tc>
                  <a:txBody>
                    <a:bodyPr/>
                    <a:lstStyle/>
                    <a:p>
                      <a:pPr algn="ctr"/>
                      <a:r>
                        <a:rPr sz="1000" b="1">
                          <a:solidFill>
                            <a:srgbClr val="1A1A1A"/>
                          </a:solidFill>
                          <a:latin typeface="Calibri"/>
                        </a:rPr>
                        <a:t>39,296</a:t>
                      </a:r>
                    </a:p>
                  </a:txBody>
                  <a:tcPr marL="45720" marR="45720" marT="18288" marB="18288">
                    <a:solidFill>
                      <a:srgbClr val="FFFFFF"/>
                    </a:solidFill>
                  </a:tcPr>
                </a:tc>
                <a:tc>
                  <a:txBody>
                    <a:bodyPr/>
                    <a:lstStyle/>
                    <a:p>
                      <a:pPr algn="ctr"/>
                      <a:r>
                        <a:rPr sz="1000" b="1">
                          <a:solidFill>
                            <a:srgbClr val="1A1A1A"/>
                          </a:solidFill>
                          <a:latin typeface="Calibri"/>
                        </a:rPr>
                        <a:t>1.584</a:t>
                      </a:r>
                    </a:p>
                  </a:txBody>
                  <a:tcPr marL="45720" marR="45720" marT="18288" marB="18288">
                    <a:solidFill>
                      <a:srgbClr val="F4E07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457200" y="5074920"/>
            <a:ext cx="8229600"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074920"/>
            <a:ext cx="109728" cy="914400"/>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731520" y="5359893"/>
                <a:ext cx="7955279" cy="344453"/>
              </a:xfrm>
              <a:prstGeom prst="rect">
                <a:avLst/>
              </a:prstGeom>
              <a:noFill/>
            </p:spPr>
            <p:txBody>
              <a:bodyPr wrap="square" lIns="0" tIns="0" rIns="0" bIns="0" anchor="ctr">
                <a:spAutoFit/>
              </a:bodyPr>
              <a:lstStyle/>
              <a:p>
                <a:r>
                  <a:rPr sz="1300" b="0" i="0" dirty="0">
                    <a:solidFill>
                      <a:srgbClr val="FFFFFF"/>
                    </a:solidFill>
                    <a:latin typeface="Calibri"/>
                  </a:rPr>
                  <a:t>Combined expected significance:  </a:t>
                </a:r>
                <a:r>
                  <a:rPr sz="2200" b="1" i="0" dirty="0">
                    <a:solidFill>
                      <a:srgbClr val="FFCD00"/>
                    </a:solidFill>
                    <a:latin typeface="Calibri"/>
                  </a:rPr>
                  <a:t>Z = 1.584 </a:t>
                </a:r>
                <a:r>
                  <a:rPr sz="1100" b="0" i="0" dirty="0">
                    <a:solidFill>
                      <a:srgbClr val="BBBBBB"/>
                    </a:solidFill>
                    <a:latin typeface="Calibri"/>
                  </a:rPr>
                  <a:t>   (</a:t>
                </a:r>
                <a14:m>
                  <m:oMath xmlns:m="http://schemas.openxmlformats.org/officeDocument/2006/math">
                    <m:rad>
                      <m:radPr>
                        <m:degHide m:val="on"/>
                        <m:ctrlPr>
                          <a:rPr lang="ar-AE" sz="1100" i="1" smtClean="0">
                            <a:solidFill>
                              <a:schemeClr val="bg2"/>
                            </a:solidFill>
                            <a:latin typeface="Cambria Math" panose="02040503050406030204" pitchFamily="18" charset="0"/>
                          </a:rPr>
                        </m:ctrlPr>
                      </m:radPr>
                      <m:deg/>
                      <m:e>
                        <m:nary>
                          <m:naryPr>
                            <m:chr m:val="∑"/>
                            <m:grow m:val="on"/>
                            <m:supHide m:val="on"/>
                            <m:ctrlPr>
                              <a:rPr lang="ar-AE" sz="1100" i="1">
                                <a:solidFill>
                                  <a:schemeClr val="bg2"/>
                                </a:solidFill>
                                <a:latin typeface="Cambria Math" panose="02040503050406030204" pitchFamily="18" charset="0"/>
                              </a:rPr>
                            </m:ctrlPr>
                          </m:naryPr>
                          <m:sub>
                            <m:r>
                              <a:rPr lang="ar-AE" sz="1100" i="1">
                                <a:solidFill>
                                  <a:schemeClr val="bg2"/>
                                </a:solidFill>
                                <a:latin typeface="Cambria Math" panose="02040503050406030204" pitchFamily="18" charset="0"/>
                              </a:rPr>
                              <m:t>𝑖</m:t>
                            </m:r>
                          </m:sub>
                          <m:sup/>
                          <m:e>
                            <m:sSubSup>
                              <m:sSubSupPr>
                                <m:ctrlPr>
                                  <a:rPr lang="ar-AE" sz="1100" i="1">
                                    <a:solidFill>
                                      <a:schemeClr val="bg2"/>
                                    </a:solidFill>
                                    <a:latin typeface="Cambria Math" panose="02040503050406030204" pitchFamily="18" charset="0"/>
                                  </a:rPr>
                                </m:ctrlPr>
                              </m:sSubSupPr>
                              <m:e>
                                <m:r>
                                  <a:rPr lang="ar-AE" sz="1100" i="1">
                                    <a:solidFill>
                                      <a:schemeClr val="bg2"/>
                                    </a:solidFill>
                                    <a:latin typeface="Cambria Math" panose="02040503050406030204" pitchFamily="18" charset="0"/>
                                  </a:rPr>
                                  <m:t>𝑍</m:t>
                                </m:r>
                              </m:e>
                              <m:sub>
                                <m:r>
                                  <a:rPr lang="ar-AE" sz="1100" i="1">
                                    <a:solidFill>
                                      <a:schemeClr val="bg2"/>
                                    </a:solidFill>
                                    <a:latin typeface="Cambria Math" panose="02040503050406030204" pitchFamily="18" charset="0"/>
                                  </a:rPr>
                                  <m:t>𝑖</m:t>
                                </m:r>
                              </m:sub>
                              <m:sup>
                                <m:r>
                                  <m:rPr>
                                    <m:nor/>
                                  </m:rPr>
                                  <a:rPr lang="ar-AE" sz="1100" i="1">
                                    <a:solidFill>
                                      <a:schemeClr val="bg2"/>
                                    </a:solidFill>
                                  </a:rPr>
                                  <m:t> </m:t>
                                </m:r>
                                <m:r>
                                  <a:rPr lang="ar-AE" sz="1100">
                                    <a:solidFill>
                                      <a:schemeClr val="bg2"/>
                                    </a:solidFill>
                                    <a:latin typeface="Cambria Math" panose="02040503050406030204" pitchFamily="18" charset="0"/>
                                  </a:rPr>
                                  <m:t>2</m:t>
                                </m:r>
                              </m:sup>
                            </m:sSubSup>
                          </m:e>
                        </m:nary>
                      </m:e>
                    </m:rad>
                  </m:oMath>
                </a14:m>
                <a:r>
                  <a:rPr sz="1100" b="0" i="0" dirty="0">
                    <a:solidFill>
                      <a:srgbClr val="BBBBBB"/>
                    </a:solidFill>
                    <a:latin typeface="Calibri"/>
                  </a:rPr>
                  <a:t>)  </a:t>
                </a:r>
                <a:r>
                  <a:rPr sz="1100" b="0" i="1" dirty="0">
                    <a:solidFill>
                      <a:srgbClr val="DDDDDD"/>
                    </a:solidFill>
                    <a:latin typeface="Calibri"/>
                  </a:rPr>
                  <a:t>·</a:t>
                </a:r>
              </a:p>
            </p:txBody>
          </p:sp>
        </mc:Choice>
        <mc:Fallback xmlns="">
          <p:sp>
            <p:nvSpPr>
              <p:cNvPr id="9" name="TextBox 8"/>
              <p:cNvSpPr txBox="1">
                <a:spLocks noRot="1" noChangeAspect="1" noMove="1" noResize="1" noEditPoints="1" noAdjustHandles="1" noChangeArrowheads="1" noChangeShapeType="1" noTextEdit="1"/>
              </p:cNvSpPr>
              <p:nvPr/>
            </p:nvSpPr>
            <p:spPr>
              <a:xfrm>
                <a:off x="731520" y="5359893"/>
                <a:ext cx="7955279" cy="344453"/>
              </a:xfrm>
              <a:prstGeom prst="rect">
                <a:avLst/>
              </a:prstGeom>
              <a:blipFill>
                <a:blip r:embed="rId3"/>
                <a:stretch>
                  <a:fillRect l="-1226" t="-80702" b="-140351"/>
                </a:stretch>
              </a:blipFill>
            </p:spPr>
            <p:txBody>
              <a:bodyPr/>
              <a:lstStyle/>
              <a:p>
                <a:r>
                  <a:rPr lang="en-US">
                    <a:noFill/>
                  </a:rPr>
                  <a:t> </a:t>
                </a:r>
              </a:p>
            </p:txBody>
          </p:sp>
        </mc:Fallback>
      </mc:AlternateContent>
    </p:spTree>
    <p:extLst>
      <p:ext uri="{BB962C8B-B14F-4D97-AF65-F5344CB8AC3E}">
        <p14:creationId xmlns:p14="http://schemas.microsoft.com/office/powerpoint/2010/main" val="864860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4D97FB5-4FAC-4C6D-BC0D-9BACECA588E8}"/>
              </a:ext>
            </a:extLst>
          </p:cNvPr>
          <p:cNvSpPr>
            <a:spLocks noGrp="1"/>
          </p:cNvSpPr>
          <p:nvPr>
            <p:ph type="title"/>
          </p:nvPr>
        </p:nvSpPr>
        <p:spPr>
          <a:xfrm>
            <a:off x="457200" y="411480"/>
            <a:ext cx="8229600" cy="777240"/>
          </a:xfrm>
        </p:spPr>
        <p:txBody>
          <a:bodyPr wrap="square"/>
          <a:lstStyle/>
          <a:p>
            <a:r>
              <a:t>Expected significance summary</a:t>
            </a:r>
          </a:p>
        </p:txBody>
      </p:sp>
      <p:sp>
        <p:nvSpPr>
          <p:cNvPr id="8" name="Footer Placeholder 3">
            <a:extLst>
              <a:ext uri="{FF2B5EF4-FFF2-40B4-BE49-F238E27FC236}">
                <a16:creationId xmlns:a16="http://schemas.microsoft.com/office/drawing/2014/main" id="{FB0CE25D-E0EC-B146-ADE8-443AC0554F6D}"/>
              </a:ext>
            </a:extLst>
          </p:cNvPr>
          <p:cNvSpPr>
            <a:spLocks noGrp="1"/>
          </p:cNvSpPr>
          <p:nvPr>
            <p:ph type="ftr" sz="quarter" idx="3"/>
          </p:nvPr>
        </p:nvSpPr>
        <p:spPr>
          <a:xfrm>
            <a:off x="2073821" y="6441193"/>
            <a:ext cx="6513130" cy="365125"/>
          </a:xfrm>
        </p:spPr>
        <p:txBody>
          <a:bodyPr/>
          <a:lstStyle/>
          <a:p>
            <a:r>
              <a:t>Per-era Asimov Z (2025 = 3 cats) and the combined Run-3 result</a:t>
            </a:r>
            <a:endParaRPr lang="en-US" dirty="0"/>
          </a:p>
        </p:txBody>
      </p:sp>
      <p:sp>
        <p:nvSpPr>
          <p:cNvPr id="13" name="TextBox 12"/>
          <p:cNvSpPr txBox="1"/>
          <p:nvPr/>
        </p:nvSpPr>
        <p:spPr>
          <a:xfrm>
            <a:off x="6217920" y="2057400"/>
            <a:ext cx="2606040" cy="1280160"/>
          </a:xfrm>
          <a:prstGeom prst="rect">
            <a:avLst/>
          </a:prstGeom>
          <a:noFill/>
        </p:spPr>
        <p:txBody>
          <a:bodyPr wrap="square" lIns="0" tIns="0" rIns="0" bIns="0" anchor="ctr">
            <a:spAutoFit/>
          </a:bodyPr>
          <a:lstStyle/>
          <a:p>
            <a:pPr algn="ctr"/>
            <a:r>
              <a:rPr sz="4400" b="1" i="0">
                <a:solidFill>
                  <a:srgbClr val="FFFFFF"/>
                </a:solidFill>
                <a:latin typeface="Calibri"/>
              </a:rPr>
              <a:t>Z = 1.58</a:t>
            </a:r>
          </a:p>
        </p:txBody>
      </p:sp>
      <p:sp>
        <p:nvSpPr>
          <p:cNvPr id="2" name="Rectangle 1">
            <a:extLst>
              <a:ext uri="{FF2B5EF4-FFF2-40B4-BE49-F238E27FC236}">
                <a16:creationId xmlns:a16="http://schemas.microsoft.com/office/drawing/2014/main" id="{25DA03CA-33CF-FF27-F3C8-AA7698224F4B}"/>
              </a:ext>
            </a:extLst>
          </p:cNvPr>
          <p:cNvSpPr/>
          <p:nvPr/>
        </p:nvSpPr>
        <p:spPr>
          <a:xfrm>
            <a:off x="4318686" y="1618735"/>
            <a:ext cx="451022" cy="435575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hart 8"/>
          <p:cNvGraphicFramePr>
            <a:graphicFrameLocks noGrp="1"/>
          </p:cNvGraphicFramePr>
          <p:nvPr>
            <p:extLst>
              <p:ext uri="{D42A27DB-BD31-4B8C-83A1-F6EECF244321}">
                <p14:modId xmlns:p14="http://schemas.microsoft.com/office/powerpoint/2010/main" val="1643587198"/>
              </p:ext>
            </p:extLst>
          </p:nvPr>
        </p:nvGraphicFramePr>
        <p:xfrm>
          <a:off x="388620" y="1299931"/>
          <a:ext cx="8366760" cy="467456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1017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60B3-53FE-9BF4-F09E-1BCF4B8A6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B3CC3-0FD9-1BAF-8EF3-72B0B71181BA}"/>
              </a:ext>
            </a:extLst>
          </p:cNvPr>
          <p:cNvSpPr>
            <a:spLocks noGrp="1"/>
          </p:cNvSpPr>
          <p:nvPr>
            <p:ph type="title"/>
          </p:nvPr>
        </p:nvSpPr>
        <p:spPr>
          <a:xfrm>
            <a:off x="457200" y="411480"/>
            <a:ext cx="8229600" cy="777240"/>
          </a:xfrm>
        </p:spPr>
        <p:txBody>
          <a:bodyPr wrap="square"/>
          <a:lstStyle/>
          <a:p>
            <a:r>
              <a:rPr lang="en-US" dirty="0"/>
              <a:t>Conclusions and next steps</a:t>
            </a:r>
            <a:endParaRPr dirty="0"/>
          </a:p>
        </p:txBody>
      </p:sp>
      <p:sp>
        <p:nvSpPr>
          <p:cNvPr id="5" name="Footer Placeholder 3">
            <a:extLst>
              <a:ext uri="{FF2B5EF4-FFF2-40B4-BE49-F238E27FC236}">
                <a16:creationId xmlns:a16="http://schemas.microsoft.com/office/drawing/2014/main" id="{B393803B-8AB3-0AB9-222E-F0795B3D7CEC}"/>
              </a:ext>
            </a:extLst>
          </p:cNvPr>
          <p:cNvSpPr>
            <a:spLocks noGrp="1"/>
          </p:cNvSpPr>
          <p:nvPr>
            <p:ph type="ftr" sz="quarter" idx="3"/>
          </p:nvPr>
        </p:nvSpPr>
        <p:spPr>
          <a:xfrm>
            <a:off x="2073821" y="6441193"/>
            <a:ext cx="6513130" cy="365125"/>
          </a:xfrm>
        </p:spPr>
        <p:txBody>
          <a:bodyPr/>
          <a:lstStyle/>
          <a:p>
            <a:r>
              <a:rPr dirty="0"/>
              <a:t>Combined eras: BDT boundaries and data/MC populations per category</a:t>
            </a:r>
            <a:endParaRPr lang="en-US" dirty="0"/>
          </a:p>
        </p:txBody>
      </p:sp>
      <p:sp>
        <p:nvSpPr>
          <p:cNvPr id="20" name="Rectangle 19"/>
          <p:cNvSpPr/>
          <p:nvPr/>
        </p:nvSpPr>
        <p:spPr>
          <a:xfrm>
            <a:off x="667510" y="1805940"/>
            <a:ext cx="1965960" cy="228600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67510" y="1805940"/>
            <a:ext cx="1965960" cy="10972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0" y="2034540"/>
            <a:ext cx="1737360" cy="153888"/>
          </a:xfrm>
          <a:prstGeom prst="rect">
            <a:avLst/>
          </a:prstGeom>
          <a:noFill/>
        </p:spPr>
        <p:txBody>
          <a:bodyPr wrap="square" lIns="0" tIns="0" rIns="0" bIns="0" anchor="t">
            <a:spAutoFit/>
          </a:bodyPr>
          <a:lstStyle/>
          <a:p>
            <a:pPr algn="l"/>
            <a:r>
              <a:rPr sz="1000" b="1" i="0" spc="200" dirty="0">
                <a:solidFill>
                  <a:srgbClr val="555555"/>
                </a:solidFill>
                <a:latin typeface="Calibri"/>
              </a:rPr>
              <a:t>BDT</a:t>
            </a:r>
          </a:p>
        </p:txBody>
      </p:sp>
      <p:sp>
        <p:nvSpPr>
          <p:cNvPr id="23" name="TextBox 22"/>
          <p:cNvSpPr txBox="1"/>
          <p:nvPr/>
        </p:nvSpPr>
        <p:spPr>
          <a:xfrm>
            <a:off x="804670" y="2354580"/>
            <a:ext cx="1737360" cy="914400"/>
          </a:xfrm>
          <a:prstGeom prst="rect">
            <a:avLst/>
          </a:prstGeom>
          <a:noFill/>
        </p:spPr>
        <p:txBody>
          <a:bodyPr wrap="square" lIns="0" tIns="0" rIns="0" bIns="0" anchor="t">
            <a:spAutoFit/>
          </a:bodyPr>
          <a:lstStyle/>
          <a:p>
            <a:pPr algn="l"/>
            <a:r>
              <a:rPr sz="1800" b="1" i="0">
                <a:solidFill>
                  <a:srgbClr val="000000"/>
                </a:solidFill>
                <a:latin typeface="Calibri"/>
              </a:rPr>
              <a:t>AUC 0.91-0.93</a:t>
            </a:r>
          </a:p>
        </p:txBody>
      </p:sp>
      <p:sp>
        <p:nvSpPr>
          <p:cNvPr id="24" name="TextBox 23"/>
          <p:cNvSpPr txBox="1"/>
          <p:nvPr/>
        </p:nvSpPr>
        <p:spPr>
          <a:xfrm>
            <a:off x="804670" y="3223260"/>
            <a:ext cx="1737360" cy="822960"/>
          </a:xfrm>
          <a:prstGeom prst="rect">
            <a:avLst/>
          </a:prstGeom>
          <a:noFill/>
        </p:spPr>
        <p:txBody>
          <a:bodyPr wrap="square" lIns="0" tIns="0" rIns="0" bIns="0" anchor="t">
            <a:spAutoFit/>
          </a:bodyPr>
          <a:lstStyle/>
          <a:p>
            <a:pPr algn="l"/>
            <a:r>
              <a:rPr sz="950" b="0" i="0">
                <a:solidFill>
                  <a:srgbClr val="1A1A1A"/>
                </a:solidFill>
                <a:latin typeface="Calibri"/>
              </a:rPr>
              <a:t>Robust signal/background separation across all six Run-3 eras.</a:t>
            </a:r>
          </a:p>
        </p:txBody>
      </p:sp>
      <p:sp>
        <p:nvSpPr>
          <p:cNvPr id="25" name="Rectangle 24"/>
          <p:cNvSpPr/>
          <p:nvPr/>
        </p:nvSpPr>
        <p:spPr>
          <a:xfrm>
            <a:off x="2752342" y="1805940"/>
            <a:ext cx="1965960" cy="228600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52342" y="1805940"/>
            <a:ext cx="1965960" cy="10972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89502" y="2034540"/>
            <a:ext cx="1737360" cy="274320"/>
          </a:xfrm>
          <a:prstGeom prst="rect">
            <a:avLst/>
          </a:prstGeom>
          <a:noFill/>
        </p:spPr>
        <p:txBody>
          <a:bodyPr wrap="square" lIns="0" tIns="0" rIns="0" bIns="0" anchor="t">
            <a:spAutoFit/>
          </a:bodyPr>
          <a:lstStyle/>
          <a:p>
            <a:pPr algn="l"/>
            <a:r>
              <a:rPr sz="1000" b="1" i="0" spc="200">
                <a:solidFill>
                  <a:srgbClr val="555555"/>
                </a:solidFill>
                <a:latin typeface="Calibri"/>
              </a:rPr>
              <a:t>4 CATEGORIES</a:t>
            </a:r>
          </a:p>
        </p:txBody>
      </p:sp>
      <p:sp>
        <p:nvSpPr>
          <p:cNvPr id="28" name="TextBox 27"/>
          <p:cNvSpPr txBox="1"/>
          <p:nvPr/>
        </p:nvSpPr>
        <p:spPr>
          <a:xfrm>
            <a:off x="2889502" y="2354580"/>
            <a:ext cx="1737360" cy="914400"/>
          </a:xfrm>
          <a:prstGeom prst="rect">
            <a:avLst/>
          </a:prstGeom>
          <a:noFill/>
        </p:spPr>
        <p:txBody>
          <a:bodyPr wrap="square" lIns="0" tIns="0" rIns="0" bIns="0" anchor="t">
            <a:spAutoFit/>
          </a:bodyPr>
          <a:lstStyle/>
          <a:p>
            <a:pPr algn="l"/>
            <a:r>
              <a:rPr sz="1800" b="1" i="0">
                <a:solidFill>
                  <a:srgbClr val="000000"/>
                </a:solidFill>
                <a:latin typeface="Calibri"/>
              </a:rPr>
              <a:t>0.906 / 0.984 / 0.990</a:t>
            </a:r>
          </a:p>
        </p:txBody>
      </p:sp>
      <p:sp>
        <p:nvSpPr>
          <p:cNvPr id="29" name="TextBox 28"/>
          <p:cNvSpPr txBox="1"/>
          <p:nvPr/>
        </p:nvSpPr>
        <p:spPr>
          <a:xfrm>
            <a:off x="2889502" y="3223260"/>
            <a:ext cx="1737360" cy="822960"/>
          </a:xfrm>
          <a:prstGeom prst="rect">
            <a:avLst/>
          </a:prstGeom>
          <a:noFill/>
        </p:spPr>
        <p:txBody>
          <a:bodyPr wrap="square" lIns="0" tIns="0" rIns="0" bIns="0" anchor="t">
            <a:spAutoFit/>
          </a:bodyPr>
          <a:lstStyle/>
          <a:p>
            <a:pPr algn="l"/>
            <a:r>
              <a:rPr sz="950" b="0" i="0">
                <a:solidFill>
                  <a:srgbClr val="1A1A1A"/>
                </a:solidFill>
                <a:latin typeface="Calibri"/>
              </a:rPr>
              <a:t>Iterative boundary scan saturates at n = 4 in the combined fit.</a:t>
            </a:r>
          </a:p>
        </p:txBody>
      </p:sp>
      <p:sp>
        <p:nvSpPr>
          <p:cNvPr id="30" name="Rectangle 29"/>
          <p:cNvSpPr/>
          <p:nvPr/>
        </p:nvSpPr>
        <p:spPr>
          <a:xfrm>
            <a:off x="4837175" y="1805940"/>
            <a:ext cx="1965960" cy="228600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837175" y="1805940"/>
            <a:ext cx="1965960" cy="10972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974335" y="2034540"/>
            <a:ext cx="1737360" cy="274320"/>
          </a:xfrm>
          <a:prstGeom prst="rect">
            <a:avLst/>
          </a:prstGeom>
          <a:noFill/>
        </p:spPr>
        <p:txBody>
          <a:bodyPr wrap="square" lIns="0" tIns="0" rIns="0" bIns="0" anchor="t">
            <a:spAutoFit/>
          </a:bodyPr>
          <a:lstStyle/>
          <a:p>
            <a:pPr algn="l"/>
            <a:r>
              <a:rPr sz="1000" b="1" i="0" spc="200">
                <a:solidFill>
                  <a:srgbClr val="555555"/>
                </a:solidFill>
                <a:latin typeface="Calibri"/>
              </a:rPr>
              <a:t>CLEAN SIGNAL</a:t>
            </a:r>
          </a:p>
        </p:txBody>
      </p:sp>
      <p:sp>
        <p:nvSpPr>
          <p:cNvPr id="33" name="TextBox 32"/>
          <p:cNvSpPr txBox="1"/>
          <p:nvPr/>
        </p:nvSpPr>
        <p:spPr>
          <a:xfrm>
            <a:off x="4974335" y="2354580"/>
            <a:ext cx="1737360" cy="914400"/>
          </a:xfrm>
          <a:prstGeom prst="rect">
            <a:avLst/>
          </a:prstGeom>
          <a:noFill/>
        </p:spPr>
        <p:txBody>
          <a:bodyPr wrap="square" lIns="0" tIns="0" rIns="0" bIns="0" anchor="t">
            <a:spAutoFit/>
          </a:bodyPr>
          <a:lstStyle/>
          <a:p>
            <a:pPr algn="l"/>
            <a:r>
              <a:rPr sz="1800" b="1" i="0">
                <a:solidFill>
                  <a:srgbClr val="000000"/>
                </a:solidFill>
                <a:latin typeface="Calibri"/>
              </a:rPr>
              <a:t>FWHM ≈ 3.9 GeV</a:t>
            </a:r>
          </a:p>
        </p:txBody>
      </p:sp>
      <p:sp>
        <p:nvSpPr>
          <p:cNvPr id="3" name="TextBox 2"/>
          <p:cNvSpPr txBox="1"/>
          <p:nvPr/>
        </p:nvSpPr>
        <p:spPr>
          <a:xfrm>
            <a:off x="4974335" y="3223260"/>
            <a:ext cx="1737360" cy="822960"/>
          </a:xfrm>
          <a:prstGeom prst="rect">
            <a:avLst/>
          </a:prstGeom>
          <a:noFill/>
        </p:spPr>
        <p:txBody>
          <a:bodyPr wrap="square" lIns="0" tIns="0" rIns="0" bIns="0" anchor="t">
            <a:spAutoFit/>
          </a:bodyPr>
          <a:lstStyle/>
          <a:p>
            <a:pPr algn="l"/>
            <a:r>
              <a:rPr sz="950" b="0" i="0">
                <a:solidFill>
                  <a:srgbClr val="1A1A1A"/>
                </a:solidFill>
                <a:latin typeface="Calibri"/>
              </a:rPr>
              <a:t>DCB fits stable across cats; μ within 40 MeV of 124.78 GeV.</a:t>
            </a:r>
          </a:p>
        </p:txBody>
      </p:sp>
      <p:sp>
        <p:nvSpPr>
          <p:cNvPr id="35" name="Rectangle 34"/>
          <p:cNvSpPr/>
          <p:nvPr/>
        </p:nvSpPr>
        <p:spPr>
          <a:xfrm>
            <a:off x="6922007" y="1805940"/>
            <a:ext cx="1965960" cy="2286000"/>
          </a:xfrm>
          <a:prstGeom prst="rect">
            <a:avLst/>
          </a:prstGeom>
          <a:solidFill>
            <a:srgbClr val="FFFFFF"/>
          </a:solidFill>
          <a:ln>
            <a:solidFill>
              <a:srgbClr val="EDED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922007" y="1805940"/>
            <a:ext cx="1965960" cy="109728"/>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59167" y="2034540"/>
            <a:ext cx="1737360" cy="274320"/>
          </a:xfrm>
          <a:prstGeom prst="rect">
            <a:avLst/>
          </a:prstGeom>
          <a:noFill/>
        </p:spPr>
        <p:txBody>
          <a:bodyPr wrap="square" lIns="0" tIns="0" rIns="0" bIns="0" anchor="t">
            <a:spAutoFit/>
          </a:bodyPr>
          <a:lstStyle/>
          <a:p>
            <a:pPr algn="l"/>
            <a:r>
              <a:rPr sz="1000" b="1" i="0" spc="200">
                <a:solidFill>
                  <a:srgbClr val="555555"/>
                </a:solidFill>
                <a:latin typeface="Calibri"/>
              </a:rPr>
              <a:t>COMBINED Z</a:t>
            </a:r>
          </a:p>
        </p:txBody>
      </p:sp>
      <p:sp>
        <p:nvSpPr>
          <p:cNvPr id="38" name="TextBox 37"/>
          <p:cNvSpPr txBox="1"/>
          <p:nvPr/>
        </p:nvSpPr>
        <p:spPr>
          <a:xfrm>
            <a:off x="7059167" y="2354580"/>
            <a:ext cx="1737360" cy="914400"/>
          </a:xfrm>
          <a:prstGeom prst="rect">
            <a:avLst/>
          </a:prstGeom>
          <a:noFill/>
        </p:spPr>
        <p:txBody>
          <a:bodyPr wrap="square" lIns="0" tIns="0" rIns="0" bIns="0" anchor="t">
            <a:spAutoFit/>
          </a:bodyPr>
          <a:lstStyle/>
          <a:p>
            <a:pPr algn="l"/>
            <a:r>
              <a:rPr sz="1800" b="1" i="0">
                <a:solidFill>
                  <a:srgbClr val="000000"/>
                </a:solidFill>
                <a:latin typeface="Calibri"/>
              </a:rPr>
              <a:t>Z = 1.58</a:t>
            </a:r>
          </a:p>
        </p:txBody>
      </p:sp>
      <p:sp>
        <p:nvSpPr>
          <p:cNvPr id="39" name="TextBox 38"/>
          <p:cNvSpPr txBox="1"/>
          <p:nvPr/>
        </p:nvSpPr>
        <p:spPr>
          <a:xfrm>
            <a:off x="7059167" y="3223260"/>
            <a:ext cx="1737360" cy="822960"/>
          </a:xfrm>
          <a:prstGeom prst="rect">
            <a:avLst/>
          </a:prstGeom>
          <a:noFill/>
        </p:spPr>
        <p:txBody>
          <a:bodyPr wrap="square" lIns="0" tIns="0" rIns="0" bIns="0" anchor="t">
            <a:spAutoFit/>
          </a:bodyPr>
          <a:lstStyle/>
          <a:p>
            <a:pPr algn="l"/>
            <a:r>
              <a:rPr sz="950" b="0" i="0">
                <a:solidFill>
                  <a:srgbClr val="1A1A1A"/>
                </a:solidFill>
                <a:latin typeface="Calibri"/>
              </a:rPr>
              <a:t>Per-era Z 0.20-1.03; 2024 + 2025 carry most of combined Z².</a:t>
            </a:r>
          </a:p>
        </p:txBody>
      </p:sp>
      <p:sp>
        <p:nvSpPr>
          <p:cNvPr id="40" name="TextBox 39"/>
          <p:cNvSpPr txBox="1"/>
          <p:nvPr/>
        </p:nvSpPr>
        <p:spPr>
          <a:xfrm>
            <a:off x="667510" y="4228276"/>
            <a:ext cx="8229600" cy="365760"/>
          </a:xfrm>
          <a:prstGeom prst="rect">
            <a:avLst/>
          </a:prstGeom>
          <a:noFill/>
        </p:spPr>
        <p:txBody>
          <a:bodyPr wrap="square" lIns="0" tIns="0" rIns="0" bIns="0" anchor="t">
            <a:spAutoFit/>
          </a:bodyPr>
          <a:lstStyle/>
          <a:p>
            <a:pPr algn="l"/>
            <a:r>
              <a:rPr sz="1200" b="1" i="0" spc="300">
                <a:solidFill>
                  <a:srgbClr val="FFCD00"/>
                </a:solidFill>
                <a:latin typeface="Calibri"/>
              </a:rPr>
              <a:t>NEXT STEPS</a:t>
            </a:r>
          </a:p>
        </p:txBody>
      </p:sp>
      <p:cxnSp>
        <p:nvCxnSpPr>
          <p:cNvPr id="41" name="Connector 40"/>
          <p:cNvCxnSpPr/>
          <p:nvPr/>
        </p:nvCxnSpPr>
        <p:spPr>
          <a:xfrm>
            <a:off x="667510" y="4592049"/>
            <a:ext cx="914400" cy="0"/>
          </a:xfrm>
          <a:prstGeom prst="line">
            <a:avLst/>
          </a:prstGeom>
          <a:ln w="25400">
            <a:solidFill>
              <a:srgbClr val="FFCD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BCC0F4-7703-D4C1-FEE6-CD1B5211FD6A}"/>
                  </a:ext>
                </a:extLst>
              </p:cNvPr>
              <p:cNvSpPr txBox="1"/>
              <p:nvPr/>
            </p:nvSpPr>
            <p:spPr>
              <a:xfrm>
                <a:off x="578854" y="4624716"/>
                <a:ext cx="8309113" cy="1384995"/>
              </a:xfrm>
              <a:prstGeom prst="rect">
                <a:avLst/>
              </a:prstGeom>
              <a:noFill/>
            </p:spPr>
            <p:txBody>
              <a:bodyPr wrap="square">
                <a:spAutoFit/>
              </a:bodyPr>
              <a:lstStyle/>
              <a:p>
                <a:r>
                  <a:rPr lang="en-US" sz="1200" b="1" i="0" dirty="0">
                    <a:solidFill>
                      <a:srgbClr val="000000"/>
                    </a:solidFill>
                    <a:latin typeface="Calibri"/>
                  </a:rPr>
                  <a:t>Bias check via toy MC:  </a:t>
                </a:r>
                <a:r>
                  <a:rPr lang="en-US" sz="1200" b="0" i="0" dirty="0">
                    <a:solidFill>
                      <a:srgbClr val="1A1A1A"/>
                    </a:solidFill>
                    <a:latin typeface="Calibri"/>
                  </a:rPr>
                  <a:t>Currently we fit several background PDFs and pick the best χ²/</a:t>
                </a:r>
                <a:r>
                  <a:rPr lang="en-US" sz="1200" b="0" i="0" dirty="0" err="1">
                    <a:solidFill>
                      <a:srgbClr val="1A1A1A"/>
                    </a:solidFill>
                    <a:latin typeface="Calibri"/>
                  </a:rPr>
                  <a:t>ndf</a:t>
                </a:r>
                <a:r>
                  <a:rPr lang="en-US" sz="1200" b="0" i="0" dirty="0">
                    <a:solidFill>
                      <a:srgbClr val="1A1A1A"/>
                    </a:solidFill>
                    <a:latin typeface="Calibri"/>
                  </a:rPr>
                  <a:t>. Instead, generate toy MC from each alternate background family, fit with the nominal DCB signal model, and quantify the signal bias / fitted-function uncertainty per category</a:t>
                </a:r>
                <a:r>
                  <a:rPr lang="en-US" sz="1200" dirty="0">
                    <a:solidFill>
                      <a:srgbClr val="1A1A1A"/>
                    </a:solidFill>
                    <a:latin typeface="Calibri"/>
                  </a:rPr>
                  <a:t> (CMS AN-19-090 </a:t>
                </a:r>
                <a:r>
                  <a:rPr lang="en-US" sz="1200" b="0" i="0" dirty="0">
                    <a:solidFill>
                      <a:srgbClr val="1A1A1A"/>
                    </a:solidFill>
                    <a:latin typeface="Calibri"/>
                  </a:rPr>
                  <a:t>pp. 63–71).</a:t>
                </a:r>
              </a:p>
              <a:p>
                <a:r>
                  <a:rPr lang="en-US" sz="1200" b="1" i="0" dirty="0">
                    <a:solidFill>
                      <a:srgbClr val="000000"/>
                    </a:solidFill>
                    <a:latin typeface="Calibri"/>
                  </a:rPr>
                  <a:t>Core-PDF method:  </a:t>
                </a:r>
                <a:r>
                  <a:rPr lang="en-US" sz="1200" b="0" i="0" dirty="0">
                    <a:solidFill>
                      <a:srgbClr val="1A1A1A"/>
                    </a:solidFill>
                    <a:latin typeface="Calibri"/>
                  </a:rPr>
                  <a:t>Size of the background-mismodeling bias decides whether the core-PDF (discrete profiling) treatment is required for the envelope </a:t>
                </a:r>
                <a:r>
                  <a:rPr lang="en-US" sz="1200" dirty="0">
                    <a:solidFill>
                      <a:srgbClr val="1A1A1A"/>
                    </a:solidFill>
                    <a:latin typeface="Calibri"/>
                  </a:rPr>
                  <a:t>systematic (CMS AN-19-090 </a:t>
                </a:r>
                <a:r>
                  <a:rPr lang="en-US" sz="1200" b="0" i="0" dirty="0">
                    <a:solidFill>
                      <a:srgbClr val="1A1A1A"/>
                    </a:solidFill>
                    <a:latin typeface="Calibri"/>
                  </a:rPr>
                  <a:t>pp. 50–51).</a:t>
                </a:r>
              </a:p>
              <a:p>
                <a:r>
                  <a:rPr lang="en-US" sz="1200" b="1" i="0" dirty="0">
                    <a:solidFill>
                      <a:srgbClr val="000000"/>
                    </a:solidFill>
                    <a:latin typeface="Calibri"/>
                  </a:rPr>
                  <a:t>Signal-mass interpolation:  </a:t>
                </a:r>
                <a:r>
                  <a:rPr lang="en-US" sz="1200" b="0" i="0" dirty="0">
                    <a:solidFill>
                      <a:srgbClr val="1A1A1A"/>
                    </a:solidFill>
                    <a:latin typeface="Calibri"/>
                  </a:rPr>
                  <a:t>Refit the DCB at </a:t>
                </a:r>
                <a14:m>
                  <m:oMath xmlns:m="http://schemas.openxmlformats.org/officeDocument/2006/math">
                    <m:sSub>
                      <m:sSubPr>
                        <m:ctrlPr>
                          <a:rPr lang="en-US" sz="1200" i="1">
                            <a:solidFill>
                              <a:srgbClr val="1A1A1A"/>
                            </a:solidFill>
                            <a:latin typeface="Cambria Math" panose="02040503050406030204" pitchFamily="18" charset="0"/>
                          </a:rPr>
                        </m:ctrlPr>
                      </m:sSubPr>
                      <m:e>
                        <m:r>
                          <a:rPr lang="en-US" sz="1200" i="1">
                            <a:solidFill>
                              <a:srgbClr val="1A1A1A"/>
                            </a:solidFill>
                            <a:latin typeface="Cambria Math" panose="02040503050406030204" pitchFamily="18" charset="0"/>
                          </a:rPr>
                          <m:t>𝑚</m:t>
                        </m:r>
                      </m:e>
                      <m:sub>
                        <m:r>
                          <a:rPr lang="en-US" sz="1200" i="1">
                            <a:solidFill>
                              <a:srgbClr val="1A1A1A"/>
                            </a:solidFill>
                            <a:latin typeface="Cambria Math" panose="02040503050406030204" pitchFamily="18" charset="0"/>
                          </a:rPr>
                          <m:t>𝐻</m:t>
                        </m:r>
                      </m:sub>
                    </m:sSub>
                  </m:oMath>
                </a14:m>
                <a:r>
                  <a:rPr lang="en-US" sz="1200" b="0" i="0" dirty="0">
                    <a:solidFill>
                      <a:srgbClr val="1A1A1A"/>
                    </a:solidFill>
                    <a:latin typeface="Calibri"/>
                  </a:rPr>
                  <a:t> = 120, 125, 130 GeV to parametrize the signal shape vs. </a:t>
                </a:r>
                <a14:m>
                  <m:oMath xmlns:m="http://schemas.openxmlformats.org/officeDocument/2006/math">
                    <m:sSub>
                      <m:sSubPr>
                        <m:ctrlPr>
                          <a:rPr lang="en-US" sz="1200" b="0" i="1" smtClean="0">
                            <a:solidFill>
                              <a:srgbClr val="1A1A1A"/>
                            </a:solidFill>
                            <a:latin typeface="Cambria Math" panose="02040503050406030204" pitchFamily="18" charset="0"/>
                          </a:rPr>
                        </m:ctrlPr>
                      </m:sSubPr>
                      <m:e>
                        <m:r>
                          <a:rPr lang="en-US" sz="1200" b="0" i="1" smtClean="0">
                            <a:solidFill>
                              <a:srgbClr val="1A1A1A"/>
                            </a:solidFill>
                            <a:latin typeface="Cambria Math" panose="02040503050406030204" pitchFamily="18" charset="0"/>
                          </a:rPr>
                          <m:t>𝑚</m:t>
                        </m:r>
                      </m:e>
                      <m:sub>
                        <m:r>
                          <a:rPr lang="en-US" sz="1200" b="0" i="1" smtClean="0">
                            <a:solidFill>
                              <a:srgbClr val="1A1A1A"/>
                            </a:solidFill>
                            <a:latin typeface="Cambria Math" panose="02040503050406030204" pitchFamily="18" charset="0"/>
                          </a:rPr>
                          <m:t>𝐻</m:t>
                        </m:r>
                      </m:sub>
                    </m:sSub>
                  </m:oMath>
                </a14:m>
                <a:r>
                  <a:rPr lang="en-US" sz="1200" b="0" i="0" dirty="0">
                    <a:solidFill>
                      <a:srgbClr val="1A1A1A"/>
                    </a:solidFill>
                    <a:latin typeface="Calibri"/>
                  </a:rPr>
                  <a:t> and obtain the upper / lower bounds of the mass-interpolation uncertainty.</a:t>
                </a:r>
              </a:p>
            </p:txBody>
          </p:sp>
        </mc:Choice>
        <mc:Fallback xmlns="">
          <p:sp>
            <p:nvSpPr>
              <p:cNvPr id="6" name="TextBox 5">
                <a:extLst>
                  <a:ext uri="{FF2B5EF4-FFF2-40B4-BE49-F238E27FC236}">
                    <a16:creationId xmlns:a16="http://schemas.microsoft.com/office/drawing/2014/main" id="{60BCC0F4-7703-D4C1-FEE6-CD1B5211FD6A}"/>
                  </a:ext>
                </a:extLst>
              </p:cNvPr>
              <p:cNvSpPr txBox="1">
                <a:spLocks noRot="1" noChangeAspect="1" noMove="1" noResize="1" noEditPoints="1" noAdjustHandles="1" noChangeArrowheads="1" noChangeShapeType="1" noTextEdit="1"/>
              </p:cNvSpPr>
              <p:nvPr/>
            </p:nvSpPr>
            <p:spPr>
              <a:xfrm>
                <a:off x="578854" y="4624716"/>
                <a:ext cx="8309113" cy="1384995"/>
              </a:xfrm>
              <a:prstGeom prst="rect">
                <a:avLst/>
              </a:prstGeom>
              <a:blipFill>
                <a:blip r:embed="rId3"/>
                <a:stretch>
                  <a:fillRect l="-73" t="-441" r="-147" b="-2643"/>
                </a:stretch>
              </a:blipFill>
            </p:spPr>
            <p:txBody>
              <a:bodyPr/>
              <a:lstStyle/>
              <a:p>
                <a:r>
                  <a:rPr lang="en-US">
                    <a:noFill/>
                  </a:rPr>
                  <a:t> </a:t>
                </a:r>
              </a:p>
            </p:txBody>
          </p:sp>
        </mc:Fallback>
      </mc:AlternateContent>
    </p:spTree>
    <p:extLst>
      <p:ext uri="{BB962C8B-B14F-4D97-AF65-F5344CB8AC3E}">
        <p14:creationId xmlns:p14="http://schemas.microsoft.com/office/powerpoint/2010/main" val="3614725187"/>
      </p:ext>
    </p:extLst>
  </p:cSld>
  <p:clrMapOvr>
    <a:masterClrMapping/>
  </p:clrMapOvr>
</p:sld>
</file>

<file path=ppt/theme/theme1.xml><?xml version="1.0" encoding="utf-8"?>
<a:theme xmlns:a="http://schemas.openxmlformats.org/drawingml/2006/main" name="Office Theme">
  <a:themeElements>
    <a:clrScheme name="IOWA BRAND COLORS">
      <a:dk1>
        <a:srgbClr val="000000"/>
      </a:dk1>
      <a:lt1>
        <a:srgbClr val="FFFFFF"/>
      </a:lt1>
      <a:dk2>
        <a:srgbClr val="62666A"/>
      </a:dk2>
      <a:lt2>
        <a:srgbClr val="BBBCBC"/>
      </a:lt2>
      <a:accent1>
        <a:srgbClr val="FFCD00"/>
      </a:accent1>
      <a:accent2>
        <a:srgbClr val="616669"/>
      </a:accent2>
      <a:accent3>
        <a:srgbClr val="BBBCBC"/>
      </a:accent3>
      <a:accent4>
        <a:srgbClr val="00A9E0"/>
      </a:accent4>
      <a:accent5>
        <a:srgbClr val="00AF66"/>
      </a:accent5>
      <a:accent6>
        <a:srgbClr val="FF8200"/>
      </a:accent6>
      <a:hlink>
        <a:srgbClr val="00558C"/>
      </a:hlink>
      <a:folHlink>
        <a:srgbClr val="636669"/>
      </a:folHlink>
    </a:clrScheme>
    <a:fontScheme name="University of Iow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9CCDD9754E9B40B13882595ECD5F7A" ma:contentTypeVersion="0" ma:contentTypeDescription="Create a new document." ma:contentTypeScope="" ma:versionID="48ffdc5cb6ca8bf97cbe1bd0206e10b7">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21B56A-5C82-479A-80D0-662CC28B93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A14B8143-C3D6-460D-830C-A8DBEE85511A}">
  <ds:schemaRefs>
    <ds:schemaRef ds:uri="http://schemas.microsoft.com/sharepoint/v3/contenttype/forms"/>
  </ds:schemaRefs>
</ds:datastoreItem>
</file>

<file path=customXml/itemProps3.xml><?xml version="1.0" encoding="utf-8"?>
<ds:datastoreItem xmlns:ds="http://schemas.openxmlformats.org/officeDocument/2006/customXml" ds:itemID="{097FFD54-27B0-415C-8654-D843242BD071}">
  <ds:schemaRefs>
    <ds:schemaRef ds:uri="http://schemas.microsoft.com/office/2006/metadata/properties"/>
    <ds:schemaRef ds:uri="http://schemas.microsoft.com/office/2006/documentManagement/types"/>
    <ds:schemaRef ds:uri="http://purl.org/dc/terms/"/>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6571</TotalTime>
  <Words>3589</Words>
  <Application>Microsoft Office PowerPoint</Application>
  <PresentationFormat>On-screen Show (4:3)</PresentationFormat>
  <Paragraphs>542</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Cambria Math</vt:lpstr>
      <vt:lpstr>Roboto</vt:lpstr>
      <vt:lpstr>Roboto Black</vt:lpstr>
      <vt:lpstr>Segoe WPC</vt:lpstr>
      <vt:lpstr>Office Theme</vt:lpstr>
      <vt:lpstr>VBF BDT</vt:lpstr>
      <vt:lpstr>BDT performance: ROC curves</vt:lpstr>
      <vt:lpstr>BDT score: data vs. stacked MC</vt:lpstr>
      <vt:lpstr>Choosing the category boundaries</vt:lpstr>
      <vt:lpstr>Iterative boundary scan</vt:lpstr>
      <vt:lpstr>Final category structure</vt:lpstr>
      <vt:lpstr>Per-era boundaries</vt:lpstr>
      <vt:lpstr>Per-era yields: 12022, 22022</vt:lpstr>
      <vt:lpstr>Per-era yields: 12023, 22023</vt:lpstr>
      <vt:lpstr>Per-era yields: 2024, 2025</vt:lpstr>
      <vt:lpstr>Mass sculpting check</vt:lpstr>
      <vt:lpstr>Background fits per category</vt:lpstr>
      <vt:lpstr>Signal DCB fits per category</vt:lpstr>
      <vt:lpstr>Combined category summary</vt:lpstr>
      <vt:lpstr>Expected significance summary</vt:lpstr>
      <vt:lpstr>Conclusions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ryan-potter@uiowa.edu</dc:creator>
  <cp:lastModifiedBy>Minou Emmad</cp:lastModifiedBy>
  <cp:revision>292</cp:revision>
  <dcterms:created xsi:type="dcterms:W3CDTF">2020-01-21T18:13:39Z</dcterms:created>
  <dcterms:modified xsi:type="dcterms:W3CDTF">2026-05-19T22:31:04Z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0x010100579CCDD9754E9B40B13882595ECD5F7A</vt:lpwstr>
  </property>
</Properties>
</file>